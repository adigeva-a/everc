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0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4A1580"/>
          </a:solidFill>
          <a:ln w="12700">
            <a:solidFill>
              <a:srgbClr val="4A15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6B28A8"/>
          </a:solidFill>
          <a:ln w="12700">
            <a:solidFill>
              <a:srgbClr val="6B2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-548640"/>
            <a:ext cx="2011680" cy="2011680"/>
          </a:xfrm>
          <a:prstGeom prst="ellipse">
            <a:avLst/>
          </a:prstGeom>
          <a:solidFill>
            <a:srgbClr val="8B3DC2"/>
          </a:solidFill>
          <a:ln w="12700">
            <a:solidFill>
              <a:srgbClr val="8B3D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3474720"/>
            <a:ext cx="2560320" cy="2560320"/>
          </a:xfrm>
          <a:prstGeom prst="ellipse">
            <a:avLst/>
          </a:prstGeom>
          <a:solidFill>
            <a:srgbClr val="4A1580"/>
          </a:solidFill>
          <a:ln w="12700">
            <a:solidFill>
              <a:srgbClr val="4A15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18288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0" y="1005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EEA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SENIOR PM CASE INTERVIEW · G2RS / EVERC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657600" y="13716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Merchant Risk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Co-Pilot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3657600" y="32004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A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scalability layer G2RS is missing.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657600" y="374904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7A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March 2026  ·  Ishai Froind + Panel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07A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47 alerts. Monday morning. Where do you start?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risk analyst opens their inbox. 47 violations. Different merchant for each one. No structure, no context. Just a list.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828800"/>
            <a:ext cx="246888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828800"/>
            <a:ext cx="2468880" cy="201168"/>
          </a:xfrm>
          <a:prstGeom prst="rect">
            <a:avLst>
              <a:gd name="adj" fmla="val 45455"/>
            </a:avLst>
          </a:prstGeom>
          <a:solidFill>
            <a:srgbClr val="E53E3E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920240"/>
            <a:ext cx="2468880" cy="1097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8288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CRITICAL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93776" y="208483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betwin365.com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" y="2359152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Gambling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" y="257860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53E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context loaded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18688" y="1828800"/>
            <a:ext cx="246888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828800"/>
            <a:ext cx="2468880" cy="201168"/>
          </a:xfrm>
          <a:prstGeom prst="rect">
            <a:avLst>
              <a:gd name="adj" fmla="val 45455"/>
            </a:avLst>
          </a:prstGeom>
          <a:solidFill>
            <a:srgbClr val="E53E3E"/>
          </a:solidFill>
          <a:ln/>
        </p:spPr>
      </p:sp>
      <p:sp>
        <p:nvSpPr>
          <p:cNvPr id="14" name="Shape 12"/>
          <p:cNvSpPr/>
          <p:nvPr/>
        </p:nvSpPr>
        <p:spPr>
          <a:xfrm>
            <a:off x="3218688" y="1920240"/>
            <a:ext cx="2468880" cy="1097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18288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CRITICAL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328416" y="208483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pharmadir.com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28416" y="2359152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Prescription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28416" y="257860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53E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context loaded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53328" y="1828800"/>
            <a:ext cx="246888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53328" y="1828800"/>
            <a:ext cx="2468880" cy="201168"/>
          </a:xfrm>
          <a:prstGeom prst="rect">
            <a:avLst>
              <a:gd name="adj" fmla="val 45455"/>
            </a:avLst>
          </a:prstGeom>
          <a:solidFill>
            <a:srgbClr val="8B3DC2"/>
          </a:solidFill>
          <a:ln/>
        </p:spPr>
      </p:sp>
      <p:sp>
        <p:nvSpPr>
          <p:cNvPr id="21" name="Shape 19"/>
          <p:cNvSpPr/>
          <p:nvPr/>
        </p:nvSpPr>
        <p:spPr>
          <a:xfrm>
            <a:off x="6053328" y="1920240"/>
            <a:ext cx="2468880" cy="109728"/>
          </a:xfrm>
          <a:prstGeom prst="rect">
            <a:avLst/>
          </a:prstGeom>
          <a:solidFill>
            <a:srgbClr val="8B3DC2"/>
          </a:solidFill>
          <a:ln w="12700">
            <a:solidFill>
              <a:srgbClr val="8B3D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18288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163056" y="208483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luxreplica.co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63056" y="2359152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Counterfeit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63056" y="257860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53E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context loaded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048" y="3108960"/>
            <a:ext cx="246888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" y="3108960"/>
            <a:ext cx="2468880" cy="201168"/>
          </a:xfrm>
          <a:prstGeom prst="rect">
            <a:avLst>
              <a:gd name="adj" fmla="val 45455"/>
            </a:avLst>
          </a:prstGeom>
          <a:solidFill>
            <a:srgbClr val="8B3DC2"/>
          </a:solidFill>
          <a:ln/>
        </p:spPr>
      </p:sp>
      <p:sp>
        <p:nvSpPr>
          <p:cNvPr id="28" name="Shape 26"/>
          <p:cNvSpPr/>
          <p:nvPr/>
        </p:nvSpPr>
        <p:spPr>
          <a:xfrm>
            <a:off x="384048" y="3200400"/>
            <a:ext cx="2468880" cy="109728"/>
          </a:xfrm>
          <a:prstGeom prst="rect">
            <a:avLst/>
          </a:prstGeom>
          <a:solidFill>
            <a:srgbClr val="8B3DC2"/>
          </a:solidFill>
          <a:ln w="12700">
            <a:solidFill>
              <a:srgbClr val="8B3D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1089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93776" y="336499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jackpotstore.io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" y="3639312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Gambling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" y="385876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53E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context loaded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18688" y="3108960"/>
            <a:ext cx="246888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18688" y="3108960"/>
            <a:ext cx="2468880" cy="201168"/>
          </a:xfrm>
          <a:prstGeom prst="rect">
            <a:avLst>
              <a:gd name="adj" fmla="val 45455"/>
            </a:avLst>
          </a:prstGeom>
          <a:solidFill>
            <a:srgbClr val="F6AD55"/>
          </a:solidFill>
          <a:ln/>
        </p:spPr>
      </p:sp>
      <p:sp>
        <p:nvSpPr>
          <p:cNvPr id="35" name="Shape 33"/>
          <p:cNvSpPr/>
          <p:nvPr/>
        </p:nvSpPr>
        <p:spPr>
          <a:xfrm>
            <a:off x="3218688" y="3200400"/>
            <a:ext cx="2468880" cy="10972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18688" y="31089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MEDIUM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328416" y="336499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cleanmeds.co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28416" y="3639312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Prescription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28416" y="385876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53E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context loaded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53328" y="3108960"/>
            <a:ext cx="246888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53328" y="3108960"/>
            <a:ext cx="2468880" cy="201168"/>
          </a:xfrm>
          <a:prstGeom prst="rect">
            <a:avLst>
              <a:gd name="adj" fmla="val 45455"/>
            </a:avLst>
          </a:prstGeom>
          <a:solidFill>
            <a:srgbClr val="8B3DC2"/>
          </a:solidFill>
          <a:ln/>
        </p:spPr>
      </p:sp>
      <p:sp>
        <p:nvSpPr>
          <p:cNvPr id="42" name="Shape 40"/>
          <p:cNvSpPr/>
          <p:nvPr/>
        </p:nvSpPr>
        <p:spPr>
          <a:xfrm>
            <a:off x="6053328" y="3200400"/>
            <a:ext cx="2468880" cy="109728"/>
          </a:xfrm>
          <a:prstGeom prst="rect">
            <a:avLst/>
          </a:prstGeom>
          <a:solidFill>
            <a:srgbClr val="8B3DC2"/>
          </a:solidFill>
          <a:ln w="12700">
            <a:solidFill>
              <a:srgbClr val="8B3DC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53328" y="31089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163056" y="336499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sportzgear.com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63056" y="3639312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Counterfeit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63056" y="385876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53E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context loaded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053328" y="4297680"/>
            <a:ext cx="2633472" cy="640080"/>
          </a:xfrm>
          <a:prstGeom prst="rect">
            <a:avLst>
              <a:gd name="adj" fmla="val 14286"/>
            </a:avLst>
          </a:prstGeom>
          <a:solidFill>
            <a:srgbClr val="2D0A5B"/>
          </a:solidFill>
          <a:ln/>
        </p:spPr>
      </p:sp>
      <p:sp>
        <p:nvSpPr>
          <p:cNvPr id="48" name="Text 46"/>
          <p:cNvSpPr/>
          <p:nvPr/>
        </p:nvSpPr>
        <p:spPr>
          <a:xfrm>
            <a:off x="6144768" y="431596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alert opens cold.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structure. No context.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07A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G2RS gives detection. Not scalability.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1234440"/>
            <a:ext cx="3840480" cy="3200400"/>
          </a:xfrm>
          <a:prstGeom prst="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34440"/>
            <a:ext cx="128016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G2RS delivers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201168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Merchant scanning &amp; detection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257860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2532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Compass Score + risk graph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314553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30998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Behavioral signals via EverC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" y="371246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78992" y="36667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High-precision violation findings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15968" y="2560320"/>
            <a:ext cx="512064" cy="54864"/>
          </a:xfrm>
          <a:prstGeom prst="rect">
            <a:avLst/>
          </a:prstGeom>
          <a:solidFill>
            <a:srgbClr val="C07AE8"/>
          </a:solidFill>
          <a:ln w="12700">
            <a:solidFill>
              <a:srgbClr val="C07A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51960" y="2286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855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GAP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480560" y="2468880"/>
            <a:ext cx="146304" cy="146304"/>
          </a:xfrm>
          <a:prstGeom prst="ellipse">
            <a:avLst/>
          </a:prstGeom>
          <a:solidFill>
            <a:srgbClr val="C07AE8"/>
          </a:solidFill>
          <a:ln w="12700">
            <a:solidFill>
              <a:srgbClr val="C07A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19472" y="1234440"/>
            <a:ext cx="3840480" cy="3200400"/>
          </a:xfrm>
          <a:prstGeom prst="rect">
            <a:avLst>
              <a:gd name="adj" fmla="val 3429"/>
            </a:avLst>
          </a:prstGeom>
          <a:solidFill>
            <a:srgbClr val="2D0A5B"/>
          </a:solidFill>
          <a:ln/>
        </p:spPr>
      </p:sp>
      <p:sp>
        <p:nvSpPr>
          <p:cNvPr id="20" name="Shape 17"/>
          <p:cNvSpPr/>
          <p:nvPr/>
        </p:nvSpPr>
        <p:spPr>
          <a:xfrm>
            <a:off x="4919472" y="1234440"/>
            <a:ext cx="128016" cy="32004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1732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76072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customers need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285232" y="2011680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57784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A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✕  Workflow to act on findings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285232" y="2578608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577840" y="25328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A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✕  Context pre-loaded per case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285232" y="3145536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577840" y="30998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A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✕  Structured investigation guide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285232" y="3712464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577840" y="36667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A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✕  Scalability as portfolio grows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384048" y="4572000"/>
            <a:ext cx="8375904" cy="347472"/>
          </a:xfrm>
          <a:prstGeom prst="rect">
            <a:avLst>
              <a:gd name="adj" fmla="val 21053"/>
            </a:avLst>
          </a:prstGeom>
          <a:solidFill>
            <a:srgbClr val="6B28A8"/>
          </a:solidFill>
          <a:ln/>
        </p:spPr>
      </p:sp>
      <p:sp>
        <p:nvSpPr>
          <p:cNvPr id="32" name="Text 28"/>
          <p:cNvSpPr/>
          <p:nvPr/>
        </p:nvSpPr>
        <p:spPr>
          <a:xfrm>
            <a:off x="502920" y="458114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portfolios grow → violation queue grows → analyst team can't keep up → customers self-limit or switch G2RS off.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07A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ALTERNATIVES CONSIDERED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directions. One chosen.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1234440"/>
            <a:ext cx="2651760" cy="352044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9888" y="1371600"/>
            <a:ext cx="640080" cy="64008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9888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21208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Better Detection Precision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86968" y="2743200"/>
            <a:ext cx="1645920" cy="274320"/>
          </a:xfrm>
          <a:prstGeom prst="rect">
            <a:avLst>
              <a:gd name="adj" fmla="val 20000"/>
            </a:avLst>
          </a:prstGeom>
          <a:solidFill>
            <a:srgbClr val="E53E3E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Rejected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208" y="3127248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 100% precision still generates alerts. Every true positive still needs investigation. Doesn't touch investigation time.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2651760" cy="352044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371600"/>
            <a:ext cx="640080" cy="640080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Risk-Based Monitoring Tiers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94760" y="2743200"/>
            <a:ext cx="1645920" cy="274320"/>
          </a:xfrm>
          <a:prstGeom prst="rect">
            <a:avLst>
              <a:gd name="adj" fmla="val 20000"/>
            </a:avLst>
          </a:prstGeom>
          <a:solidFill>
            <a:srgbClr val="F6AD55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Complementary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3127248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Reduces alert volume upstream — useful. But the investigation inefficiency remains. Deploy alongside Co-Pilot, not instead.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9632" y="1234440"/>
            <a:ext cx="2651760" cy="3520440"/>
          </a:xfrm>
          <a:prstGeom prst="rect">
            <a:avLst>
              <a:gd name="adj" fmla="val 4138"/>
            </a:avLst>
          </a:prstGeom>
          <a:solidFill>
            <a:srgbClr val="2D0A5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99632" y="123444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05472" y="13716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472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36792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Merchant Risk Co-Pilot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02552" y="2743200"/>
            <a:ext cx="1645920" cy="274320"/>
          </a:xfrm>
          <a:prstGeom prst="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702552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Chosen 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36792" y="3127248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A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Attacks the root cause: structural mismatch between how alerts arrive and how investigations run. Scales as software.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07A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INVESTIGATION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alert. Seven steps. 40–60 minutes.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1280160"/>
            <a:ext cx="658368" cy="658368"/>
          </a:xfrm>
          <a:prstGeom prst="ellipse">
            <a:avLst/>
          </a:prstGeom>
          <a:solidFill>
            <a:srgbClr val="6B28A8"/>
          </a:solidFill>
          <a:ln w="12700">
            <a:solidFill>
              <a:srgbClr val="6B28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280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42416" y="1572768"/>
            <a:ext cx="548640" cy="73152"/>
          </a:xfrm>
          <a:prstGeom prst="rect">
            <a:avLst/>
          </a:prstGeom>
          <a:solidFill>
            <a:srgbClr val="D9A8F5"/>
          </a:solidFill>
          <a:ln w="12700">
            <a:solidFill>
              <a:srgbClr val="D9A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2057400"/>
            <a:ext cx="1115568" cy="1371600"/>
          </a:xfrm>
          <a:prstGeom prst="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2121408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Alert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" y="2697480"/>
            <a:ext cx="9144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761488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context pre-loaded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591056" y="1280160"/>
            <a:ext cx="658368" cy="658368"/>
          </a:xfrm>
          <a:prstGeom prst="ellipse">
            <a:avLst/>
          </a:prstGeom>
          <a:solidFill>
            <a:srgbClr val="6B28A8"/>
          </a:solidFill>
          <a:ln w="12700">
            <a:solidFill>
              <a:srgbClr val="6B28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91056" y="1280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49424" y="1572768"/>
            <a:ext cx="548640" cy="73152"/>
          </a:xfrm>
          <a:prstGeom prst="rect">
            <a:avLst/>
          </a:prstGeom>
          <a:solidFill>
            <a:srgbClr val="D9A8F5"/>
          </a:solidFill>
          <a:ln w="12700">
            <a:solidFill>
              <a:srgbClr val="D9A8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45336" y="2057400"/>
            <a:ext cx="1115568" cy="1371600"/>
          </a:xfrm>
          <a:prstGeom prst="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91056" y="2121408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Lookup Merchant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45920" y="2697480"/>
            <a:ext cx="9144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91056" y="2761488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Manual, 3+ internal tools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98064" y="1280160"/>
            <a:ext cx="658368" cy="658368"/>
          </a:xfrm>
          <a:prstGeom prst="ellipse">
            <a:avLst/>
          </a:prstGeom>
          <a:solidFill>
            <a:srgbClr val="6B28A8"/>
          </a:solidFill>
          <a:ln w="12700">
            <a:solidFill>
              <a:srgbClr val="6B2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98064" y="1280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56432" y="1572768"/>
            <a:ext cx="548640" cy="73152"/>
          </a:xfrm>
          <a:prstGeom prst="rect">
            <a:avLst/>
          </a:prstGeom>
          <a:solidFill>
            <a:srgbClr val="D9A8F5"/>
          </a:solidFill>
          <a:ln w="12700">
            <a:solidFill>
              <a:srgbClr val="D9A8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52344" y="2057400"/>
            <a:ext cx="1115568" cy="1371600"/>
          </a:xfrm>
          <a:prstGeom prst="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98064" y="2121408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Identify Violation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852928" y="2697480"/>
            <a:ext cx="9144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98064" y="2761488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 &amp; interpret manually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005072" y="1280160"/>
            <a:ext cx="658368" cy="658368"/>
          </a:xfrm>
          <a:prstGeom prst="ellipse">
            <a:avLst/>
          </a:prstGeom>
          <a:solidFill>
            <a:srgbClr val="6B28A8"/>
          </a:solidFill>
          <a:ln w="12700">
            <a:solidFill>
              <a:srgbClr val="6B28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05072" y="1280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63440" y="1572768"/>
            <a:ext cx="548640" cy="73152"/>
          </a:xfrm>
          <a:prstGeom prst="rect">
            <a:avLst/>
          </a:prstGeom>
          <a:solidFill>
            <a:srgbClr val="D9A8F5"/>
          </a:solidFill>
          <a:ln w="12700">
            <a:solidFill>
              <a:srgbClr val="D9A8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59352" y="2057400"/>
            <a:ext cx="1115568" cy="1371600"/>
          </a:xfrm>
          <a:prstGeom prst="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005072" y="2121408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Recall Policy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059936" y="2697480"/>
            <a:ext cx="9144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05072" y="2761488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AUP, search clause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212080" y="1280160"/>
            <a:ext cx="658368" cy="658368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1280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70448" y="1572768"/>
            <a:ext cx="548640" cy="73152"/>
          </a:xfrm>
          <a:prstGeom prst="rect">
            <a:avLst/>
          </a:prstGeom>
          <a:solidFill>
            <a:srgbClr val="D9A8F5"/>
          </a:solidFill>
          <a:ln w="12700">
            <a:solidFill>
              <a:srgbClr val="D9A8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66360" y="2057400"/>
            <a:ext cx="1115568" cy="1371600"/>
          </a:xfrm>
          <a:prstGeom prst="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212080" y="2121408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Checklist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266944" y="2697480"/>
            <a:ext cx="9144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2761488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53E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guidance — analyst guesses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19088" y="1280160"/>
            <a:ext cx="658368" cy="658368"/>
          </a:xfrm>
          <a:prstGeom prst="ellipse">
            <a:avLst/>
          </a:prstGeom>
          <a:solidFill>
            <a:srgbClr val="6B28A8"/>
          </a:solidFill>
          <a:ln w="12700">
            <a:solidFill>
              <a:srgbClr val="6B28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19088" y="1280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077456" y="1572768"/>
            <a:ext cx="548640" cy="73152"/>
          </a:xfrm>
          <a:prstGeom prst="rect">
            <a:avLst/>
          </a:prstGeom>
          <a:solidFill>
            <a:srgbClr val="D9A8F5"/>
          </a:solidFill>
          <a:ln w="12700">
            <a:solidFill>
              <a:srgbClr val="D9A8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73368" y="2057400"/>
            <a:ext cx="1115568" cy="1371600"/>
          </a:xfrm>
          <a:prstGeom prst="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19088" y="2121408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 Investigation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73952" y="2697480"/>
            <a:ext cx="9144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19088" y="2761488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Txn logs, chargebacks, invoices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26096" y="1280160"/>
            <a:ext cx="658368" cy="658368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26096" y="1280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80376" y="2057400"/>
            <a:ext cx="1115568" cy="1371600"/>
          </a:xfrm>
          <a:prstGeom prst="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626096" y="2121408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Write Rationale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680960" y="2697480"/>
            <a:ext cx="9144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26096" y="2761488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53E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Blank page, every time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6227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40–60 MINUTES GONE · Then full reset — same 7 steps repeat for the next case.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07A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ROOT CAUSE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process. Different merchant. Full reset.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1325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Merchant 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16184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Gambling violation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737360" y="1280160"/>
            <a:ext cx="1143000" cy="777240"/>
          </a:xfrm>
          <a:prstGeom prst="rect">
            <a:avLst>
              <a:gd name="adj" fmla="val 9412"/>
            </a:avLst>
          </a:prstGeom>
          <a:solidFill>
            <a:srgbClr val="6B28A8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12801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1280160"/>
            <a:ext cx="1143000" cy="777240"/>
          </a:xfrm>
          <a:prstGeom prst="rect">
            <a:avLst>
              <a:gd name="adj" fmla="val 9412"/>
            </a:avLst>
          </a:prstGeom>
          <a:solidFill>
            <a:srgbClr val="6B28A8"/>
          </a:solidFill>
          <a:ln/>
        </p:spPr>
      </p:sp>
      <p:sp>
        <p:nvSpPr>
          <p:cNvPr id="9" name="Text 7"/>
          <p:cNvSpPr/>
          <p:nvPr/>
        </p:nvSpPr>
        <p:spPr>
          <a:xfrm>
            <a:off x="3154680" y="12801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Lookup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280160"/>
            <a:ext cx="1143000" cy="777240"/>
          </a:xfrm>
          <a:prstGeom prst="rect">
            <a:avLst>
              <a:gd name="adj" fmla="val 9412"/>
            </a:avLst>
          </a:prstGeom>
          <a:solidFill>
            <a:srgbClr val="6B28A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2801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1280160"/>
            <a:ext cx="1143000" cy="777240"/>
          </a:xfrm>
          <a:prstGeom prst="rect">
            <a:avLst>
              <a:gd name="adj" fmla="val 9412"/>
            </a:avLst>
          </a:prstGeom>
          <a:solidFill>
            <a:srgbClr val="6B28A8"/>
          </a:solidFill>
          <a:ln/>
        </p:spPr>
      </p:sp>
      <p:sp>
        <p:nvSpPr>
          <p:cNvPr id="13" name="Text 11"/>
          <p:cNvSpPr/>
          <p:nvPr/>
        </p:nvSpPr>
        <p:spPr>
          <a:xfrm>
            <a:off x="5989320" y="12801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Checklist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06640" y="1280160"/>
            <a:ext cx="1143000" cy="777240"/>
          </a:xfrm>
          <a:prstGeom prst="rect">
            <a:avLst>
              <a:gd name="adj" fmla="val 9412"/>
            </a:avLst>
          </a:prstGeom>
          <a:solidFill>
            <a:srgbClr val="6B28A8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12801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7A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Merchant 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27157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Gambling violation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737360" y="2377440"/>
            <a:ext cx="1143000" cy="777240"/>
          </a:xfrm>
          <a:prstGeom prst="rect">
            <a:avLst>
              <a:gd name="adj" fmla="val 9412"/>
            </a:avLst>
          </a:prstGeom>
          <a:solidFill>
            <a:srgbClr val="C07AE8"/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237744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54680" y="2377440"/>
            <a:ext cx="1143000" cy="777240"/>
          </a:xfrm>
          <a:prstGeom prst="rect">
            <a:avLst>
              <a:gd name="adj" fmla="val 9412"/>
            </a:avLst>
          </a:prstGeom>
          <a:solidFill>
            <a:srgbClr val="C07AE8"/>
          </a:solidFill>
          <a:ln/>
        </p:spPr>
      </p:sp>
      <p:sp>
        <p:nvSpPr>
          <p:cNvPr id="21" name="Text 19"/>
          <p:cNvSpPr/>
          <p:nvPr/>
        </p:nvSpPr>
        <p:spPr>
          <a:xfrm>
            <a:off x="3154680" y="237744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Lookup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2377440"/>
            <a:ext cx="1143000" cy="777240"/>
          </a:xfrm>
          <a:prstGeom prst="rect">
            <a:avLst>
              <a:gd name="adj" fmla="val 9412"/>
            </a:avLst>
          </a:prstGeom>
          <a:solidFill>
            <a:srgbClr val="C07AE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237744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Policy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89320" y="2377440"/>
            <a:ext cx="1143000" cy="777240"/>
          </a:xfrm>
          <a:prstGeom prst="rect">
            <a:avLst>
              <a:gd name="adj" fmla="val 9412"/>
            </a:avLst>
          </a:prstGeom>
          <a:solidFill>
            <a:srgbClr val="C07AE8"/>
          </a:solidFill>
          <a:ln/>
        </p:spPr>
      </p:sp>
      <p:sp>
        <p:nvSpPr>
          <p:cNvPr id="25" name="Text 23"/>
          <p:cNvSpPr/>
          <p:nvPr/>
        </p:nvSpPr>
        <p:spPr>
          <a:xfrm>
            <a:off x="5989320" y="237744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Checklist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06640" y="2377440"/>
            <a:ext cx="1143000" cy="777240"/>
          </a:xfrm>
          <a:prstGeom prst="rect">
            <a:avLst>
              <a:gd name="adj" fmla="val 9412"/>
            </a:avLst>
          </a:prstGeom>
          <a:solidFill>
            <a:srgbClr val="C07AE8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237744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25146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53E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RESET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229600" y="2926080"/>
            <a:ext cx="822960" cy="2743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7A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Merchant 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" y="38130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Gambling violation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737360" y="3474720"/>
            <a:ext cx="1143000" cy="777240"/>
          </a:xfrm>
          <a:prstGeom prst="rect">
            <a:avLst>
              <a:gd name="adj" fmla="val 9412"/>
            </a:avLst>
          </a:prstGeom>
          <a:solidFill>
            <a:srgbClr val="D9A8F5"/>
          </a:solidFill>
          <a:ln/>
        </p:spPr>
      </p:sp>
      <p:sp>
        <p:nvSpPr>
          <p:cNvPr id="33" name="Text 31"/>
          <p:cNvSpPr/>
          <p:nvPr/>
        </p:nvSpPr>
        <p:spPr>
          <a:xfrm>
            <a:off x="1737360" y="347472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54680" y="3474720"/>
            <a:ext cx="1143000" cy="777240"/>
          </a:xfrm>
          <a:prstGeom prst="rect">
            <a:avLst>
              <a:gd name="adj" fmla="val 9412"/>
            </a:avLst>
          </a:prstGeom>
          <a:solidFill>
            <a:srgbClr val="D9A8F5"/>
          </a:solidFill>
          <a:ln/>
        </p:spPr>
      </p:sp>
      <p:sp>
        <p:nvSpPr>
          <p:cNvPr id="35" name="Text 33"/>
          <p:cNvSpPr/>
          <p:nvPr/>
        </p:nvSpPr>
        <p:spPr>
          <a:xfrm>
            <a:off x="3154680" y="347472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Lookup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3474720"/>
            <a:ext cx="1143000" cy="777240"/>
          </a:xfrm>
          <a:prstGeom prst="rect">
            <a:avLst>
              <a:gd name="adj" fmla="val 9412"/>
            </a:avLst>
          </a:prstGeom>
          <a:solidFill>
            <a:srgbClr val="D9A8F5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0" y="347472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Policy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89320" y="3474720"/>
            <a:ext cx="1143000" cy="777240"/>
          </a:xfrm>
          <a:prstGeom prst="rect">
            <a:avLst>
              <a:gd name="adj" fmla="val 9412"/>
            </a:avLst>
          </a:prstGeom>
          <a:solidFill>
            <a:srgbClr val="D9A8F5"/>
          </a:solidFill>
          <a:ln/>
        </p:spPr>
      </p:sp>
      <p:sp>
        <p:nvSpPr>
          <p:cNvPr id="39" name="Text 37"/>
          <p:cNvSpPr/>
          <p:nvPr/>
        </p:nvSpPr>
        <p:spPr>
          <a:xfrm>
            <a:off x="5989320" y="347472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Checklist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06640" y="3474720"/>
            <a:ext cx="1143000" cy="777240"/>
          </a:xfrm>
          <a:prstGeom prst="rect">
            <a:avLst>
              <a:gd name="adj" fmla="val 9412"/>
            </a:avLst>
          </a:prstGeom>
          <a:solidFill>
            <a:srgbClr val="D9A8F5"/>
          </a:solidFill>
          <a:ln/>
        </p:spPr>
      </p:sp>
      <p:sp>
        <p:nvSpPr>
          <p:cNvPr id="41" name="Text 39"/>
          <p:cNvSpPr/>
          <p:nvPr/>
        </p:nvSpPr>
        <p:spPr>
          <a:xfrm>
            <a:off x="7406640" y="347472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0" y="36118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53E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RESET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229600" y="4023360"/>
            <a:ext cx="822960" cy="2743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" y="4206240"/>
            <a:ext cx="8375904" cy="713232"/>
          </a:xfrm>
          <a:prstGeom prst="rect">
            <a:avLst>
              <a:gd name="adj" fmla="val 12821"/>
            </a:avLst>
          </a:prstGeom>
          <a:solidFill>
            <a:srgbClr val="2D0A5B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A855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</a:t>
            </a:r>
            <a:endParaRPr lang="en-US" sz="4000" dirty="0"/>
          </a:p>
        </p:txBody>
      </p:sp>
      <p:sp>
        <p:nvSpPr>
          <p:cNvPr id="46" name="Text 44"/>
          <p:cNvSpPr/>
          <p:nvPr/>
        </p:nvSpPr>
        <p:spPr>
          <a:xfrm>
            <a:off x="914400" y="425196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Alerts arrive by merchant.  Investigation logic lives by violation type.  That mismatch is the bottleneck.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D0A5B"/>
          </a:solidFill>
          <a:ln w="12700">
            <a:solidFill>
              <a:srgbClr val="2D0A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4A1580"/>
          </a:solidFill>
          <a:ln w="12700">
            <a:solidFill>
              <a:srgbClr val="4A15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C07A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DIAGNOSIS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not a volume problem.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is a structure problem.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200400" y="27889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9A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G2RS gives customers detection.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D9A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doesn't give them a way to act on it at scale.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4160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Fix the structure → solve the scale.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07A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Group by violation type. Context loads once.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53E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474720" cy="36576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733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betwin365.com · Gambling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474720" cy="36576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1305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pharmadir.com · Prescription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474720" cy="36576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5877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luxreplica.co · Counterfeit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474720" cy="36576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449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jackpotstore.io · Gambling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3474720" cy="36576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5021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cleanmeds.co · Prescription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3474720" cy="36576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9593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sportzgear.com · Counterfeit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2560320"/>
            <a:ext cx="548640" cy="5486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069080" y="32186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A855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GROUP BY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spc="100" kern="0" dirty="0">
                <a:solidFill>
                  <a:srgbClr val="A855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1206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120640" y="1645920"/>
            <a:ext cx="3566160" cy="256032"/>
          </a:xfrm>
          <a:prstGeom prst="rect">
            <a:avLst>
              <a:gd name="adj" fmla="val 21429"/>
            </a:avLst>
          </a:prstGeom>
          <a:solidFill>
            <a:srgbClr val="6B28A8"/>
          </a:solidFill>
          <a:ln/>
        </p:spPr>
      </p:sp>
      <p:sp>
        <p:nvSpPr>
          <p:cNvPr id="21" name="Text 18"/>
          <p:cNvSpPr/>
          <p:nvPr/>
        </p:nvSpPr>
        <p:spPr>
          <a:xfrm>
            <a:off x="5230368" y="164592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Gambling  ·  Context loaded once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120640" y="1901952"/>
            <a:ext cx="35661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120640" y="1901952"/>
            <a:ext cx="91440" cy="320040"/>
          </a:xfrm>
          <a:prstGeom prst="rect">
            <a:avLst/>
          </a:prstGeom>
          <a:solidFill>
            <a:srgbClr val="6B28A8"/>
          </a:solidFill>
          <a:ln w="12700">
            <a:solidFill>
              <a:srgbClr val="6B28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12080" y="1901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betwin365.com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120640" y="2249424"/>
            <a:ext cx="35661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120640" y="2249424"/>
            <a:ext cx="91440" cy="320040"/>
          </a:xfrm>
          <a:prstGeom prst="rect">
            <a:avLst/>
          </a:prstGeom>
          <a:solidFill>
            <a:srgbClr val="6B28A8"/>
          </a:solidFill>
          <a:ln w="12700">
            <a:solidFill>
              <a:srgbClr val="6B28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12080" y="22494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jackpotstore.io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120640" y="2761488"/>
            <a:ext cx="3566160" cy="256032"/>
          </a:xfrm>
          <a:prstGeom prst="rect">
            <a:avLst>
              <a:gd name="adj" fmla="val 21429"/>
            </a:avLst>
          </a:prstGeom>
          <a:solidFill>
            <a:srgbClr val="8B3DC2"/>
          </a:solidFill>
          <a:ln/>
        </p:spPr>
      </p:sp>
      <p:sp>
        <p:nvSpPr>
          <p:cNvPr id="29" name="Text 26"/>
          <p:cNvSpPr/>
          <p:nvPr/>
        </p:nvSpPr>
        <p:spPr>
          <a:xfrm>
            <a:off x="5230368" y="2761488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Prescription  ·  Context loaded once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120640" y="3017520"/>
            <a:ext cx="35661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120640" y="3017520"/>
            <a:ext cx="91440" cy="320040"/>
          </a:xfrm>
          <a:prstGeom prst="rect">
            <a:avLst/>
          </a:prstGeom>
          <a:solidFill>
            <a:srgbClr val="8B3DC2"/>
          </a:solidFill>
          <a:ln w="12700">
            <a:solidFill>
              <a:srgbClr val="8B3DC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1208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pharmadir.com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120640" y="3364992"/>
            <a:ext cx="35661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120640" y="3364992"/>
            <a:ext cx="91440" cy="320040"/>
          </a:xfrm>
          <a:prstGeom prst="rect">
            <a:avLst/>
          </a:prstGeom>
          <a:solidFill>
            <a:srgbClr val="8B3DC2"/>
          </a:solidFill>
          <a:ln w="12700">
            <a:solidFill>
              <a:srgbClr val="8B3DC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212080" y="3364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cleanmeds.co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120640" y="3877056"/>
            <a:ext cx="3566160" cy="256032"/>
          </a:xfrm>
          <a:prstGeom prst="rect">
            <a:avLst>
              <a:gd name="adj" fmla="val 21429"/>
            </a:avLst>
          </a:prstGeom>
          <a:solidFill>
            <a:srgbClr val="A855D8"/>
          </a:solidFill>
          <a:ln/>
        </p:spPr>
      </p:sp>
      <p:sp>
        <p:nvSpPr>
          <p:cNvPr id="37" name="Text 34"/>
          <p:cNvSpPr/>
          <p:nvPr/>
        </p:nvSpPr>
        <p:spPr>
          <a:xfrm>
            <a:off x="5230368" y="3877056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Counterfeit  ·  Context loaded once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120640" y="4133088"/>
            <a:ext cx="35661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5120640" y="4133088"/>
            <a:ext cx="91440" cy="320040"/>
          </a:xfrm>
          <a:prstGeom prst="rect">
            <a:avLst/>
          </a:prstGeom>
          <a:solidFill>
            <a:srgbClr val="A855D8"/>
          </a:solidFill>
          <a:ln w="12700">
            <a:solidFill>
              <a:srgbClr val="A855D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212080" y="41330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luxreplica.co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120640" y="4480560"/>
            <a:ext cx="35661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5120640" y="4480560"/>
            <a:ext cx="91440" cy="320040"/>
          </a:xfrm>
          <a:prstGeom prst="rect">
            <a:avLst/>
          </a:prstGeom>
          <a:solidFill>
            <a:srgbClr val="A855D8"/>
          </a:solidFill>
          <a:ln w="12700">
            <a:solidFill>
              <a:srgbClr val="A855D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212080" y="4480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sportzgear.com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07A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Merchant Risk Co-Pilot — Four layers.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1234440"/>
            <a:ext cx="8375904" cy="777240"/>
          </a:xfrm>
          <a:prstGeom prst="rect">
            <a:avLst>
              <a:gd name="adj" fmla="val 11765"/>
            </a:avLst>
          </a:prstGeom>
          <a:solidFill>
            <a:srgbClr val="2D0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34440"/>
            <a:ext cx="128016" cy="777240"/>
          </a:xfrm>
          <a:prstGeom prst="rect">
            <a:avLst/>
          </a:prstGeom>
          <a:solidFill>
            <a:srgbClr val="2D0A5B"/>
          </a:solidFill>
          <a:ln w="12700">
            <a:solidFill>
              <a:srgbClr val="2D0A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71600"/>
            <a:ext cx="502920" cy="502920"/>
          </a:xfrm>
          <a:prstGeom prst="ellipse">
            <a:avLst/>
          </a:prstGeom>
          <a:solidFill>
            <a:srgbClr val="2D0A5B"/>
          </a:solidFill>
          <a:ln w="12700">
            <a:solidFill>
              <a:srgbClr val="2D0A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380744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810512" y="1399032"/>
            <a:ext cx="1097280" cy="201168"/>
          </a:xfrm>
          <a:prstGeom prst="rect">
            <a:avLst>
              <a:gd name="adj" fmla="val 27273"/>
            </a:avLst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1810512" y="13990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FOUNDATION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017520" y="13624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Violation-Type Grouping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017520" y="16550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Eliminates context switching. Analyst stays in same mental model across entire batch.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4048" y="2148840"/>
            <a:ext cx="8375904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84048" y="2148840"/>
            <a:ext cx="128016" cy="777240"/>
          </a:xfrm>
          <a:prstGeom prst="rect">
            <a:avLst/>
          </a:prstGeom>
          <a:solidFill>
            <a:srgbClr val="6B28A8"/>
          </a:solidFill>
          <a:ln w="12700">
            <a:solidFill>
              <a:srgbClr val="6B28A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2286000"/>
            <a:ext cx="502920" cy="502920"/>
          </a:xfrm>
          <a:prstGeom prst="ellipse">
            <a:avLst/>
          </a:prstGeom>
          <a:solidFill>
            <a:srgbClr val="6B28A8"/>
          </a:solidFill>
          <a:ln w="12700">
            <a:solidFill>
              <a:srgbClr val="6B28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295144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828800" y="22768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Violation-Type Checklist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828800" y="25694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Pre-defined list of exactly what internal data to verify. No guessing, just execute.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84048" y="3063240"/>
            <a:ext cx="8375904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84048" y="3063240"/>
            <a:ext cx="128016" cy="777240"/>
          </a:xfrm>
          <a:prstGeom prst="rect">
            <a:avLst/>
          </a:prstGeom>
          <a:solidFill>
            <a:srgbClr val="8B3DC2"/>
          </a:solidFill>
          <a:ln w="12700">
            <a:solidFill>
              <a:srgbClr val="8B3DC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94360" y="3200400"/>
            <a:ext cx="502920" cy="502920"/>
          </a:xfrm>
          <a:prstGeom prst="ellipse">
            <a:avLst/>
          </a:prstGeom>
          <a:solidFill>
            <a:srgbClr val="8B3DC2"/>
          </a:solidFill>
          <a:ln w="12700">
            <a:solidFill>
              <a:srgbClr val="8B3DC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943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3209544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828800" y="31912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 Pack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828800" y="34838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Compass Score, EverC risk graph, merchant history — auto-assembled on case open.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384048" y="3977640"/>
            <a:ext cx="8375904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84048" y="3977640"/>
            <a:ext cx="128016" cy="777240"/>
          </a:xfrm>
          <a:prstGeom prst="rect">
            <a:avLst/>
          </a:prstGeom>
          <a:solidFill>
            <a:srgbClr val="A855D8"/>
          </a:solidFill>
          <a:ln w="12700">
            <a:solidFill>
              <a:srgbClr val="A855D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94360" y="4114800"/>
            <a:ext cx="502920" cy="502920"/>
          </a:xfrm>
          <a:prstGeom prst="ellipse">
            <a:avLst/>
          </a:prstGeom>
          <a:solidFill>
            <a:srgbClr val="A855D8"/>
          </a:solidFill>
          <a:ln w="12700">
            <a:solidFill>
              <a:srgbClr val="A855D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943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4123944"/>
            <a:ext cx="457200" cy="4572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828800" y="41056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Case Summary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828800" y="43982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Plain-language context loaded on demand. On-click only — prevents anchoring bias.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07A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TRANSFORMATION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analyst. 47 alerts. Completely different day.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1234440"/>
            <a:ext cx="3931920" cy="34747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1234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WITHOUT CO-PILOT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828032" y="1234440"/>
            <a:ext cx="393192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828032" y="1234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 CO-PILOT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1581912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8191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47 unstructured alerts, random order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1673352"/>
            <a:ext cx="237744" cy="237744"/>
          </a:xfrm>
          <a:prstGeom prst="ellipse">
            <a:avLst/>
          </a:prstGeom>
          <a:solidFill>
            <a:srgbClr val="C07AE8"/>
          </a:solidFill>
          <a:ln w="12700">
            <a:solidFill>
              <a:srgbClr val="C07A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6733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28032" y="1581912"/>
            <a:ext cx="3931920" cy="420624"/>
          </a:xfrm>
          <a:prstGeom prst="rect">
            <a:avLst/>
          </a:prstGeom>
          <a:solidFill>
            <a:srgbClr val="F6EFFE"/>
          </a:solidFill>
          <a:ln w="12700">
            <a:solidFill>
              <a:srgbClr val="EDD6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1581912"/>
            <a:ext cx="9144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5819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grouped batches by violation type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2039112"/>
            <a:ext cx="393192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03911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Opens cold — no context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0" y="2130552"/>
            <a:ext cx="237744" cy="237744"/>
          </a:xfrm>
          <a:prstGeom prst="ellipse">
            <a:avLst/>
          </a:prstGeom>
          <a:solidFill>
            <a:srgbClr val="C07AE8"/>
          </a:solidFill>
          <a:ln w="12700">
            <a:solidFill>
              <a:srgbClr val="C07A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2130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28032" y="2039112"/>
            <a:ext cx="3931920" cy="420624"/>
          </a:xfrm>
          <a:prstGeom prst="rect">
            <a:avLst/>
          </a:prstGeom>
          <a:solidFill>
            <a:srgbClr val="FBF5FF"/>
          </a:solidFill>
          <a:ln w="12700">
            <a:solidFill>
              <a:srgbClr val="EDD6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2039112"/>
            <a:ext cx="9144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0391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 loads in 20 seconds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" y="2496312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49631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Pull history from 3+ tools manually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0" y="2587752"/>
            <a:ext cx="237744" cy="237744"/>
          </a:xfrm>
          <a:prstGeom prst="ellipse">
            <a:avLst/>
          </a:prstGeom>
          <a:solidFill>
            <a:srgbClr val="C07AE8"/>
          </a:solidFill>
          <a:ln w="12700">
            <a:solidFill>
              <a:srgbClr val="C07A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28032" y="2496312"/>
            <a:ext cx="3931920" cy="420624"/>
          </a:xfrm>
          <a:prstGeom prst="rect">
            <a:avLst/>
          </a:prstGeom>
          <a:solidFill>
            <a:srgbClr val="F6EFFE"/>
          </a:solidFill>
          <a:ln w="12700">
            <a:solidFill>
              <a:srgbClr val="EDD6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2496312"/>
            <a:ext cx="9144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4963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 pack pre-assembled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" y="2953512"/>
            <a:ext cx="393192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95351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Figure out what to check — guesses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3044952"/>
            <a:ext cx="237744" cy="237744"/>
          </a:xfrm>
          <a:prstGeom prst="ellipse">
            <a:avLst/>
          </a:prstGeom>
          <a:solidFill>
            <a:srgbClr val="C07AE8"/>
          </a:solidFill>
          <a:ln w="12700">
            <a:solidFill>
              <a:srgbClr val="C07A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3044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28032" y="2953512"/>
            <a:ext cx="3931920" cy="420624"/>
          </a:xfrm>
          <a:prstGeom prst="rect">
            <a:avLst/>
          </a:prstGeom>
          <a:solidFill>
            <a:srgbClr val="FBF5FF"/>
          </a:solidFill>
          <a:ln w="12700">
            <a:solidFill>
              <a:srgbClr val="EDD6F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28032" y="2953512"/>
            <a:ext cx="9144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9535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Checklist: exactly 3 things to verify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84048" y="3410712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41071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40–60 minutes per case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06240" y="3502152"/>
            <a:ext cx="237744" cy="237744"/>
          </a:xfrm>
          <a:prstGeom prst="ellipse">
            <a:avLst/>
          </a:prstGeom>
          <a:solidFill>
            <a:srgbClr val="C07AE8"/>
          </a:solidFill>
          <a:ln w="12700">
            <a:solidFill>
              <a:srgbClr val="C07A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3502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28032" y="3410712"/>
            <a:ext cx="3931920" cy="420624"/>
          </a:xfrm>
          <a:prstGeom prst="rect">
            <a:avLst/>
          </a:prstGeom>
          <a:solidFill>
            <a:srgbClr val="F6EFFE"/>
          </a:solidFill>
          <a:ln w="12700">
            <a:solidFill>
              <a:srgbClr val="EDD6F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28032" y="3410712"/>
            <a:ext cx="9144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34107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8–12 minutes per case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84048" y="3867912"/>
            <a:ext cx="393192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86791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Write rationale from blank page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206240" y="3959352"/>
            <a:ext cx="237744" cy="237744"/>
          </a:xfrm>
          <a:prstGeom prst="ellipse">
            <a:avLst/>
          </a:prstGeom>
          <a:solidFill>
            <a:srgbClr val="C07AE8"/>
          </a:solidFill>
          <a:ln w="12700">
            <a:solidFill>
              <a:srgbClr val="C07A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0" y="39593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28032" y="3867912"/>
            <a:ext cx="3931920" cy="420624"/>
          </a:xfrm>
          <a:prstGeom prst="rect">
            <a:avLst/>
          </a:prstGeom>
          <a:solidFill>
            <a:srgbClr val="FBF5FF"/>
          </a:solidFill>
          <a:ln w="12700">
            <a:solidFill>
              <a:srgbClr val="EDD6F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28032" y="3867912"/>
            <a:ext cx="9144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83480" y="38679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Edit pre-drafted rationale and approve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84048" y="4325112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32511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Queue never empties — SLA pressure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206240" y="4416552"/>
            <a:ext cx="237744" cy="237744"/>
          </a:xfrm>
          <a:prstGeom prst="ellipse">
            <a:avLst/>
          </a:prstGeom>
          <a:solidFill>
            <a:srgbClr val="C07AE8"/>
          </a:solidFill>
          <a:ln w="12700">
            <a:solidFill>
              <a:srgbClr val="C07A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06240" y="4416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28032" y="4325112"/>
            <a:ext cx="3931920" cy="420624"/>
          </a:xfrm>
          <a:prstGeom prst="rect">
            <a:avLst/>
          </a:prstGeom>
          <a:solidFill>
            <a:srgbClr val="F6EFFE"/>
          </a:solidFill>
          <a:ln w="12700">
            <a:solidFill>
              <a:srgbClr val="EDD6F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28032" y="4325112"/>
            <a:ext cx="9144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83480" y="43251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Queue empty by noon — capacity for more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07A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MVP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Five features. Everything needed. Nothing else.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1234440"/>
            <a:ext cx="8375904" cy="1371600"/>
          </a:xfrm>
          <a:prstGeom prst="rect">
            <a:avLst>
              <a:gd name="adj" fmla="val 6667"/>
            </a:avLst>
          </a:prstGeom>
          <a:solidFill>
            <a:srgbClr val="2D0A5B"/>
          </a:solidFill>
          <a:ln/>
          <a:effectLst>
            <a:outerShdw sx="100000" sy="100000" kx="0" ky="0" algn="bl" rotWithShape="0" blurRad="889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34440"/>
            <a:ext cx="201168" cy="1371600"/>
          </a:xfrm>
          <a:prstGeom prst="rect">
            <a:avLst/>
          </a:prstGeom>
          <a:solidFill>
            <a:srgbClr val="2D0A5B"/>
          </a:solidFill>
          <a:ln w="12700">
            <a:solidFill>
              <a:srgbClr val="2D0A5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60020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72768" y="1581912"/>
            <a:ext cx="1280160" cy="237744"/>
          </a:xfrm>
          <a:prstGeom prst="rect">
            <a:avLst>
              <a:gd name="adj" fmla="val 23077"/>
            </a:avLst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1572768" y="15819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FOUNDATION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618488" y="18928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Violation-Type Grouping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18488" y="225856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A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Without this, nothing else delivers full value.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4088" y="161848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4088" y="1618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4048" y="2788920"/>
            <a:ext cx="1920240" cy="205740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84048" y="2788920"/>
            <a:ext cx="109728" cy="2057400"/>
          </a:xfrm>
          <a:prstGeom prst="rect">
            <a:avLst/>
          </a:prstGeom>
          <a:solidFill>
            <a:srgbClr val="6B28A8"/>
          </a:solidFill>
          <a:ln w="12700">
            <a:solidFill>
              <a:srgbClr val="6B28A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990088"/>
            <a:ext cx="457200" cy="4572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21208" y="3017520"/>
            <a:ext cx="237744" cy="237744"/>
          </a:xfrm>
          <a:prstGeom prst="ellipse">
            <a:avLst/>
          </a:prstGeom>
          <a:solidFill>
            <a:srgbClr val="6B28A8"/>
          </a:solidFill>
          <a:ln w="12700">
            <a:solidFill>
              <a:srgbClr val="6B28A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21208" y="3017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48640" y="35387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Violation-Type Checklist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48640" y="41056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Eliminates biggest cognitive load — what to verify.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532888" y="2788920"/>
            <a:ext cx="1920240" cy="205740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532888" y="2788920"/>
            <a:ext cx="109728" cy="2057400"/>
          </a:xfrm>
          <a:prstGeom prst="rect">
            <a:avLst/>
          </a:prstGeom>
          <a:solidFill>
            <a:srgbClr val="8B3DC2"/>
          </a:solidFill>
          <a:ln w="12700">
            <a:solidFill>
              <a:srgbClr val="8B3DC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8" y="2990088"/>
            <a:ext cx="457200" cy="4572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2670048" y="3017520"/>
            <a:ext cx="237744" cy="237744"/>
          </a:xfrm>
          <a:prstGeom prst="ellipse">
            <a:avLst/>
          </a:prstGeom>
          <a:solidFill>
            <a:srgbClr val="8B3DC2"/>
          </a:solidFill>
          <a:ln w="12700">
            <a:solidFill>
              <a:srgbClr val="8B3DC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670048" y="3017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2697480" y="35387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 Pack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2697480" y="41056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Compass Score, EverC graph, history — auto on open.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681728" y="2788920"/>
            <a:ext cx="1920240" cy="205740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681728" y="2788920"/>
            <a:ext cx="109728" cy="2057400"/>
          </a:xfrm>
          <a:prstGeom prst="rect">
            <a:avLst/>
          </a:prstGeom>
          <a:solidFill>
            <a:srgbClr val="A855D8"/>
          </a:solidFill>
          <a:ln w="12700">
            <a:solidFill>
              <a:srgbClr val="A855D8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990088"/>
            <a:ext cx="457200" cy="45720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4818888" y="3017520"/>
            <a:ext cx="237744" cy="237744"/>
          </a:xfrm>
          <a:prstGeom prst="ellipse">
            <a:avLst/>
          </a:prstGeom>
          <a:solidFill>
            <a:srgbClr val="A855D8"/>
          </a:solidFill>
          <a:ln w="12700">
            <a:solidFill>
              <a:srgbClr val="A855D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818888" y="3017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846320" y="35387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Case Summary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4846320" y="41056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Cold-start time drops from minutes to seconds.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6830568" y="2788920"/>
            <a:ext cx="1920240" cy="205740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6830568" y="2788920"/>
            <a:ext cx="109728" cy="2057400"/>
          </a:xfrm>
          <a:prstGeom prst="rect">
            <a:avLst/>
          </a:prstGeom>
          <a:solidFill>
            <a:srgbClr val="C07AE8"/>
          </a:solidFill>
          <a:ln w="12700">
            <a:solidFill>
              <a:srgbClr val="C07AE8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68" y="2990088"/>
            <a:ext cx="457200" cy="457200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6967728" y="3017520"/>
            <a:ext cx="237744" cy="237744"/>
          </a:xfrm>
          <a:prstGeom prst="ellipse">
            <a:avLst/>
          </a:prstGeom>
          <a:solidFill>
            <a:srgbClr val="C07AE8"/>
          </a:solidFill>
          <a:ln w="12700">
            <a:solidFill>
              <a:srgbClr val="C07AE8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967728" y="3017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6995160" y="35387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Risk-Tier Routing + Audit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6995160" y="41056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Critical/High surface first. Full audit trail.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07A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phases. Each gated by a real signal — not a date.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1234440"/>
            <a:ext cx="1920240" cy="356616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34440"/>
            <a:ext cx="1920240" cy="777240"/>
          </a:xfrm>
          <a:prstGeom prst="rect">
            <a:avLst>
              <a:gd name="adj" fmla="val 11765"/>
            </a:avLst>
          </a:prstGeom>
          <a:solidFill>
            <a:srgbClr val="C07AE8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737360"/>
            <a:ext cx="1920240" cy="274320"/>
          </a:xfrm>
          <a:prstGeom prst="rect">
            <a:avLst/>
          </a:prstGeom>
          <a:solidFill>
            <a:srgbClr val="C07AE8"/>
          </a:solidFill>
          <a:ln w="12700">
            <a:solidFill>
              <a:srgbClr val="C07A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80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EDD6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15361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Discover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04088" y="2103120"/>
            <a:ext cx="1280160" cy="256032"/>
          </a:xfrm>
          <a:prstGeom prst="rect">
            <a:avLst>
              <a:gd name="adj" fmla="val 28571"/>
            </a:avLst>
          </a:prstGeom>
          <a:solidFill>
            <a:srgbClr val="F6EFFE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2103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7A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4–6 wks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2542032"/>
            <a:ext cx="146304" cy="146304"/>
          </a:xfrm>
          <a:prstGeom prst="ellipse">
            <a:avLst/>
          </a:prstGeom>
          <a:solidFill>
            <a:srgbClr val="C07AE8"/>
          </a:solidFill>
          <a:ln w="12700">
            <a:solidFill>
              <a:srgbClr val="C07A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49631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Shadow analysts live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C07AE8"/>
          </a:solidFill>
          <a:ln w="12700">
            <a:solidFill>
              <a:srgbClr val="C07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09067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Capture baselines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3730752"/>
            <a:ext cx="146304" cy="146304"/>
          </a:xfrm>
          <a:prstGeom prst="ellipse">
            <a:avLst/>
          </a:prstGeom>
          <a:solidFill>
            <a:srgbClr val="C07AE8"/>
          </a:solidFill>
          <a:ln w="12700">
            <a:solidFill>
              <a:srgbClr val="C07A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368503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2–3 design partners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" y="4343400"/>
            <a:ext cx="1737360" cy="347472"/>
          </a:xfrm>
          <a:prstGeom prst="rect">
            <a:avLst>
              <a:gd name="adj" fmla="val 21053"/>
            </a:avLst>
          </a:prstGeom>
          <a:solidFill>
            <a:srgbClr val="F6EFFE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436168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7A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Gate →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78408" y="43616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Partners agreed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51176" y="1234440"/>
            <a:ext cx="1920240" cy="356616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51176" y="1234440"/>
            <a:ext cx="1920240" cy="777240"/>
          </a:xfrm>
          <a:prstGeom prst="rect">
            <a:avLst>
              <a:gd name="adj" fmla="val 11765"/>
            </a:avLst>
          </a:prstGeom>
          <a:solidFill>
            <a:srgbClr val="8B3DC2"/>
          </a:solidFill>
          <a:ln/>
        </p:spPr>
      </p:sp>
      <p:sp>
        <p:nvSpPr>
          <p:cNvPr id="22" name="Shape 20"/>
          <p:cNvSpPr/>
          <p:nvPr/>
        </p:nvSpPr>
        <p:spPr>
          <a:xfrm>
            <a:off x="2551176" y="1737360"/>
            <a:ext cx="1920240" cy="274320"/>
          </a:xfrm>
          <a:prstGeom prst="rect">
            <a:avLst/>
          </a:prstGeom>
          <a:solidFill>
            <a:srgbClr val="8B3DC2"/>
          </a:solidFill>
          <a:ln w="12700">
            <a:solidFill>
              <a:srgbClr val="8B3D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51176" y="1280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EDD6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51176" y="15361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MVP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871216" y="2103120"/>
            <a:ext cx="1280160" cy="256032"/>
          </a:xfrm>
          <a:prstGeom prst="rect">
            <a:avLst>
              <a:gd name="adj" fmla="val 28571"/>
            </a:avLst>
          </a:prstGeom>
          <a:solidFill>
            <a:srgbClr val="F6EFFE"/>
          </a:solidFill>
          <a:ln/>
        </p:spPr>
      </p:sp>
      <p:sp>
        <p:nvSpPr>
          <p:cNvPr id="26" name="Text 24"/>
          <p:cNvSpPr/>
          <p:nvPr/>
        </p:nvSpPr>
        <p:spPr>
          <a:xfrm>
            <a:off x="2871216" y="2103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3D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3–4 mo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34056" y="2542032"/>
            <a:ext cx="146304" cy="146304"/>
          </a:xfrm>
          <a:prstGeom prst="ellipse">
            <a:avLst/>
          </a:prstGeom>
          <a:solidFill>
            <a:srgbClr val="8B3DC2"/>
          </a:solidFill>
          <a:ln w="12700">
            <a:solidFill>
              <a:srgbClr val="8B3D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62656" y="249631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MVP features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34056" y="3136392"/>
            <a:ext cx="146304" cy="146304"/>
          </a:xfrm>
          <a:prstGeom prst="ellipse">
            <a:avLst/>
          </a:prstGeom>
          <a:solidFill>
            <a:srgbClr val="8B3DC2"/>
          </a:solidFill>
          <a:ln w="12700">
            <a:solidFill>
              <a:srgbClr val="8B3D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62656" y="309067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 partners only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34056" y="3730752"/>
            <a:ext cx="146304" cy="146304"/>
          </a:xfrm>
          <a:prstGeom prst="ellipse">
            <a:avLst/>
          </a:prstGeom>
          <a:solidFill>
            <a:srgbClr val="8B3DC2"/>
          </a:solidFill>
          <a:ln w="12700">
            <a:solidFill>
              <a:srgbClr val="8B3D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62656" y="368503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feedback loop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42616" y="4343400"/>
            <a:ext cx="1737360" cy="347472"/>
          </a:xfrm>
          <a:prstGeom prst="rect">
            <a:avLst>
              <a:gd name="adj" fmla="val 21053"/>
            </a:avLst>
          </a:prstGeom>
          <a:solidFill>
            <a:srgbClr val="F6EFFE"/>
          </a:solidFill>
          <a:ln/>
        </p:spPr>
      </p:sp>
      <p:sp>
        <p:nvSpPr>
          <p:cNvPr id="34" name="Text 32"/>
          <p:cNvSpPr/>
          <p:nvPr/>
        </p:nvSpPr>
        <p:spPr>
          <a:xfrm>
            <a:off x="2688336" y="436168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3D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Gate →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145536" y="43616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'We could handle more'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18304" y="1234440"/>
            <a:ext cx="1920240" cy="356616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18304" y="1234440"/>
            <a:ext cx="1920240" cy="777240"/>
          </a:xfrm>
          <a:prstGeom prst="rect">
            <a:avLst>
              <a:gd name="adj" fmla="val 11765"/>
            </a:avLst>
          </a:prstGeom>
          <a:solidFill>
            <a:srgbClr val="4A1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4718304" y="1737360"/>
            <a:ext cx="1920240" cy="274320"/>
          </a:xfrm>
          <a:prstGeom prst="rect">
            <a:avLst/>
          </a:prstGeom>
          <a:solidFill>
            <a:srgbClr val="4A1580"/>
          </a:solidFill>
          <a:ln w="12700">
            <a:solidFill>
              <a:srgbClr val="4A15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18304" y="1280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EDD6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2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18304" y="15361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Deepen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38344" y="2103120"/>
            <a:ext cx="1280160" cy="256032"/>
          </a:xfrm>
          <a:prstGeom prst="rect">
            <a:avLst>
              <a:gd name="adj" fmla="val 28571"/>
            </a:avLst>
          </a:prstGeom>
          <a:solidFill>
            <a:srgbClr val="F6EFFE"/>
          </a:solidFill>
          <a:ln/>
        </p:spPr>
      </p:sp>
      <p:sp>
        <p:nvSpPr>
          <p:cNvPr id="42" name="Text 40"/>
          <p:cNvSpPr/>
          <p:nvPr/>
        </p:nvSpPr>
        <p:spPr>
          <a:xfrm>
            <a:off x="5038344" y="2103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1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4–6 mo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01184" y="2542032"/>
            <a:ext cx="146304" cy="146304"/>
          </a:xfrm>
          <a:prstGeom prst="ellipse">
            <a:avLst/>
          </a:prstGeom>
          <a:solidFill>
            <a:srgbClr val="4A1580"/>
          </a:solidFill>
          <a:ln w="12700">
            <a:solidFill>
              <a:srgbClr val="4A15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9784" y="249631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Insights layer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901184" y="3136392"/>
            <a:ext cx="146304" cy="146304"/>
          </a:xfrm>
          <a:prstGeom prst="ellipse">
            <a:avLst/>
          </a:prstGeom>
          <a:solidFill>
            <a:srgbClr val="4A1580"/>
          </a:solidFill>
          <a:ln w="12700">
            <a:solidFill>
              <a:srgbClr val="4A15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9784" y="309067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Remediation workflow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901184" y="3730752"/>
            <a:ext cx="146304" cy="146304"/>
          </a:xfrm>
          <a:prstGeom prst="ellipse">
            <a:avLst/>
          </a:prstGeom>
          <a:solidFill>
            <a:srgbClr val="4A1580"/>
          </a:solidFill>
          <a:ln w="12700">
            <a:solidFill>
              <a:srgbClr val="4A15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9784" y="368503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Broader rollout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09744" y="4343400"/>
            <a:ext cx="1737360" cy="347472"/>
          </a:xfrm>
          <a:prstGeom prst="rect">
            <a:avLst>
              <a:gd name="adj" fmla="val 21053"/>
            </a:avLst>
          </a:prstGeom>
          <a:solidFill>
            <a:srgbClr val="F6EFFE"/>
          </a:solidFill>
          <a:ln/>
        </p:spPr>
      </p:sp>
      <p:sp>
        <p:nvSpPr>
          <p:cNvPr id="50" name="Text 48"/>
          <p:cNvSpPr/>
          <p:nvPr/>
        </p:nvSpPr>
        <p:spPr>
          <a:xfrm>
            <a:off x="4855464" y="436168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1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Gate →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312664" y="43616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Requests increasing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885432" y="1234440"/>
            <a:ext cx="1920240" cy="356616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885432" y="1234440"/>
            <a:ext cx="1920240" cy="777240"/>
          </a:xfrm>
          <a:prstGeom prst="rect">
            <a:avLst>
              <a:gd name="adj" fmla="val 11765"/>
            </a:avLst>
          </a:prstGeom>
          <a:solidFill>
            <a:srgbClr val="2D0A5B"/>
          </a:solidFill>
          <a:ln/>
        </p:spPr>
      </p:sp>
      <p:sp>
        <p:nvSpPr>
          <p:cNvPr id="54" name="Shape 52"/>
          <p:cNvSpPr/>
          <p:nvPr/>
        </p:nvSpPr>
        <p:spPr>
          <a:xfrm>
            <a:off x="6885432" y="1737360"/>
            <a:ext cx="1920240" cy="274320"/>
          </a:xfrm>
          <a:prstGeom prst="rect">
            <a:avLst/>
          </a:prstGeom>
          <a:solidFill>
            <a:srgbClr val="2D0A5B"/>
          </a:solidFill>
          <a:ln w="12700">
            <a:solidFill>
              <a:srgbClr val="2D0A5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85432" y="1280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EDD6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3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885432" y="15361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205472" y="2103120"/>
            <a:ext cx="1280160" cy="256032"/>
          </a:xfrm>
          <a:prstGeom prst="rect">
            <a:avLst>
              <a:gd name="adj" fmla="val 28571"/>
            </a:avLst>
          </a:prstGeom>
          <a:solidFill>
            <a:srgbClr val="F6EFFE"/>
          </a:solidFill>
          <a:ln/>
        </p:spPr>
      </p:sp>
      <p:sp>
        <p:nvSpPr>
          <p:cNvPr id="58" name="Text 56"/>
          <p:cNvSpPr/>
          <p:nvPr/>
        </p:nvSpPr>
        <p:spPr>
          <a:xfrm>
            <a:off x="7205472" y="2103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Ongoing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068312" y="2542032"/>
            <a:ext cx="146304" cy="146304"/>
          </a:xfrm>
          <a:prstGeom prst="ellipse">
            <a:avLst/>
          </a:prstGeom>
          <a:solidFill>
            <a:srgbClr val="2D0A5B"/>
          </a:solidFill>
          <a:ln w="12700">
            <a:solidFill>
              <a:srgbClr val="2D0A5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96912" y="249631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market rollout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068312" y="3136392"/>
            <a:ext cx="146304" cy="146304"/>
          </a:xfrm>
          <a:prstGeom prst="ellipse">
            <a:avLst/>
          </a:prstGeom>
          <a:solidFill>
            <a:srgbClr val="2D0A5B"/>
          </a:solidFill>
          <a:ln w="12700">
            <a:solidFill>
              <a:srgbClr val="2D0A5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96912" y="309067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Co-Pilot priced distinct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068312" y="3730752"/>
            <a:ext cx="146304" cy="146304"/>
          </a:xfrm>
          <a:prstGeom prst="ellipse">
            <a:avLst/>
          </a:prstGeom>
          <a:solidFill>
            <a:srgbClr val="2D0A5B"/>
          </a:solidFill>
          <a:ln w="12700">
            <a:solidFill>
              <a:srgbClr val="2D0A5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96912" y="368503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Feedback loop compounds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976872" y="4343400"/>
            <a:ext cx="1737360" cy="347472"/>
          </a:xfrm>
          <a:prstGeom prst="rect">
            <a:avLst>
              <a:gd name="adj" fmla="val 21053"/>
            </a:avLst>
          </a:prstGeom>
          <a:solidFill>
            <a:srgbClr val="F6EFFE"/>
          </a:solidFill>
          <a:ln/>
        </p:spPr>
      </p:sp>
      <p:sp>
        <p:nvSpPr>
          <p:cNvPr id="66" name="Text 64"/>
          <p:cNvSpPr/>
          <p:nvPr/>
        </p:nvSpPr>
        <p:spPr>
          <a:xfrm>
            <a:off x="7022592" y="436168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Gate →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479792" y="43616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Portfolio expanding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07A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CUSTOMER SEGMENTS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segments. One platform. Different levers.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1280160"/>
            <a:ext cx="4078224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80160"/>
            <a:ext cx="109728" cy="1600200"/>
          </a:xfrm>
          <a:prstGeom prst="rect">
            <a:avLst/>
          </a:prstGeom>
          <a:solidFill>
            <a:srgbClr val="8B3DC2"/>
          </a:solidFill>
          <a:ln w="12700">
            <a:solidFill>
              <a:srgbClr val="8B3DC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8448" y="1417320"/>
            <a:ext cx="822960" cy="219456"/>
          </a:xfrm>
          <a:prstGeom prst="rect">
            <a:avLst>
              <a:gd name="adj" fmla="val 25000"/>
            </a:avLst>
          </a:prstGeom>
          <a:solidFill>
            <a:srgbClr val="8B3DC2"/>
          </a:solidFill>
          <a:ln/>
        </p:spPr>
      </p:sp>
      <p:sp>
        <p:nvSpPr>
          <p:cNvPr id="8" name="Text 5"/>
          <p:cNvSpPr/>
          <p:nvPr/>
        </p:nvSpPr>
        <p:spPr>
          <a:xfrm>
            <a:off x="1298448" y="14173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85216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Growing PayFac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" y="2084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Pain: Alert volume overwhelms team as portfolio grows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5216" y="2432304"/>
            <a:ext cx="54864" cy="347472"/>
          </a:xfrm>
          <a:prstGeom prst="rect">
            <a:avLst/>
          </a:prstGeom>
          <a:solidFill>
            <a:srgbClr val="8B3DC2"/>
          </a:solidFill>
          <a:ln w="12700">
            <a:solidFill>
              <a:srgbClr val="8B3D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432304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1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Violation-type grouping eliminates context-switch overhead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54880" y="1280160"/>
            <a:ext cx="4078224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280160"/>
            <a:ext cx="109728" cy="1600200"/>
          </a:xfrm>
          <a:prstGeom prst="rect">
            <a:avLst/>
          </a:prstGeom>
          <a:solidFill>
            <a:srgbClr val="6B28A8"/>
          </a:solidFill>
          <a:ln w="12700">
            <a:solidFill>
              <a:srgbClr val="6B28A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417320"/>
            <a:ext cx="502920" cy="5029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669280" y="1417320"/>
            <a:ext cx="822960" cy="219456"/>
          </a:xfrm>
          <a:prstGeom prst="rect">
            <a:avLst>
              <a:gd name="adj" fmla="val 25000"/>
            </a:avLst>
          </a:prstGeom>
          <a:solidFill>
            <a:srgbClr val="6B28A8"/>
          </a:solidFill>
          <a:ln/>
        </p:spPr>
      </p:sp>
      <p:sp>
        <p:nvSpPr>
          <p:cNvPr id="17" name="Text 13"/>
          <p:cNvSpPr/>
          <p:nvPr/>
        </p:nvSpPr>
        <p:spPr>
          <a:xfrm>
            <a:off x="5669280" y="14173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956048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Established Acquirer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56048" y="2084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Pain: SLA breach on Critical/High — too slow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956048" y="2432304"/>
            <a:ext cx="54864" cy="347472"/>
          </a:xfrm>
          <a:prstGeom prst="rect">
            <a:avLst/>
          </a:prstGeom>
          <a:solidFill>
            <a:srgbClr val="6B28A8"/>
          </a:solidFill>
          <a:ln w="12700">
            <a:solidFill>
              <a:srgbClr val="6B28A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02352" y="2432304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1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 pack + checklist accelerates per-case time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84048" y="3108960"/>
            <a:ext cx="4078224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84048" y="3108960"/>
            <a:ext cx="109728" cy="1600200"/>
          </a:xfrm>
          <a:prstGeom prst="rect">
            <a:avLst/>
          </a:prstGeom>
          <a:solidFill>
            <a:srgbClr val="4A1580"/>
          </a:solidFill>
          <a:ln w="12700">
            <a:solidFill>
              <a:srgbClr val="4A158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46120"/>
            <a:ext cx="502920" cy="50292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1298448" y="3246120"/>
            <a:ext cx="822960" cy="219456"/>
          </a:xfrm>
          <a:prstGeom prst="rect">
            <a:avLst>
              <a:gd name="adj" fmla="val 25000"/>
            </a:avLst>
          </a:prstGeom>
          <a:solidFill>
            <a:srgbClr val="4A1580"/>
          </a:solidFill>
          <a:ln/>
        </p:spPr>
      </p:sp>
      <p:sp>
        <p:nvSpPr>
          <p:cNvPr id="26" name="Text 21"/>
          <p:cNvSpPr/>
          <p:nvPr/>
        </p:nvSpPr>
        <p:spPr>
          <a:xfrm>
            <a:off x="1298448" y="32461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2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585216" y="3566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Risk-Averse Prospect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85216" y="3913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Pain: Fear of adoption: 50k merchants sounds unmanageable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85216" y="4261104"/>
            <a:ext cx="54864" cy="347472"/>
          </a:xfrm>
          <a:prstGeom prst="rect">
            <a:avLst/>
          </a:prstGeom>
          <a:solidFill>
            <a:srgbClr val="4A1580"/>
          </a:solidFill>
          <a:ln w="12700">
            <a:solidFill>
              <a:srgbClr val="4A158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31520" y="4261104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1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Structured workflow = predictable capacity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4754880" y="3108960"/>
            <a:ext cx="4078224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754880" y="3108960"/>
            <a:ext cx="109728" cy="1600200"/>
          </a:xfrm>
          <a:prstGeom prst="rect">
            <a:avLst/>
          </a:prstGeom>
          <a:solidFill>
            <a:srgbClr val="2D0A5B"/>
          </a:solidFill>
          <a:ln w="12700">
            <a:solidFill>
              <a:srgbClr val="2D0A5B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246120"/>
            <a:ext cx="502920" cy="50292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5669280" y="3246120"/>
            <a:ext cx="822960" cy="219456"/>
          </a:xfrm>
          <a:prstGeom prst="rect">
            <a:avLst>
              <a:gd name="adj" fmla="val 25000"/>
            </a:avLst>
          </a:prstGeom>
          <a:solidFill>
            <a:srgbClr val="2D0A5B"/>
          </a:solidFill>
          <a:ln/>
        </p:spPr>
      </p:sp>
      <p:sp>
        <p:nvSpPr>
          <p:cNvPr id="35" name="Text 29"/>
          <p:cNvSpPr/>
          <p:nvPr/>
        </p:nvSpPr>
        <p:spPr>
          <a:xfrm>
            <a:off x="5669280" y="32461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3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4956048" y="3566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Marketplace / Platform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4956048" y="3913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Pain: Millions of sellers, tiny trust &amp; safety team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4956048" y="4261104"/>
            <a:ext cx="54864" cy="347472"/>
          </a:xfrm>
          <a:prstGeom prst="rect">
            <a:avLst/>
          </a:prstGeom>
          <a:solidFill>
            <a:srgbClr val="2D0A5B"/>
          </a:solidFill>
          <a:ln w="12700">
            <a:solidFill>
              <a:srgbClr val="2D0A5B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102352" y="4261104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15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levers + EverC Smart Scan for continuous monitoring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07A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SUCCESS METRICS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north star. One guardrail. One growth signal.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1325880"/>
            <a:ext cx="4114800" cy="3566160"/>
          </a:xfrm>
          <a:prstGeom prst="rect">
            <a:avLst>
              <a:gd name="adj" fmla="val 2564"/>
            </a:avLst>
          </a:prstGeom>
          <a:solidFill>
            <a:srgbClr val="2D0A5B"/>
          </a:solidFill>
          <a:ln/>
          <a:effectLst>
            <a:outerShdw sx="100000" sy="100000" kx="0" ky="0" algn="bl" rotWithShape="0" blurRad="889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325880"/>
            <a:ext cx="4114800" cy="54864"/>
          </a:xfrm>
          <a:prstGeom prst="rect">
            <a:avLst/>
          </a:prstGeom>
          <a:solidFill>
            <a:srgbClr val="2D0A5B"/>
          </a:solidFill>
          <a:ln w="12700">
            <a:solidFill>
              <a:srgbClr val="2D0A5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52704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1305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EEA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NORTH STAR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66928" y="23774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Alerts investigated per analyst per week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32004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9A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 expression of the scalability problem. If this moves — the Co-Pilot is working.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66928" y="4050792"/>
            <a:ext cx="3749040" cy="18288"/>
          </a:xfrm>
          <a:prstGeom prst="rect">
            <a:avLst/>
          </a:prstGeom>
          <a:solidFill>
            <a:srgbClr val="6B28A8"/>
          </a:solidFill>
          <a:ln w="12700">
            <a:solidFill>
              <a:srgbClr val="6B28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412394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7A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HOW: Case open → decision timestamp, per analyst. Entirely within Co-Pilot.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81728" y="1325880"/>
            <a:ext cx="1874520" cy="3566160"/>
          </a:xfrm>
          <a:prstGeom prst="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81728" y="1325880"/>
            <a:ext cx="1874520" cy="54864"/>
          </a:xfrm>
          <a:prstGeom prst="rect">
            <a:avLst/>
          </a:prstGeom>
          <a:solidFill>
            <a:srgbClr val="8B3DC2"/>
          </a:solidFill>
          <a:ln w="12700">
            <a:solidFill>
              <a:srgbClr val="8B3DC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527048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64608" y="21305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3D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GUARDRAIL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864608" y="23774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Case creation to decision time, by tier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864608" y="32004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Speed gains must not come at the cost of SLA discipline or decision quality.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864608" y="4050792"/>
            <a:ext cx="150876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64608" y="4123944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HOW: Both timestamps owned by G2RS. Per tier. No customer data sharing.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784848" y="1325880"/>
            <a:ext cx="1874520" cy="3566160"/>
          </a:xfrm>
          <a:prstGeom prst="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784848" y="1325880"/>
            <a:ext cx="1874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1527048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67728" y="21305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D94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GROWTH SIGNAL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6967728" y="23774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0A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Screening requests per customer per week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967728" y="32004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customers self-limited before, this rises as Co-Pilot gives them confidence to grow.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967728" y="4050792"/>
            <a:ext cx="150876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967728" y="4123944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HOW: Measured directly in G2RS API. Baseline captured in Phase 0.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5486400" cy="5486400"/>
          </a:xfrm>
          <a:prstGeom prst="ellipse">
            <a:avLst/>
          </a:prstGeom>
          <a:solidFill>
            <a:srgbClr val="2D0A5B"/>
          </a:solidFill>
          <a:ln w="12700">
            <a:solidFill>
              <a:srgbClr val="2D0A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4A1580"/>
          </a:solidFill>
          <a:ln w="12700">
            <a:solidFill>
              <a:srgbClr val="4A15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6B28A8"/>
          </a:solidFill>
          <a:ln w="12700">
            <a:solidFill>
              <a:srgbClr val="6B28A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69164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"A customer with 100,000 merchants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 monitor all of them —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tell G2RS to send more."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200400" y="379476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9A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what scalability means.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D9A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what the Co-Pilot delivers.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80060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B3D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Merchant Risk Co-Pilot  ·  G2RS / EverC  · 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G2RS Merchant Risk Co-Pilot</dc:title>
  <dc:subject>PptxGenJS Presentation</dc:subject>
  <dc:creator>PptxGenJS</dc:creator>
  <cp:lastModifiedBy>PptxGenJS</cp:lastModifiedBy>
  <cp:revision>1</cp:revision>
  <dcterms:created xsi:type="dcterms:W3CDTF">2026-03-17T21:52:37Z</dcterms:created>
  <dcterms:modified xsi:type="dcterms:W3CDTF">2026-03-17T21:52:37Z</dcterms:modified>
</cp:coreProperties>
</file>