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5641848" y="1280160"/>
            <a:ext cx="822960" cy="822960"/>
          </a:xfrm>
          <a:prstGeom prst="ellipse">
            <a:avLst/>
          </a:prstGeom>
          <a:solidFill>
            <a:srgbClr val="7C3AED"/>
          </a:solidFill>
          <a:ln/>
        </p:spPr>
      </p:sp>
      <p:sp>
        <p:nvSpPr>
          <p:cNvPr id="3" name="Shape 1"/>
          <p:cNvSpPr/>
          <p:nvPr/>
        </p:nvSpPr>
        <p:spPr>
          <a:xfrm>
            <a:off x="5949635" y="1553383"/>
            <a:ext cx="207386" cy="276515"/>
          </a:xfrm>
          <a:prstGeom prst="rect">
            <a:avLst>
              <a:gd name="adj" fmla="val 8818"/>
            </a:avLst>
          </a:prstGeom>
          <a:solidFill>
            <a:srgbClr val="FFFFFF"/>
          </a:solidFill>
          <a:ln/>
        </p:spPr>
      </p:sp>
      <p:sp>
        <p:nvSpPr>
          <p:cNvPr id="4" name="Shape 2"/>
          <p:cNvSpPr/>
          <p:nvPr/>
        </p:nvSpPr>
        <p:spPr>
          <a:xfrm rot="10800000">
            <a:off x="5949635" y="1818376"/>
            <a:ext cx="207386" cy="103693"/>
          </a:xfrm>
          <a:prstGeom prst="triangle">
            <a:avLst/>
          </a:prstGeom>
          <a:solidFill>
            <a:srgbClr val="FFFFFF"/>
          </a:solidFill>
          <a:ln/>
        </p:spPr>
      </p:sp>
      <p:sp>
        <p:nvSpPr>
          <p:cNvPr id="5" name="Text 3"/>
          <p:cNvSpPr/>
          <p:nvPr/>
        </p:nvSpPr>
        <p:spPr>
          <a:xfrm>
            <a:off x="1828800" y="2286000"/>
            <a:ext cx="8531352" cy="274320"/>
          </a:xfrm>
          <a:prstGeom prst="rect">
            <a:avLst/>
          </a:prstGeom>
          <a:noFill/>
          <a:ln/>
        </p:spPr>
        <p:txBody>
          <a:bodyPr wrap="square" rtlCol="0" anchor="ctr"/>
          <a:lstStyle/>
          <a:p>
            <a:pPr algn="ctr" indent="0" marL="0">
              <a:buNone/>
            </a:pPr>
            <a:r>
              <a:rPr lang="en-US" sz="900" b="1" spc="200" kern="0" dirty="0">
                <a:solidFill>
                  <a:srgbClr val="7C3AED"/>
                </a:solidFill>
                <a:latin typeface="Poppins" pitchFamily="34" charset="0"/>
                <a:ea typeface="Poppins" pitchFamily="34" charset="-122"/>
                <a:cs typeface="Poppins" pitchFamily="34" charset="-120"/>
              </a:rPr>
              <a:t>SENIOR PM CASE INTERVIEW  ·  G2RS / EVERC  ·  MARCH 2026</a:t>
            </a:r>
            <a:endParaRPr lang="en-US" sz="900" dirty="0"/>
          </a:p>
        </p:txBody>
      </p:sp>
      <p:sp>
        <p:nvSpPr>
          <p:cNvPr id="6" name="Text 4"/>
          <p:cNvSpPr/>
          <p:nvPr/>
        </p:nvSpPr>
        <p:spPr>
          <a:xfrm>
            <a:off x="1828800" y="2697480"/>
            <a:ext cx="8531352" cy="731520"/>
          </a:xfrm>
          <a:prstGeom prst="rect">
            <a:avLst/>
          </a:prstGeom>
          <a:noFill/>
          <a:ln/>
        </p:spPr>
        <p:txBody>
          <a:bodyPr wrap="square" rtlCol="0" anchor="ctr"/>
          <a:lstStyle/>
          <a:p>
            <a:pPr algn="ctr" indent="0" marL="0">
              <a:buNone/>
            </a:pPr>
            <a:r>
              <a:rPr lang="en-US" sz="5200" b="1" dirty="0">
                <a:solidFill>
                  <a:srgbClr val="FFFFFF"/>
                </a:solidFill>
                <a:latin typeface="Poppins" pitchFamily="34" charset="0"/>
                <a:ea typeface="Poppins" pitchFamily="34" charset="-122"/>
                <a:cs typeface="Poppins" pitchFamily="34" charset="-120"/>
              </a:rPr>
              <a:t>Merchant Risk</a:t>
            </a:r>
            <a:endParaRPr lang="en-US" sz="5200" dirty="0"/>
          </a:p>
        </p:txBody>
      </p:sp>
      <p:sp>
        <p:nvSpPr>
          <p:cNvPr id="7" name="Text 5"/>
          <p:cNvSpPr/>
          <p:nvPr/>
        </p:nvSpPr>
        <p:spPr>
          <a:xfrm>
            <a:off x="1828800" y="3383280"/>
            <a:ext cx="8531352" cy="731520"/>
          </a:xfrm>
          <a:prstGeom prst="rect">
            <a:avLst/>
          </a:prstGeom>
          <a:noFill/>
          <a:ln/>
        </p:spPr>
        <p:txBody>
          <a:bodyPr wrap="square" rtlCol="0" anchor="ctr"/>
          <a:lstStyle/>
          <a:p>
            <a:pPr algn="ctr" indent="0" marL="0">
              <a:buNone/>
            </a:pPr>
            <a:r>
              <a:rPr lang="en-US" sz="5200" b="1" dirty="0">
                <a:solidFill>
                  <a:srgbClr val="7C3AED"/>
                </a:solidFill>
                <a:latin typeface="Poppins" pitchFamily="34" charset="0"/>
                <a:ea typeface="Poppins" pitchFamily="34" charset="-122"/>
                <a:cs typeface="Poppins" pitchFamily="34" charset="-120"/>
              </a:rPr>
              <a:t>Co-Pilot</a:t>
            </a:r>
            <a:endParaRPr lang="en-US" sz="5200" dirty="0"/>
          </a:p>
        </p:txBody>
      </p:sp>
      <p:sp>
        <p:nvSpPr>
          <p:cNvPr id="8" name="Text 6"/>
          <p:cNvSpPr/>
          <p:nvPr/>
        </p:nvSpPr>
        <p:spPr>
          <a:xfrm>
            <a:off x="2441448" y="4297680"/>
            <a:ext cx="7315200" cy="548640"/>
          </a:xfrm>
          <a:prstGeom prst="rect">
            <a:avLst/>
          </a:prstGeom>
          <a:noFill/>
          <a:ln/>
        </p:spPr>
        <p:txBody>
          <a:bodyPr wrap="square" rtlCol="0" anchor="t"/>
          <a:lstStyle/>
          <a:p>
            <a:pPr algn="ctr" indent="0" marL="0">
              <a:buNone/>
            </a:pPr>
            <a:r>
              <a:rPr lang="en-US" sz="1600" dirty="0">
                <a:solidFill>
                  <a:srgbClr val="C4B5FD"/>
                </a:solidFill>
                <a:latin typeface="Poppins" pitchFamily="34" charset="0"/>
                <a:ea typeface="Poppins" pitchFamily="34" charset="-122"/>
                <a:cs typeface="Poppins" pitchFamily="34" charset="-120"/>
              </a:rPr>
              <a:t>G2RS detects violations at scale. This is the missing layer that lets customers act on them.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THE PROBLEM</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7C3AED"/>
                </a:solidFill>
                <a:latin typeface="Poppins" pitchFamily="34" charset="0"/>
                <a:ea typeface="Poppins" pitchFamily="34" charset="-122"/>
                <a:cs typeface="Poppins" pitchFamily="34" charset="-120"/>
              </a:rPr>
              <a:t>47 alerts. </a:t>
            </a:r>
            <a:pPr indent="0" marL="0">
              <a:buNone/>
            </a:pPr>
            <a:r>
              <a:rPr lang="en-US" sz="3800" b="1" dirty="0">
                <a:solidFill>
                  <a:srgbClr val="1A1A2E"/>
                </a:solidFill>
                <a:latin typeface="Poppins" pitchFamily="34" charset="0"/>
                <a:ea typeface="Poppins" pitchFamily="34" charset="-122"/>
                <a:cs typeface="Poppins" pitchFamily="34" charset="-120"/>
              </a:rPr>
              <a:t>Monday morning.</a:t>
            </a:r>
            <a:endParaRPr lang="en-US" sz="3800" dirty="0"/>
          </a:p>
        </p:txBody>
      </p:sp>
      <p:sp>
        <p:nvSpPr>
          <p:cNvPr id="4" name="Text 2"/>
          <p:cNvSpPr/>
          <p:nvPr/>
        </p:nvSpPr>
        <p:spPr>
          <a:xfrm>
            <a:off x="502920" y="1325880"/>
            <a:ext cx="5303520" cy="548640"/>
          </a:xfrm>
          <a:prstGeom prst="rect">
            <a:avLst/>
          </a:prstGeom>
          <a:noFill/>
          <a:ln/>
        </p:spPr>
        <p:txBody>
          <a:bodyPr wrap="square" rtlCol="0" anchor="ctr"/>
          <a:lstStyle/>
          <a:p>
            <a:pPr indent="0" marL="0">
              <a:buNone/>
            </a:pPr>
            <a:r>
              <a:rPr lang="en-US" sz="1300" dirty="0">
                <a:solidFill>
                  <a:srgbClr val="666666"/>
                </a:solidFill>
                <a:latin typeface="Poppins" pitchFamily="34" charset="0"/>
                <a:ea typeface="Poppins" pitchFamily="34" charset="-122"/>
                <a:cs typeface="Poppins" pitchFamily="34" charset="-120"/>
              </a:rPr>
              <a:t>A risk analyst opens their queue. 47 violations across different merchants. No grouping. No order. Just a list.</a:t>
            </a:r>
            <a:endParaRPr lang="en-US" sz="1300" dirty="0"/>
          </a:p>
        </p:txBody>
      </p:sp>
      <p:sp>
        <p:nvSpPr>
          <p:cNvPr id="5" name="Shape 3"/>
          <p:cNvSpPr/>
          <p:nvPr/>
        </p:nvSpPr>
        <p:spPr>
          <a:xfrm>
            <a:off x="502920" y="1965960"/>
            <a:ext cx="5303520" cy="475488"/>
          </a:xfrm>
          <a:prstGeom prst="roundRect">
            <a:avLst>
              <a:gd name="adj" fmla="val 15385"/>
            </a:avLst>
          </a:prstGeom>
          <a:solidFill>
            <a:srgbClr val="FFFFFF"/>
          </a:solidFill>
          <a:ln w="6350">
            <a:solidFill>
              <a:srgbClr val="EBE8F0"/>
            </a:solidFill>
            <a:prstDash val="solid"/>
          </a:ln>
        </p:spPr>
      </p:sp>
      <p:sp>
        <p:nvSpPr>
          <p:cNvPr id="6" name="Shape 4"/>
          <p:cNvSpPr/>
          <p:nvPr/>
        </p:nvSpPr>
        <p:spPr>
          <a:xfrm>
            <a:off x="502920" y="1965960"/>
            <a:ext cx="64008" cy="475488"/>
          </a:xfrm>
          <a:prstGeom prst="rect">
            <a:avLst/>
          </a:prstGeom>
          <a:solidFill>
            <a:srgbClr val="DC2626"/>
          </a:solidFill>
          <a:ln/>
        </p:spPr>
      </p:sp>
      <p:sp>
        <p:nvSpPr>
          <p:cNvPr id="7" name="Shape 5"/>
          <p:cNvSpPr/>
          <p:nvPr/>
        </p:nvSpPr>
        <p:spPr>
          <a:xfrm>
            <a:off x="667512" y="2103120"/>
            <a:ext cx="658368" cy="201168"/>
          </a:xfrm>
          <a:prstGeom prst="roundRect">
            <a:avLst>
              <a:gd name="adj" fmla="val 22727"/>
            </a:avLst>
          </a:prstGeom>
          <a:solidFill>
            <a:srgbClr val="FDE8E8"/>
          </a:solidFill>
          <a:ln/>
        </p:spPr>
      </p:sp>
      <p:sp>
        <p:nvSpPr>
          <p:cNvPr id="8" name="Text 6"/>
          <p:cNvSpPr/>
          <p:nvPr/>
        </p:nvSpPr>
        <p:spPr>
          <a:xfrm>
            <a:off x="667512" y="2103120"/>
            <a:ext cx="658368" cy="201168"/>
          </a:xfrm>
          <a:prstGeom prst="rect">
            <a:avLst/>
          </a:prstGeom>
          <a:noFill/>
          <a:ln/>
        </p:spPr>
        <p:txBody>
          <a:bodyPr wrap="square" rtlCol="0" anchor="ctr"/>
          <a:lstStyle/>
          <a:p>
            <a:pPr algn="ctr" indent="0" marL="0">
              <a:buNone/>
            </a:pPr>
            <a:r>
              <a:rPr lang="en-US" sz="800" b="1" dirty="0">
                <a:solidFill>
                  <a:srgbClr val="DC2626"/>
                </a:solidFill>
                <a:latin typeface="Poppins" pitchFamily="34" charset="0"/>
                <a:ea typeface="Poppins" pitchFamily="34" charset="-122"/>
                <a:cs typeface="Poppins" pitchFamily="34" charset="-120"/>
              </a:rPr>
              <a:t>CRITICAL</a:t>
            </a:r>
            <a:endParaRPr lang="en-US" sz="800" dirty="0"/>
          </a:p>
        </p:txBody>
      </p:sp>
      <p:sp>
        <p:nvSpPr>
          <p:cNvPr id="9" name="Text 7"/>
          <p:cNvSpPr/>
          <p:nvPr/>
        </p:nvSpPr>
        <p:spPr>
          <a:xfrm>
            <a:off x="1554480" y="2020824"/>
            <a:ext cx="2011680" cy="201168"/>
          </a:xfrm>
          <a:prstGeom prst="rect">
            <a:avLst/>
          </a:prstGeom>
          <a:noFill/>
          <a:ln/>
        </p:spPr>
        <p:txBody>
          <a:bodyPr wrap="square" rtlCol="0" anchor="ctr"/>
          <a:lstStyle/>
          <a:p>
            <a:pPr indent="0" marL="0">
              <a:buNone/>
            </a:pPr>
            <a:r>
              <a:rPr lang="en-US" sz="1200" b="1" dirty="0">
                <a:solidFill>
                  <a:srgbClr val="1A1A2E"/>
                </a:solidFill>
                <a:latin typeface="Poppins" pitchFamily="34" charset="0"/>
                <a:ea typeface="Poppins" pitchFamily="34" charset="-122"/>
                <a:cs typeface="Poppins" pitchFamily="34" charset="-120"/>
              </a:rPr>
              <a:t>betwin365.com</a:t>
            </a:r>
            <a:endParaRPr lang="en-US" sz="1200" dirty="0"/>
          </a:p>
        </p:txBody>
      </p:sp>
      <p:sp>
        <p:nvSpPr>
          <p:cNvPr id="10" name="Text 8"/>
          <p:cNvSpPr/>
          <p:nvPr/>
        </p:nvSpPr>
        <p:spPr>
          <a:xfrm>
            <a:off x="1554480" y="2212848"/>
            <a:ext cx="1828800" cy="1828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Gambling</a:t>
            </a:r>
            <a:endParaRPr lang="en-US" sz="1100" dirty="0"/>
          </a:p>
        </p:txBody>
      </p:sp>
      <p:sp>
        <p:nvSpPr>
          <p:cNvPr id="11" name="Shape 9"/>
          <p:cNvSpPr/>
          <p:nvPr/>
        </p:nvSpPr>
        <p:spPr>
          <a:xfrm>
            <a:off x="502920" y="2478024"/>
            <a:ext cx="5303520" cy="475488"/>
          </a:xfrm>
          <a:prstGeom prst="roundRect">
            <a:avLst>
              <a:gd name="adj" fmla="val 15385"/>
            </a:avLst>
          </a:prstGeom>
          <a:solidFill>
            <a:srgbClr val="FFFFFF"/>
          </a:solidFill>
          <a:ln w="6350">
            <a:solidFill>
              <a:srgbClr val="EBE8F0"/>
            </a:solidFill>
            <a:prstDash val="solid"/>
          </a:ln>
        </p:spPr>
      </p:sp>
      <p:sp>
        <p:nvSpPr>
          <p:cNvPr id="12" name="Shape 10"/>
          <p:cNvSpPr/>
          <p:nvPr/>
        </p:nvSpPr>
        <p:spPr>
          <a:xfrm>
            <a:off x="502920" y="2478024"/>
            <a:ext cx="64008" cy="475488"/>
          </a:xfrm>
          <a:prstGeom prst="rect">
            <a:avLst/>
          </a:prstGeom>
          <a:solidFill>
            <a:srgbClr val="DC2626"/>
          </a:solidFill>
          <a:ln/>
        </p:spPr>
      </p:sp>
      <p:sp>
        <p:nvSpPr>
          <p:cNvPr id="13" name="Shape 11"/>
          <p:cNvSpPr/>
          <p:nvPr/>
        </p:nvSpPr>
        <p:spPr>
          <a:xfrm>
            <a:off x="667512" y="2615184"/>
            <a:ext cx="658368" cy="201168"/>
          </a:xfrm>
          <a:prstGeom prst="roundRect">
            <a:avLst>
              <a:gd name="adj" fmla="val 22727"/>
            </a:avLst>
          </a:prstGeom>
          <a:solidFill>
            <a:srgbClr val="FDE8E8"/>
          </a:solidFill>
          <a:ln/>
        </p:spPr>
      </p:sp>
      <p:sp>
        <p:nvSpPr>
          <p:cNvPr id="14" name="Text 12"/>
          <p:cNvSpPr/>
          <p:nvPr/>
        </p:nvSpPr>
        <p:spPr>
          <a:xfrm>
            <a:off x="667512" y="2615184"/>
            <a:ext cx="658368" cy="201168"/>
          </a:xfrm>
          <a:prstGeom prst="rect">
            <a:avLst/>
          </a:prstGeom>
          <a:noFill/>
          <a:ln/>
        </p:spPr>
        <p:txBody>
          <a:bodyPr wrap="square" rtlCol="0" anchor="ctr"/>
          <a:lstStyle/>
          <a:p>
            <a:pPr algn="ctr" indent="0" marL="0">
              <a:buNone/>
            </a:pPr>
            <a:r>
              <a:rPr lang="en-US" sz="800" b="1" dirty="0">
                <a:solidFill>
                  <a:srgbClr val="DC2626"/>
                </a:solidFill>
                <a:latin typeface="Poppins" pitchFamily="34" charset="0"/>
                <a:ea typeface="Poppins" pitchFamily="34" charset="-122"/>
                <a:cs typeface="Poppins" pitchFamily="34" charset="-120"/>
              </a:rPr>
              <a:t>CRITICAL</a:t>
            </a:r>
            <a:endParaRPr lang="en-US" sz="800" dirty="0"/>
          </a:p>
        </p:txBody>
      </p:sp>
      <p:sp>
        <p:nvSpPr>
          <p:cNvPr id="15" name="Text 13"/>
          <p:cNvSpPr/>
          <p:nvPr/>
        </p:nvSpPr>
        <p:spPr>
          <a:xfrm>
            <a:off x="1554480" y="2532888"/>
            <a:ext cx="2011680" cy="201168"/>
          </a:xfrm>
          <a:prstGeom prst="rect">
            <a:avLst/>
          </a:prstGeom>
          <a:noFill/>
          <a:ln/>
        </p:spPr>
        <p:txBody>
          <a:bodyPr wrap="square" rtlCol="0" anchor="ctr"/>
          <a:lstStyle/>
          <a:p>
            <a:pPr indent="0" marL="0">
              <a:buNone/>
            </a:pPr>
            <a:r>
              <a:rPr lang="en-US" sz="1200" b="1" dirty="0">
                <a:solidFill>
                  <a:srgbClr val="1A1A2E"/>
                </a:solidFill>
                <a:latin typeface="Poppins" pitchFamily="34" charset="0"/>
                <a:ea typeface="Poppins" pitchFamily="34" charset="-122"/>
                <a:cs typeface="Poppins" pitchFamily="34" charset="-120"/>
              </a:rPr>
              <a:t>pharmadir.com</a:t>
            </a:r>
            <a:endParaRPr lang="en-US" sz="1200" dirty="0"/>
          </a:p>
        </p:txBody>
      </p:sp>
      <p:sp>
        <p:nvSpPr>
          <p:cNvPr id="16" name="Text 14"/>
          <p:cNvSpPr/>
          <p:nvPr/>
        </p:nvSpPr>
        <p:spPr>
          <a:xfrm>
            <a:off x="1554480" y="2724912"/>
            <a:ext cx="1828800" cy="1828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Prescription</a:t>
            </a:r>
            <a:endParaRPr lang="en-US" sz="1100" dirty="0"/>
          </a:p>
        </p:txBody>
      </p:sp>
      <p:sp>
        <p:nvSpPr>
          <p:cNvPr id="17" name="Shape 15"/>
          <p:cNvSpPr/>
          <p:nvPr/>
        </p:nvSpPr>
        <p:spPr>
          <a:xfrm>
            <a:off x="502920" y="2990088"/>
            <a:ext cx="5303520" cy="475488"/>
          </a:xfrm>
          <a:prstGeom prst="roundRect">
            <a:avLst>
              <a:gd name="adj" fmla="val 15385"/>
            </a:avLst>
          </a:prstGeom>
          <a:solidFill>
            <a:srgbClr val="FFFFFF"/>
          </a:solidFill>
          <a:ln w="6350">
            <a:solidFill>
              <a:srgbClr val="EBE8F0"/>
            </a:solidFill>
            <a:prstDash val="solid"/>
          </a:ln>
        </p:spPr>
      </p:sp>
      <p:sp>
        <p:nvSpPr>
          <p:cNvPr id="18" name="Shape 16"/>
          <p:cNvSpPr/>
          <p:nvPr/>
        </p:nvSpPr>
        <p:spPr>
          <a:xfrm>
            <a:off x="502920" y="2990088"/>
            <a:ext cx="64008" cy="475488"/>
          </a:xfrm>
          <a:prstGeom prst="rect">
            <a:avLst/>
          </a:prstGeom>
          <a:solidFill>
            <a:srgbClr val="D97706"/>
          </a:solidFill>
          <a:ln/>
        </p:spPr>
      </p:sp>
      <p:sp>
        <p:nvSpPr>
          <p:cNvPr id="19" name="Shape 17"/>
          <p:cNvSpPr/>
          <p:nvPr/>
        </p:nvSpPr>
        <p:spPr>
          <a:xfrm>
            <a:off x="667512" y="3127248"/>
            <a:ext cx="420624" cy="201168"/>
          </a:xfrm>
          <a:prstGeom prst="roundRect">
            <a:avLst>
              <a:gd name="adj" fmla="val 22727"/>
            </a:avLst>
          </a:prstGeom>
          <a:solidFill>
            <a:srgbClr val="FEF3C7"/>
          </a:solidFill>
          <a:ln/>
        </p:spPr>
      </p:sp>
      <p:sp>
        <p:nvSpPr>
          <p:cNvPr id="20" name="Text 18"/>
          <p:cNvSpPr/>
          <p:nvPr/>
        </p:nvSpPr>
        <p:spPr>
          <a:xfrm>
            <a:off x="667512" y="3127248"/>
            <a:ext cx="420624" cy="201168"/>
          </a:xfrm>
          <a:prstGeom prst="rect">
            <a:avLst/>
          </a:prstGeom>
          <a:noFill/>
          <a:ln/>
        </p:spPr>
        <p:txBody>
          <a:bodyPr wrap="square" rtlCol="0" anchor="ctr"/>
          <a:lstStyle/>
          <a:p>
            <a:pPr algn="ctr" indent="0" marL="0">
              <a:buNone/>
            </a:pPr>
            <a:r>
              <a:rPr lang="en-US" sz="800" b="1" dirty="0">
                <a:solidFill>
                  <a:srgbClr val="D97706"/>
                </a:solidFill>
                <a:latin typeface="Poppins" pitchFamily="34" charset="0"/>
                <a:ea typeface="Poppins" pitchFamily="34" charset="-122"/>
                <a:cs typeface="Poppins" pitchFamily="34" charset="-120"/>
              </a:rPr>
              <a:t>HIGH</a:t>
            </a:r>
            <a:endParaRPr lang="en-US" sz="800" dirty="0"/>
          </a:p>
        </p:txBody>
      </p:sp>
      <p:sp>
        <p:nvSpPr>
          <p:cNvPr id="21" name="Text 19"/>
          <p:cNvSpPr/>
          <p:nvPr/>
        </p:nvSpPr>
        <p:spPr>
          <a:xfrm>
            <a:off x="1554480" y="3044952"/>
            <a:ext cx="2011680" cy="201168"/>
          </a:xfrm>
          <a:prstGeom prst="rect">
            <a:avLst/>
          </a:prstGeom>
          <a:noFill/>
          <a:ln/>
        </p:spPr>
        <p:txBody>
          <a:bodyPr wrap="square" rtlCol="0" anchor="ctr"/>
          <a:lstStyle/>
          <a:p>
            <a:pPr indent="0" marL="0">
              <a:buNone/>
            </a:pPr>
            <a:r>
              <a:rPr lang="en-US" sz="1200" b="1" dirty="0">
                <a:solidFill>
                  <a:srgbClr val="1A1A2E"/>
                </a:solidFill>
                <a:latin typeface="Poppins" pitchFamily="34" charset="0"/>
                <a:ea typeface="Poppins" pitchFamily="34" charset="-122"/>
                <a:cs typeface="Poppins" pitchFamily="34" charset="-120"/>
              </a:rPr>
              <a:t>luxreplica.co</a:t>
            </a:r>
            <a:endParaRPr lang="en-US" sz="1200" dirty="0"/>
          </a:p>
        </p:txBody>
      </p:sp>
      <p:sp>
        <p:nvSpPr>
          <p:cNvPr id="22" name="Text 20"/>
          <p:cNvSpPr/>
          <p:nvPr/>
        </p:nvSpPr>
        <p:spPr>
          <a:xfrm>
            <a:off x="1554480" y="3236976"/>
            <a:ext cx="1828800" cy="1828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Counterfeit</a:t>
            </a:r>
            <a:endParaRPr lang="en-US" sz="1100" dirty="0"/>
          </a:p>
        </p:txBody>
      </p:sp>
      <p:sp>
        <p:nvSpPr>
          <p:cNvPr id="23" name="Shape 21"/>
          <p:cNvSpPr/>
          <p:nvPr/>
        </p:nvSpPr>
        <p:spPr>
          <a:xfrm>
            <a:off x="502920" y="3502152"/>
            <a:ext cx="5303520" cy="475488"/>
          </a:xfrm>
          <a:prstGeom prst="roundRect">
            <a:avLst>
              <a:gd name="adj" fmla="val 15385"/>
            </a:avLst>
          </a:prstGeom>
          <a:solidFill>
            <a:srgbClr val="FFFFFF"/>
          </a:solidFill>
          <a:ln w="6350">
            <a:solidFill>
              <a:srgbClr val="EBE8F0"/>
            </a:solidFill>
            <a:prstDash val="solid"/>
          </a:ln>
        </p:spPr>
      </p:sp>
      <p:sp>
        <p:nvSpPr>
          <p:cNvPr id="24" name="Shape 22"/>
          <p:cNvSpPr/>
          <p:nvPr/>
        </p:nvSpPr>
        <p:spPr>
          <a:xfrm>
            <a:off x="502920" y="3502152"/>
            <a:ext cx="64008" cy="475488"/>
          </a:xfrm>
          <a:prstGeom prst="rect">
            <a:avLst/>
          </a:prstGeom>
          <a:solidFill>
            <a:srgbClr val="D97706"/>
          </a:solidFill>
          <a:ln/>
        </p:spPr>
      </p:sp>
      <p:sp>
        <p:nvSpPr>
          <p:cNvPr id="25" name="Shape 23"/>
          <p:cNvSpPr/>
          <p:nvPr/>
        </p:nvSpPr>
        <p:spPr>
          <a:xfrm>
            <a:off x="667512" y="3639312"/>
            <a:ext cx="420624" cy="201168"/>
          </a:xfrm>
          <a:prstGeom prst="roundRect">
            <a:avLst>
              <a:gd name="adj" fmla="val 22727"/>
            </a:avLst>
          </a:prstGeom>
          <a:solidFill>
            <a:srgbClr val="FEF3C7"/>
          </a:solidFill>
          <a:ln/>
        </p:spPr>
      </p:sp>
      <p:sp>
        <p:nvSpPr>
          <p:cNvPr id="26" name="Text 24"/>
          <p:cNvSpPr/>
          <p:nvPr/>
        </p:nvSpPr>
        <p:spPr>
          <a:xfrm>
            <a:off x="667512" y="3639312"/>
            <a:ext cx="420624" cy="201168"/>
          </a:xfrm>
          <a:prstGeom prst="rect">
            <a:avLst/>
          </a:prstGeom>
          <a:noFill/>
          <a:ln/>
        </p:spPr>
        <p:txBody>
          <a:bodyPr wrap="square" rtlCol="0" anchor="ctr"/>
          <a:lstStyle/>
          <a:p>
            <a:pPr algn="ctr" indent="0" marL="0">
              <a:buNone/>
            </a:pPr>
            <a:r>
              <a:rPr lang="en-US" sz="800" b="1" dirty="0">
                <a:solidFill>
                  <a:srgbClr val="D97706"/>
                </a:solidFill>
                <a:latin typeface="Poppins" pitchFamily="34" charset="0"/>
                <a:ea typeface="Poppins" pitchFamily="34" charset="-122"/>
                <a:cs typeface="Poppins" pitchFamily="34" charset="-120"/>
              </a:rPr>
              <a:t>HIGH</a:t>
            </a:r>
            <a:endParaRPr lang="en-US" sz="800" dirty="0"/>
          </a:p>
        </p:txBody>
      </p:sp>
      <p:sp>
        <p:nvSpPr>
          <p:cNvPr id="27" name="Text 25"/>
          <p:cNvSpPr/>
          <p:nvPr/>
        </p:nvSpPr>
        <p:spPr>
          <a:xfrm>
            <a:off x="1554480" y="3557016"/>
            <a:ext cx="2011680" cy="201168"/>
          </a:xfrm>
          <a:prstGeom prst="rect">
            <a:avLst/>
          </a:prstGeom>
          <a:noFill/>
          <a:ln/>
        </p:spPr>
        <p:txBody>
          <a:bodyPr wrap="square" rtlCol="0" anchor="ctr"/>
          <a:lstStyle/>
          <a:p>
            <a:pPr indent="0" marL="0">
              <a:buNone/>
            </a:pPr>
            <a:r>
              <a:rPr lang="en-US" sz="1200" b="1" dirty="0">
                <a:solidFill>
                  <a:srgbClr val="1A1A2E"/>
                </a:solidFill>
                <a:latin typeface="Poppins" pitchFamily="34" charset="0"/>
                <a:ea typeface="Poppins" pitchFamily="34" charset="-122"/>
                <a:cs typeface="Poppins" pitchFamily="34" charset="-120"/>
              </a:rPr>
              <a:t>jackpotstore.io</a:t>
            </a:r>
            <a:endParaRPr lang="en-US" sz="1200" dirty="0"/>
          </a:p>
        </p:txBody>
      </p:sp>
      <p:sp>
        <p:nvSpPr>
          <p:cNvPr id="28" name="Text 26"/>
          <p:cNvSpPr/>
          <p:nvPr/>
        </p:nvSpPr>
        <p:spPr>
          <a:xfrm>
            <a:off x="1554480" y="3749040"/>
            <a:ext cx="1828800" cy="1828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Gambling</a:t>
            </a:r>
            <a:endParaRPr lang="en-US" sz="1100" dirty="0"/>
          </a:p>
        </p:txBody>
      </p:sp>
      <p:sp>
        <p:nvSpPr>
          <p:cNvPr id="29" name="Shape 27"/>
          <p:cNvSpPr/>
          <p:nvPr/>
        </p:nvSpPr>
        <p:spPr>
          <a:xfrm>
            <a:off x="502920" y="4014216"/>
            <a:ext cx="5303520" cy="475488"/>
          </a:xfrm>
          <a:prstGeom prst="roundRect">
            <a:avLst>
              <a:gd name="adj" fmla="val 15385"/>
            </a:avLst>
          </a:prstGeom>
          <a:solidFill>
            <a:srgbClr val="FFFFFF"/>
          </a:solidFill>
          <a:ln w="6350">
            <a:solidFill>
              <a:srgbClr val="EBE8F0"/>
            </a:solidFill>
            <a:prstDash val="solid"/>
          </a:ln>
        </p:spPr>
      </p:sp>
      <p:sp>
        <p:nvSpPr>
          <p:cNvPr id="30" name="Shape 28"/>
          <p:cNvSpPr/>
          <p:nvPr/>
        </p:nvSpPr>
        <p:spPr>
          <a:xfrm>
            <a:off x="502920" y="4014216"/>
            <a:ext cx="64008" cy="475488"/>
          </a:xfrm>
          <a:prstGeom prst="rect">
            <a:avLst/>
          </a:prstGeom>
          <a:solidFill>
            <a:srgbClr val="3B82F6"/>
          </a:solidFill>
          <a:ln/>
        </p:spPr>
      </p:sp>
      <p:sp>
        <p:nvSpPr>
          <p:cNvPr id="31" name="Shape 29"/>
          <p:cNvSpPr/>
          <p:nvPr/>
        </p:nvSpPr>
        <p:spPr>
          <a:xfrm>
            <a:off x="667512" y="4151376"/>
            <a:ext cx="539496" cy="201168"/>
          </a:xfrm>
          <a:prstGeom prst="roundRect">
            <a:avLst>
              <a:gd name="adj" fmla="val 22727"/>
            </a:avLst>
          </a:prstGeom>
          <a:solidFill>
            <a:srgbClr val="EFF6FF"/>
          </a:solidFill>
          <a:ln/>
        </p:spPr>
      </p:sp>
      <p:sp>
        <p:nvSpPr>
          <p:cNvPr id="32" name="Text 30"/>
          <p:cNvSpPr/>
          <p:nvPr/>
        </p:nvSpPr>
        <p:spPr>
          <a:xfrm>
            <a:off x="667512" y="4151376"/>
            <a:ext cx="539496" cy="201168"/>
          </a:xfrm>
          <a:prstGeom prst="rect">
            <a:avLst/>
          </a:prstGeom>
          <a:noFill/>
          <a:ln/>
        </p:spPr>
        <p:txBody>
          <a:bodyPr wrap="square" rtlCol="0" anchor="ctr"/>
          <a:lstStyle/>
          <a:p>
            <a:pPr algn="ctr" indent="0" marL="0">
              <a:buNone/>
            </a:pPr>
            <a:r>
              <a:rPr lang="en-US" sz="800" b="1" dirty="0">
                <a:solidFill>
                  <a:srgbClr val="3B82F6"/>
                </a:solidFill>
                <a:latin typeface="Poppins" pitchFamily="34" charset="0"/>
                <a:ea typeface="Poppins" pitchFamily="34" charset="-122"/>
                <a:cs typeface="Poppins" pitchFamily="34" charset="-120"/>
              </a:rPr>
              <a:t>MEDIUM</a:t>
            </a:r>
            <a:endParaRPr lang="en-US" sz="800" dirty="0"/>
          </a:p>
        </p:txBody>
      </p:sp>
      <p:sp>
        <p:nvSpPr>
          <p:cNvPr id="33" name="Text 31"/>
          <p:cNvSpPr/>
          <p:nvPr/>
        </p:nvSpPr>
        <p:spPr>
          <a:xfrm>
            <a:off x="1554480" y="4069080"/>
            <a:ext cx="2011680" cy="201168"/>
          </a:xfrm>
          <a:prstGeom prst="rect">
            <a:avLst/>
          </a:prstGeom>
          <a:noFill/>
          <a:ln/>
        </p:spPr>
        <p:txBody>
          <a:bodyPr wrap="square" rtlCol="0" anchor="ctr"/>
          <a:lstStyle/>
          <a:p>
            <a:pPr indent="0" marL="0">
              <a:buNone/>
            </a:pPr>
            <a:r>
              <a:rPr lang="en-US" sz="1200" b="1" dirty="0">
                <a:solidFill>
                  <a:srgbClr val="1A1A2E"/>
                </a:solidFill>
                <a:latin typeface="Poppins" pitchFamily="34" charset="0"/>
                <a:ea typeface="Poppins" pitchFamily="34" charset="-122"/>
                <a:cs typeface="Poppins" pitchFamily="34" charset="-120"/>
              </a:rPr>
              <a:t>cleanmeds.co</a:t>
            </a:r>
            <a:endParaRPr lang="en-US" sz="1200" dirty="0"/>
          </a:p>
        </p:txBody>
      </p:sp>
      <p:sp>
        <p:nvSpPr>
          <p:cNvPr id="34" name="Text 32"/>
          <p:cNvSpPr/>
          <p:nvPr/>
        </p:nvSpPr>
        <p:spPr>
          <a:xfrm>
            <a:off x="1554480" y="4261104"/>
            <a:ext cx="1828800" cy="1828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Prescription</a:t>
            </a:r>
            <a:endParaRPr lang="en-US" sz="1100" dirty="0"/>
          </a:p>
        </p:txBody>
      </p:sp>
      <p:sp>
        <p:nvSpPr>
          <p:cNvPr id="35" name="Shape 33"/>
          <p:cNvSpPr/>
          <p:nvPr/>
        </p:nvSpPr>
        <p:spPr>
          <a:xfrm>
            <a:off x="502920" y="4526280"/>
            <a:ext cx="5303520" cy="475488"/>
          </a:xfrm>
          <a:prstGeom prst="roundRect">
            <a:avLst>
              <a:gd name="adj" fmla="val 15385"/>
            </a:avLst>
          </a:prstGeom>
          <a:solidFill>
            <a:srgbClr val="FFFFFF"/>
          </a:solidFill>
          <a:ln w="6350">
            <a:solidFill>
              <a:srgbClr val="EBE8F0"/>
            </a:solidFill>
            <a:prstDash val="solid"/>
          </a:ln>
        </p:spPr>
      </p:sp>
      <p:sp>
        <p:nvSpPr>
          <p:cNvPr id="36" name="Shape 34"/>
          <p:cNvSpPr/>
          <p:nvPr/>
        </p:nvSpPr>
        <p:spPr>
          <a:xfrm>
            <a:off x="502920" y="4526280"/>
            <a:ext cx="64008" cy="475488"/>
          </a:xfrm>
          <a:prstGeom prst="rect">
            <a:avLst/>
          </a:prstGeom>
          <a:solidFill>
            <a:srgbClr val="D97706"/>
          </a:solidFill>
          <a:ln/>
        </p:spPr>
      </p:sp>
      <p:sp>
        <p:nvSpPr>
          <p:cNvPr id="37" name="Shape 35"/>
          <p:cNvSpPr/>
          <p:nvPr/>
        </p:nvSpPr>
        <p:spPr>
          <a:xfrm>
            <a:off x="667512" y="4663440"/>
            <a:ext cx="420624" cy="201168"/>
          </a:xfrm>
          <a:prstGeom prst="roundRect">
            <a:avLst>
              <a:gd name="adj" fmla="val 22727"/>
            </a:avLst>
          </a:prstGeom>
          <a:solidFill>
            <a:srgbClr val="FEF3C7"/>
          </a:solidFill>
          <a:ln/>
        </p:spPr>
      </p:sp>
      <p:sp>
        <p:nvSpPr>
          <p:cNvPr id="38" name="Text 36"/>
          <p:cNvSpPr/>
          <p:nvPr/>
        </p:nvSpPr>
        <p:spPr>
          <a:xfrm>
            <a:off x="667512" y="4663440"/>
            <a:ext cx="420624" cy="201168"/>
          </a:xfrm>
          <a:prstGeom prst="rect">
            <a:avLst/>
          </a:prstGeom>
          <a:noFill/>
          <a:ln/>
        </p:spPr>
        <p:txBody>
          <a:bodyPr wrap="square" rtlCol="0" anchor="ctr"/>
          <a:lstStyle/>
          <a:p>
            <a:pPr algn="ctr" indent="0" marL="0">
              <a:buNone/>
            </a:pPr>
            <a:r>
              <a:rPr lang="en-US" sz="800" b="1" dirty="0">
                <a:solidFill>
                  <a:srgbClr val="D97706"/>
                </a:solidFill>
                <a:latin typeface="Poppins" pitchFamily="34" charset="0"/>
                <a:ea typeface="Poppins" pitchFamily="34" charset="-122"/>
                <a:cs typeface="Poppins" pitchFamily="34" charset="-120"/>
              </a:rPr>
              <a:t>HIGH</a:t>
            </a:r>
            <a:endParaRPr lang="en-US" sz="800" dirty="0"/>
          </a:p>
        </p:txBody>
      </p:sp>
      <p:sp>
        <p:nvSpPr>
          <p:cNvPr id="39" name="Text 37"/>
          <p:cNvSpPr/>
          <p:nvPr/>
        </p:nvSpPr>
        <p:spPr>
          <a:xfrm>
            <a:off x="1554480" y="4581144"/>
            <a:ext cx="2011680" cy="201168"/>
          </a:xfrm>
          <a:prstGeom prst="rect">
            <a:avLst/>
          </a:prstGeom>
          <a:noFill/>
          <a:ln/>
        </p:spPr>
        <p:txBody>
          <a:bodyPr wrap="square" rtlCol="0" anchor="ctr"/>
          <a:lstStyle/>
          <a:p>
            <a:pPr indent="0" marL="0">
              <a:buNone/>
            </a:pPr>
            <a:r>
              <a:rPr lang="en-US" sz="1200" b="1" dirty="0">
                <a:solidFill>
                  <a:srgbClr val="1A1A2E"/>
                </a:solidFill>
                <a:latin typeface="Poppins" pitchFamily="34" charset="0"/>
                <a:ea typeface="Poppins" pitchFamily="34" charset="-122"/>
                <a:cs typeface="Poppins" pitchFamily="34" charset="-120"/>
              </a:rPr>
              <a:t>sportzgear.com</a:t>
            </a:r>
            <a:endParaRPr lang="en-US" sz="1200" dirty="0"/>
          </a:p>
        </p:txBody>
      </p:sp>
      <p:sp>
        <p:nvSpPr>
          <p:cNvPr id="40" name="Text 38"/>
          <p:cNvSpPr/>
          <p:nvPr/>
        </p:nvSpPr>
        <p:spPr>
          <a:xfrm>
            <a:off x="1554480" y="4773168"/>
            <a:ext cx="1828800" cy="1828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Counterfeit</a:t>
            </a:r>
            <a:endParaRPr lang="en-US" sz="1100" dirty="0"/>
          </a:p>
        </p:txBody>
      </p:sp>
      <p:sp>
        <p:nvSpPr>
          <p:cNvPr id="41" name="Shape 39"/>
          <p:cNvSpPr/>
          <p:nvPr/>
        </p:nvSpPr>
        <p:spPr>
          <a:xfrm>
            <a:off x="502920" y="5111496"/>
            <a:ext cx="5303520" cy="411480"/>
          </a:xfrm>
          <a:prstGeom prst="roundRect">
            <a:avLst>
              <a:gd name="adj" fmla="val 8889"/>
            </a:avLst>
          </a:prstGeom>
          <a:solidFill>
            <a:srgbClr val="FDE8E8"/>
          </a:solidFill>
          <a:ln/>
        </p:spPr>
      </p:sp>
      <p:sp>
        <p:nvSpPr>
          <p:cNvPr id="42" name="Shape 40"/>
          <p:cNvSpPr/>
          <p:nvPr/>
        </p:nvSpPr>
        <p:spPr>
          <a:xfrm>
            <a:off x="502920" y="5111496"/>
            <a:ext cx="54864" cy="411480"/>
          </a:xfrm>
          <a:prstGeom prst="rect">
            <a:avLst/>
          </a:prstGeom>
          <a:solidFill>
            <a:srgbClr val="DC2626"/>
          </a:solidFill>
          <a:ln/>
        </p:spPr>
      </p:sp>
      <p:sp>
        <p:nvSpPr>
          <p:cNvPr id="43" name="Text 41"/>
          <p:cNvSpPr/>
          <p:nvPr/>
        </p:nvSpPr>
        <p:spPr>
          <a:xfrm>
            <a:off x="667512" y="5111496"/>
            <a:ext cx="5029200" cy="411480"/>
          </a:xfrm>
          <a:prstGeom prst="rect">
            <a:avLst/>
          </a:prstGeom>
          <a:noFill/>
          <a:ln/>
        </p:spPr>
        <p:txBody>
          <a:bodyPr wrap="square" rtlCol="0" anchor="ctr"/>
          <a:lstStyle/>
          <a:p>
            <a:pPr indent="0" marL="0">
              <a:buNone/>
            </a:pPr>
            <a:r>
              <a:rPr lang="en-US" sz="1100" b="1" i="1" dirty="0">
                <a:solidFill>
                  <a:srgbClr val="DC2626"/>
                </a:solidFill>
                <a:latin typeface="Poppins" pitchFamily="34" charset="0"/>
                <a:ea typeface="Poppins" pitchFamily="34" charset="-122"/>
                <a:cs typeface="Poppins" pitchFamily="34" charset="-120"/>
              </a:rPr>
              <a:t>No grouping. No context. Every alert opens cold.</a:t>
            </a:r>
            <a:endParaRPr lang="en-US" sz="1100" dirty="0"/>
          </a:p>
        </p:txBody>
      </p:sp>
      <p:sp>
        <p:nvSpPr>
          <p:cNvPr id="44" name="Shape 42"/>
          <p:cNvSpPr/>
          <p:nvPr/>
        </p:nvSpPr>
        <p:spPr>
          <a:xfrm>
            <a:off x="6126480" y="1325880"/>
            <a:ext cx="5303520" cy="1051560"/>
          </a:xfrm>
          <a:prstGeom prst="roundRect">
            <a:avLst>
              <a:gd name="adj" fmla="val 6957"/>
            </a:avLst>
          </a:prstGeom>
          <a:solidFill>
            <a:srgbClr val="FFFFFF"/>
          </a:solidFill>
          <a:ln w="6350">
            <a:solidFill>
              <a:srgbClr val="EBE8F0"/>
            </a:solidFill>
            <a:prstDash val="solid"/>
          </a:ln>
        </p:spPr>
      </p:sp>
      <p:sp>
        <p:nvSpPr>
          <p:cNvPr id="45" name="Text 43"/>
          <p:cNvSpPr/>
          <p:nvPr/>
        </p:nvSpPr>
        <p:spPr>
          <a:xfrm>
            <a:off x="6126480" y="1399032"/>
            <a:ext cx="5303520" cy="594360"/>
          </a:xfrm>
          <a:prstGeom prst="rect">
            <a:avLst/>
          </a:prstGeom>
          <a:noFill/>
          <a:ln/>
        </p:spPr>
        <p:txBody>
          <a:bodyPr wrap="square" rtlCol="0" anchor="ctr"/>
          <a:lstStyle/>
          <a:p>
            <a:pPr algn="ctr" indent="0" marL="0">
              <a:buNone/>
            </a:pPr>
            <a:r>
              <a:rPr lang="en-US" sz="6000" b="1" dirty="0">
                <a:solidFill>
                  <a:srgbClr val="DC2626"/>
                </a:solidFill>
                <a:latin typeface="Poppins" pitchFamily="34" charset="0"/>
                <a:ea typeface="Poppins" pitchFamily="34" charset="-122"/>
                <a:cs typeface="Poppins" pitchFamily="34" charset="-120"/>
              </a:rPr>
              <a:t>47</a:t>
            </a:r>
            <a:endParaRPr lang="en-US" sz="6000" dirty="0"/>
          </a:p>
        </p:txBody>
      </p:sp>
      <p:sp>
        <p:nvSpPr>
          <p:cNvPr id="46" name="Text 44"/>
          <p:cNvSpPr/>
          <p:nvPr/>
        </p:nvSpPr>
        <p:spPr>
          <a:xfrm>
            <a:off x="6126480" y="2039112"/>
            <a:ext cx="5303520" cy="274320"/>
          </a:xfrm>
          <a:prstGeom prst="rect">
            <a:avLst/>
          </a:prstGeom>
          <a:noFill/>
          <a:ln/>
        </p:spPr>
        <p:txBody>
          <a:bodyPr wrap="square" rtlCol="0" anchor="ctr"/>
          <a:lstStyle/>
          <a:p>
            <a:pPr algn="ctr" indent="0" marL="0">
              <a:buNone/>
            </a:pPr>
            <a:r>
              <a:rPr lang="en-US" sz="1100" dirty="0">
                <a:solidFill>
                  <a:srgbClr val="666666"/>
                </a:solidFill>
                <a:latin typeface="Poppins" pitchFamily="34" charset="0"/>
                <a:ea typeface="Poppins" pitchFamily="34" charset="-122"/>
                <a:cs typeface="Poppins" pitchFamily="34" charset="-120"/>
              </a:rPr>
              <a:t>unreviewed alerts</a:t>
            </a:r>
            <a:endParaRPr lang="en-US" sz="1100" dirty="0"/>
          </a:p>
        </p:txBody>
      </p:sp>
      <p:sp>
        <p:nvSpPr>
          <p:cNvPr id="47" name="Shape 45"/>
          <p:cNvSpPr/>
          <p:nvPr/>
        </p:nvSpPr>
        <p:spPr>
          <a:xfrm>
            <a:off x="6126480" y="2468880"/>
            <a:ext cx="5303520" cy="1051560"/>
          </a:xfrm>
          <a:prstGeom prst="roundRect">
            <a:avLst>
              <a:gd name="adj" fmla="val 6957"/>
            </a:avLst>
          </a:prstGeom>
          <a:solidFill>
            <a:srgbClr val="FFFFFF"/>
          </a:solidFill>
          <a:ln w="6350">
            <a:solidFill>
              <a:srgbClr val="EBE8F0"/>
            </a:solidFill>
            <a:prstDash val="solid"/>
          </a:ln>
        </p:spPr>
      </p:sp>
      <p:sp>
        <p:nvSpPr>
          <p:cNvPr id="48" name="Text 46"/>
          <p:cNvSpPr/>
          <p:nvPr/>
        </p:nvSpPr>
        <p:spPr>
          <a:xfrm>
            <a:off x="6126480" y="2542032"/>
            <a:ext cx="5303520" cy="594360"/>
          </a:xfrm>
          <a:prstGeom prst="rect">
            <a:avLst/>
          </a:prstGeom>
          <a:noFill/>
          <a:ln/>
        </p:spPr>
        <p:txBody>
          <a:bodyPr wrap="square" rtlCol="0" anchor="ctr"/>
          <a:lstStyle/>
          <a:p>
            <a:pPr algn="ctr" indent="0" marL="0">
              <a:buNone/>
            </a:pPr>
            <a:r>
              <a:rPr lang="en-US" sz="4200" b="1" dirty="0">
                <a:solidFill>
                  <a:srgbClr val="D97706"/>
                </a:solidFill>
                <a:latin typeface="Poppins" pitchFamily="34" charset="0"/>
                <a:ea typeface="Poppins" pitchFamily="34" charset="-122"/>
                <a:cs typeface="Poppins" pitchFamily="34" charset="-120"/>
              </a:rPr>
              <a:t>40–60 min</a:t>
            </a:r>
            <a:endParaRPr lang="en-US" sz="4200" dirty="0"/>
          </a:p>
        </p:txBody>
      </p:sp>
      <p:sp>
        <p:nvSpPr>
          <p:cNvPr id="49" name="Text 47"/>
          <p:cNvSpPr/>
          <p:nvPr/>
        </p:nvSpPr>
        <p:spPr>
          <a:xfrm>
            <a:off x="6126480" y="3182112"/>
            <a:ext cx="5303520" cy="274320"/>
          </a:xfrm>
          <a:prstGeom prst="rect">
            <a:avLst/>
          </a:prstGeom>
          <a:noFill/>
          <a:ln/>
        </p:spPr>
        <p:txBody>
          <a:bodyPr wrap="square" rtlCol="0" anchor="ctr"/>
          <a:lstStyle/>
          <a:p>
            <a:pPr algn="ctr" indent="0" marL="0">
              <a:buNone/>
            </a:pPr>
            <a:r>
              <a:rPr lang="en-US" sz="1100" dirty="0">
                <a:solidFill>
                  <a:srgbClr val="666666"/>
                </a:solidFill>
                <a:latin typeface="Poppins" pitchFamily="34" charset="0"/>
                <a:ea typeface="Poppins" pitchFamily="34" charset="-122"/>
                <a:cs typeface="Poppins" pitchFamily="34" charset="-120"/>
              </a:rPr>
              <a:t>per investigation</a:t>
            </a:r>
            <a:endParaRPr lang="en-US" sz="1100" dirty="0"/>
          </a:p>
        </p:txBody>
      </p:sp>
      <p:sp>
        <p:nvSpPr>
          <p:cNvPr id="50" name="Shape 48"/>
          <p:cNvSpPr/>
          <p:nvPr/>
        </p:nvSpPr>
        <p:spPr>
          <a:xfrm>
            <a:off x="6126480" y="3611880"/>
            <a:ext cx="5303520" cy="1051560"/>
          </a:xfrm>
          <a:prstGeom prst="roundRect">
            <a:avLst>
              <a:gd name="adj" fmla="val 6957"/>
            </a:avLst>
          </a:prstGeom>
          <a:solidFill>
            <a:srgbClr val="FFFFFF"/>
          </a:solidFill>
          <a:ln w="6350">
            <a:solidFill>
              <a:srgbClr val="EBE8F0"/>
            </a:solidFill>
            <a:prstDash val="solid"/>
          </a:ln>
        </p:spPr>
      </p:sp>
      <p:sp>
        <p:nvSpPr>
          <p:cNvPr id="51" name="Text 49"/>
          <p:cNvSpPr/>
          <p:nvPr/>
        </p:nvSpPr>
        <p:spPr>
          <a:xfrm>
            <a:off x="6126480" y="3685032"/>
            <a:ext cx="5303520" cy="594360"/>
          </a:xfrm>
          <a:prstGeom prst="rect">
            <a:avLst/>
          </a:prstGeom>
          <a:noFill/>
          <a:ln/>
        </p:spPr>
        <p:txBody>
          <a:bodyPr wrap="square" rtlCol="0" anchor="ctr"/>
          <a:lstStyle/>
          <a:p>
            <a:pPr algn="ctr" indent="0" marL="0">
              <a:buNone/>
            </a:pPr>
            <a:r>
              <a:rPr lang="en-US" sz="4200" b="1" dirty="0">
                <a:solidFill>
                  <a:srgbClr val="7C3AED"/>
                </a:solidFill>
                <a:latin typeface="Poppins" pitchFamily="34" charset="0"/>
                <a:ea typeface="Poppins" pitchFamily="34" charset="-122"/>
                <a:cs typeface="Poppins" pitchFamily="34" charset="-120"/>
              </a:rPr>
              <a:t>~35 hrs</a:t>
            </a:r>
            <a:endParaRPr lang="en-US" sz="4200" dirty="0"/>
          </a:p>
        </p:txBody>
      </p:sp>
      <p:sp>
        <p:nvSpPr>
          <p:cNvPr id="52" name="Text 50"/>
          <p:cNvSpPr/>
          <p:nvPr/>
        </p:nvSpPr>
        <p:spPr>
          <a:xfrm>
            <a:off x="6126480" y="4325112"/>
            <a:ext cx="5303520" cy="274320"/>
          </a:xfrm>
          <a:prstGeom prst="rect">
            <a:avLst/>
          </a:prstGeom>
          <a:noFill/>
          <a:ln/>
        </p:spPr>
        <p:txBody>
          <a:bodyPr wrap="square" rtlCol="0" anchor="ctr"/>
          <a:lstStyle/>
          <a:p>
            <a:pPr algn="ctr" indent="0" marL="0">
              <a:buNone/>
            </a:pPr>
            <a:r>
              <a:rPr lang="en-US" sz="1100" dirty="0">
                <a:solidFill>
                  <a:srgbClr val="666666"/>
                </a:solidFill>
                <a:latin typeface="Poppins" pitchFamily="34" charset="0"/>
                <a:ea typeface="Poppins" pitchFamily="34" charset="-122"/>
                <a:cs typeface="Poppins" pitchFamily="34" charset="-120"/>
              </a:rPr>
              <a:t>to clear this queue</a:t>
            </a:r>
            <a:endParaRPr lang="en-US" sz="1100" dirty="0"/>
          </a:p>
        </p:txBody>
      </p:sp>
      <p:sp>
        <p:nvSpPr>
          <p:cNvPr id="53" name="Shape 51"/>
          <p:cNvSpPr/>
          <p:nvPr/>
        </p:nvSpPr>
        <p:spPr>
          <a:xfrm>
            <a:off x="6126480" y="4754880"/>
            <a:ext cx="5303520" cy="457200"/>
          </a:xfrm>
          <a:prstGeom prst="roundRect">
            <a:avLst>
              <a:gd name="adj" fmla="val 16000"/>
            </a:avLst>
          </a:prstGeom>
          <a:solidFill>
            <a:srgbClr val="EBE8F0"/>
          </a:solidFill>
          <a:ln w="6350">
            <a:solidFill>
              <a:srgbClr val="EBE8F0"/>
            </a:solidFill>
            <a:prstDash val="solid"/>
          </a:ln>
        </p:spPr>
      </p:sp>
      <p:sp>
        <p:nvSpPr>
          <p:cNvPr id="54" name="Text 52"/>
          <p:cNvSpPr/>
          <p:nvPr/>
        </p:nvSpPr>
        <p:spPr>
          <a:xfrm>
            <a:off x="6126480" y="4754880"/>
            <a:ext cx="5303520" cy="457200"/>
          </a:xfrm>
          <a:prstGeom prst="rect">
            <a:avLst/>
          </a:prstGeom>
          <a:noFill/>
          <a:ln/>
        </p:spPr>
        <p:txBody>
          <a:bodyPr wrap="square" rtlCol="0" anchor="ctr"/>
          <a:lstStyle/>
          <a:p>
            <a:pPr algn="ctr" indent="0" marL="0">
              <a:buNone/>
            </a:pPr>
            <a:r>
              <a:rPr lang="en-US" sz="1300" b="1" dirty="0">
                <a:solidFill>
                  <a:srgbClr val="1A1A2E"/>
                </a:solidFill>
                <a:latin typeface="Poppins" pitchFamily="34" charset="0"/>
                <a:ea typeface="Poppins" pitchFamily="34" charset="-122"/>
                <a:cs typeface="Poppins" pitchFamily="34" charset="-120"/>
              </a:rPr>
              <a:t>1 analyst. Fixed capacity.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THE SCALABILITY GAP</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Detection scales. Investigation </a:t>
            </a:r>
            <a:pPr indent="0" marL="0">
              <a:buNone/>
            </a:pPr>
            <a:r>
              <a:rPr lang="en-US" sz="3800" b="1" dirty="0">
                <a:solidFill>
                  <a:srgbClr val="DC2626"/>
                </a:solidFill>
                <a:latin typeface="Poppins" pitchFamily="34" charset="0"/>
                <a:ea typeface="Poppins" pitchFamily="34" charset="-122"/>
                <a:cs typeface="Poppins" pitchFamily="34" charset="-120"/>
              </a:rPr>
              <a:t>doesn't.</a:t>
            </a:r>
            <a:endParaRPr lang="en-US" sz="3800" dirty="0"/>
          </a:p>
        </p:txBody>
      </p:sp>
      <p:sp>
        <p:nvSpPr>
          <p:cNvPr id="4" name="Shape 2"/>
          <p:cNvSpPr/>
          <p:nvPr/>
        </p:nvSpPr>
        <p:spPr>
          <a:xfrm>
            <a:off x="1065276" y="1371600"/>
            <a:ext cx="2377440" cy="1005840"/>
          </a:xfrm>
          <a:prstGeom prst="roundRect">
            <a:avLst>
              <a:gd name="adj" fmla="val 7273"/>
            </a:avLst>
          </a:prstGeom>
          <a:solidFill>
            <a:srgbClr val="FFFFFF"/>
          </a:solidFill>
          <a:ln w="6350">
            <a:solidFill>
              <a:srgbClr val="EBE8F0"/>
            </a:solidFill>
            <a:prstDash val="solid"/>
          </a:ln>
        </p:spPr>
      </p:sp>
      <p:sp>
        <p:nvSpPr>
          <p:cNvPr id="5" name="Shape 3"/>
          <p:cNvSpPr/>
          <p:nvPr/>
        </p:nvSpPr>
        <p:spPr>
          <a:xfrm>
            <a:off x="2025396" y="1481328"/>
            <a:ext cx="457200" cy="457200"/>
          </a:xfrm>
          <a:prstGeom prst="ellipse">
            <a:avLst/>
          </a:prstGeom>
          <a:solidFill>
            <a:srgbClr val="7C3AED"/>
          </a:solidFill>
          <a:ln/>
        </p:spPr>
      </p:sp>
      <p:sp>
        <p:nvSpPr>
          <p:cNvPr id="6" name="Shape 4"/>
          <p:cNvSpPr/>
          <p:nvPr/>
        </p:nvSpPr>
        <p:spPr>
          <a:xfrm>
            <a:off x="2188159" y="1701698"/>
            <a:ext cx="131674" cy="98755"/>
          </a:xfrm>
          <a:prstGeom prst="rect">
            <a:avLst/>
          </a:prstGeom>
          <a:solidFill>
            <a:srgbClr val="FFFFFF"/>
          </a:solidFill>
          <a:ln/>
        </p:spPr>
      </p:sp>
      <p:sp>
        <p:nvSpPr>
          <p:cNvPr id="7" name="Shape 5"/>
          <p:cNvSpPr/>
          <p:nvPr/>
        </p:nvSpPr>
        <p:spPr>
          <a:xfrm>
            <a:off x="2171700" y="1611173"/>
            <a:ext cx="164592" cy="90526"/>
          </a:xfrm>
          <a:prstGeom prst="triangle">
            <a:avLst/>
          </a:prstGeom>
          <a:solidFill>
            <a:srgbClr val="FFFFFF"/>
          </a:solidFill>
          <a:ln/>
        </p:spPr>
      </p:sp>
      <p:sp>
        <p:nvSpPr>
          <p:cNvPr id="8" name="Text 6"/>
          <p:cNvSpPr/>
          <p:nvPr/>
        </p:nvSpPr>
        <p:spPr>
          <a:xfrm>
            <a:off x="1065276" y="1993392"/>
            <a:ext cx="2377440" cy="320040"/>
          </a:xfrm>
          <a:prstGeom prst="rect">
            <a:avLst/>
          </a:prstGeom>
          <a:noFill/>
          <a:ln/>
        </p:spPr>
        <p:txBody>
          <a:bodyPr wrap="square" rtlCol="0" anchor="ctr"/>
          <a:lstStyle/>
          <a:p>
            <a:pPr algn="ctr" indent="0" marL="0">
              <a:buNone/>
            </a:pPr>
            <a:r>
              <a:rPr lang="en-US" sz="1600" dirty="0">
                <a:solidFill>
                  <a:srgbClr val="1A1A2E"/>
                </a:solidFill>
                <a:latin typeface="Poppins" pitchFamily="34" charset="0"/>
                <a:ea typeface="Poppins" pitchFamily="34" charset="-122"/>
                <a:cs typeface="Poppins" pitchFamily="34" charset="-120"/>
              </a:rPr>
              <a:t>Portfolio ↑</a:t>
            </a:r>
            <a:endParaRPr lang="en-US" sz="1600" dirty="0"/>
          </a:p>
        </p:txBody>
      </p:sp>
      <p:sp>
        <p:nvSpPr>
          <p:cNvPr id="9" name="Shape 7"/>
          <p:cNvSpPr/>
          <p:nvPr/>
        </p:nvSpPr>
        <p:spPr>
          <a:xfrm>
            <a:off x="3461004" y="1801368"/>
            <a:ext cx="146304" cy="146304"/>
          </a:xfrm>
          <a:prstGeom prst="rightArrow">
            <a:avLst/>
          </a:prstGeom>
          <a:solidFill>
            <a:srgbClr val="666666"/>
          </a:solidFill>
          <a:ln/>
        </p:spPr>
      </p:sp>
      <p:sp>
        <p:nvSpPr>
          <p:cNvPr id="10" name="Shape 8"/>
          <p:cNvSpPr/>
          <p:nvPr/>
        </p:nvSpPr>
        <p:spPr>
          <a:xfrm>
            <a:off x="3625596" y="1371600"/>
            <a:ext cx="2377440" cy="1005840"/>
          </a:xfrm>
          <a:prstGeom prst="roundRect">
            <a:avLst>
              <a:gd name="adj" fmla="val 7273"/>
            </a:avLst>
          </a:prstGeom>
          <a:solidFill>
            <a:srgbClr val="FFFFFF"/>
          </a:solidFill>
          <a:ln w="6350">
            <a:solidFill>
              <a:srgbClr val="EBE8F0"/>
            </a:solidFill>
            <a:prstDash val="solid"/>
          </a:ln>
        </p:spPr>
      </p:sp>
      <p:sp>
        <p:nvSpPr>
          <p:cNvPr id="11" name="Shape 9"/>
          <p:cNvSpPr/>
          <p:nvPr/>
        </p:nvSpPr>
        <p:spPr>
          <a:xfrm>
            <a:off x="4585716" y="1481328"/>
            <a:ext cx="457200" cy="457200"/>
          </a:xfrm>
          <a:prstGeom prst="ellipse">
            <a:avLst/>
          </a:prstGeom>
          <a:solidFill>
            <a:srgbClr val="D97706"/>
          </a:solidFill>
          <a:ln/>
        </p:spPr>
      </p:sp>
      <p:sp>
        <p:nvSpPr>
          <p:cNvPr id="12" name="Shape 10"/>
          <p:cNvSpPr/>
          <p:nvPr/>
        </p:nvSpPr>
        <p:spPr>
          <a:xfrm>
            <a:off x="4713732" y="1629461"/>
            <a:ext cx="201168" cy="170993"/>
          </a:xfrm>
          <a:prstGeom prst="triangle">
            <a:avLst/>
          </a:prstGeom>
          <a:solidFill>
            <a:srgbClr val="FFFFFF"/>
          </a:solidFill>
          <a:ln/>
        </p:spPr>
      </p:sp>
      <p:sp>
        <p:nvSpPr>
          <p:cNvPr id="13" name="Text 11"/>
          <p:cNvSpPr/>
          <p:nvPr/>
        </p:nvSpPr>
        <p:spPr>
          <a:xfrm>
            <a:off x="3625596" y="1993392"/>
            <a:ext cx="2377440" cy="320040"/>
          </a:xfrm>
          <a:prstGeom prst="rect">
            <a:avLst/>
          </a:prstGeom>
          <a:noFill/>
          <a:ln/>
        </p:spPr>
        <p:txBody>
          <a:bodyPr wrap="square" rtlCol="0" anchor="ctr"/>
          <a:lstStyle/>
          <a:p>
            <a:pPr algn="ctr" indent="0" marL="0">
              <a:buNone/>
            </a:pPr>
            <a:r>
              <a:rPr lang="en-US" sz="1600" dirty="0">
                <a:solidFill>
                  <a:srgbClr val="D97706"/>
                </a:solidFill>
                <a:latin typeface="Poppins" pitchFamily="34" charset="0"/>
                <a:ea typeface="Poppins" pitchFamily="34" charset="-122"/>
                <a:cs typeface="Poppins" pitchFamily="34" charset="-120"/>
              </a:rPr>
              <a:t>Alerts ↑</a:t>
            </a:r>
            <a:endParaRPr lang="en-US" sz="1600" dirty="0"/>
          </a:p>
        </p:txBody>
      </p:sp>
      <p:sp>
        <p:nvSpPr>
          <p:cNvPr id="14" name="Shape 12"/>
          <p:cNvSpPr/>
          <p:nvPr/>
        </p:nvSpPr>
        <p:spPr>
          <a:xfrm>
            <a:off x="6021324" y="1801368"/>
            <a:ext cx="146304" cy="146304"/>
          </a:xfrm>
          <a:prstGeom prst="rightArrow">
            <a:avLst/>
          </a:prstGeom>
          <a:solidFill>
            <a:srgbClr val="666666"/>
          </a:solidFill>
          <a:ln/>
        </p:spPr>
      </p:sp>
      <p:sp>
        <p:nvSpPr>
          <p:cNvPr id="15" name="Shape 13"/>
          <p:cNvSpPr/>
          <p:nvPr/>
        </p:nvSpPr>
        <p:spPr>
          <a:xfrm>
            <a:off x="6185916" y="1371600"/>
            <a:ext cx="2377440" cy="1005840"/>
          </a:xfrm>
          <a:prstGeom prst="roundRect">
            <a:avLst>
              <a:gd name="adj" fmla="val 7273"/>
            </a:avLst>
          </a:prstGeom>
          <a:solidFill>
            <a:srgbClr val="FFFFFF"/>
          </a:solidFill>
          <a:ln w="6350">
            <a:solidFill>
              <a:srgbClr val="EBE8F0"/>
            </a:solidFill>
            <a:prstDash val="solid"/>
          </a:ln>
        </p:spPr>
      </p:sp>
      <p:sp>
        <p:nvSpPr>
          <p:cNvPr id="16" name="Shape 14"/>
          <p:cNvSpPr/>
          <p:nvPr/>
        </p:nvSpPr>
        <p:spPr>
          <a:xfrm>
            <a:off x="7146036" y="1481328"/>
            <a:ext cx="457200" cy="457200"/>
          </a:xfrm>
          <a:prstGeom prst="ellipse">
            <a:avLst/>
          </a:prstGeom>
          <a:solidFill>
            <a:srgbClr val="7C3AED"/>
          </a:solidFill>
          <a:ln/>
        </p:spPr>
      </p:sp>
      <p:sp>
        <p:nvSpPr>
          <p:cNvPr id="17" name="Shape 15"/>
          <p:cNvSpPr/>
          <p:nvPr/>
        </p:nvSpPr>
        <p:spPr>
          <a:xfrm>
            <a:off x="7310628" y="1618488"/>
            <a:ext cx="128016" cy="182880"/>
          </a:xfrm>
          <a:prstGeom prst="rect">
            <a:avLst>
              <a:gd name="adj" fmla="val 7143"/>
            </a:avLst>
          </a:prstGeom>
          <a:solidFill>
            <a:srgbClr val="FFFFFF"/>
          </a:solidFill>
          <a:ln/>
        </p:spPr>
      </p:sp>
      <p:sp>
        <p:nvSpPr>
          <p:cNvPr id="18" name="Text 16"/>
          <p:cNvSpPr/>
          <p:nvPr/>
        </p:nvSpPr>
        <p:spPr>
          <a:xfrm>
            <a:off x="6185916" y="1993392"/>
            <a:ext cx="2377440" cy="320040"/>
          </a:xfrm>
          <a:prstGeom prst="rect">
            <a:avLst/>
          </a:prstGeom>
          <a:noFill/>
          <a:ln/>
        </p:spPr>
        <p:txBody>
          <a:bodyPr wrap="square" rtlCol="0" anchor="ctr"/>
          <a:lstStyle/>
          <a:p>
            <a:pPr algn="ctr" indent="0" marL="0">
              <a:buNone/>
            </a:pPr>
            <a:r>
              <a:rPr lang="en-US" sz="1600" dirty="0">
                <a:solidFill>
                  <a:srgbClr val="1A1A2E"/>
                </a:solidFill>
                <a:latin typeface="Poppins" pitchFamily="34" charset="0"/>
                <a:ea typeface="Poppins" pitchFamily="34" charset="-122"/>
                <a:cs typeface="Poppins" pitchFamily="34" charset="-120"/>
              </a:rPr>
              <a:t>Investigation ×</a:t>
            </a:r>
            <a:endParaRPr lang="en-US" sz="1600" dirty="0"/>
          </a:p>
        </p:txBody>
      </p:sp>
      <p:sp>
        <p:nvSpPr>
          <p:cNvPr id="19" name="Shape 17"/>
          <p:cNvSpPr/>
          <p:nvPr/>
        </p:nvSpPr>
        <p:spPr>
          <a:xfrm>
            <a:off x="8581644" y="1801368"/>
            <a:ext cx="146304" cy="146304"/>
          </a:xfrm>
          <a:prstGeom prst="rightArrow">
            <a:avLst/>
          </a:prstGeom>
          <a:solidFill>
            <a:srgbClr val="666666"/>
          </a:solidFill>
          <a:ln/>
        </p:spPr>
      </p:sp>
      <p:sp>
        <p:nvSpPr>
          <p:cNvPr id="20" name="Shape 18"/>
          <p:cNvSpPr/>
          <p:nvPr/>
        </p:nvSpPr>
        <p:spPr>
          <a:xfrm>
            <a:off x="8746236" y="1371600"/>
            <a:ext cx="2377440" cy="1005840"/>
          </a:xfrm>
          <a:prstGeom prst="roundRect">
            <a:avLst>
              <a:gd name="adj" fmla="val 7273"/>
            </a:avLst>
          </a:prstGeom>
          <a:solidFill>
            <a:srgbClr val="FDE8E8"/>
          </a:solidFill>
          <a:ln w="6350">
            <a:solidFill>
              <a:srgbClr val="DC2626"/>
            </a:solidFill>
            <a:prstDash val="solid"/>
          </a:ln>
        </p:spPr>
      </p:sp>
      <p:sp>
        <p:nvSpPr>
          <p:cNvPr id="21" name="Shape 19"/>
          <p:cNvSpPr/>
          <p:nvPr/>
        </p:nvSpPr>
        <p:spPr>
          <a:xfrm>
            <a:off x="9706356" y="1481328"/>
            <a:ext cx="457200" cy="457200"/>
          </a:xfrm>
          <a:prstGeom prst="ellipse">
            <a:avLst/>
          </a:prstGeom>
          <a:solidFill>
            <a:srgbClr val="DC2626"/>
          </a:solidFill>
          <a:ln/>
        </p:spPr>
      </p:sp>
      <p:sp>
        <p:nvSpPr>
          <p:cNvPr id="22" name="Shape 20"/>
          <p:cNvSpPr/>
          <p:nvPr/>
        </p:nvSpPr>
        <p:spPr>
          <a:xfrm>
            <a:off x="9875520" y="1591056"/>
            <a:ext cx="118872" cy="118872"/>
          </a:xfrm>
          <a:prstGeom prst="ellipse">
            <a:avLst/>
          </a:prstGeom>
          <a:solidFill>
            <a:srgbClr val="FFFFFF"/>
          </a:solidFill>
          <a:ln/>
        </p:spPr>
      </p:sp>
      <p:sp>
        <p:nvSpPr>
          <p:cNvPr id="23" name="Shape 21"/>
          <p:cNvSpPr/>
          <p:nvPr/>
        </p:nvSpPr>
        <p:spPr>
          <a:xfrm>
            <a:off x="9839858" y="1727759"/>
            <a:ext cx="190195" cy="118872"/>
          </a:xfrm>
          <a:prstGeom prst="ellipse">
            <a:avLst/>
          </a:prstGeom>
          <a:solidFill>
            <a:srgbClr val="FFFFFF"/>
          </a:solidFill>
          <a:ln/>
        </p:spPr>
      </p:sp>
      <p:sp>
        <p:nvSpPr>
          <p:cNvPr id="24" name="Text 22"/>
          <p:cNvSpPr/>
          <p:nvPr/>
        </p:nvSpPr>
        <p:spPr>
          <a:xfrm>
            <a:off x="8746236" y="1993392"/>
            <a:ext cx="2377440" cy="320040"/>
          </a:xfrm>
          <a:prstGeom prst="rect">
            <a:avLst/>
          </a:prstGeom>
          <a:noFill/>
          <a:ln/>
        </p:spPr>
        <p:txBody>
          <a:bodyPr wrap="square" rtlCol="0" anchor="ctr"/>
          <a:lstStyle/>
          <a:p>
            <a:pPr algn="ctr" indent="0" marL="0">
              <a:buNone/>
            </a:pPr>
            <a:r>
              <a:rPr lang="en-US" sz="1600" b="1" dirty="0">
                <a:solidFill>
                  <a:srgbClr val="DC2626"/>
                </a:solidFill>
                <a:latin typeface="Poppins" pitchFamily="34" charset="0"/>
                <a:ea typeface="Poppins" pitchFamily="34" charset="-122"/>
                <a:cs typeface="Poppins" pitchFamily="34" charset="-120"/>
              </a:rPr>
              <a:t>Capacity FIXED</a:t>
            </a:r>
            <a:endParaRPr lang="en-US" sz="1600" dirty="0"/>
          </a:p>
        </p:txBody>
      </p:sp>
      <p:sp>
        <p:nvSpPr>
          <p:cNvPr id="25" name="Shape 23"/>
          <p:cNvSpPr/>
          <p:nvPr/>
        </p:nvSpPr>
        <p:spPr>
          <a:xfrm>
            <a:off x="502920" y="2606040"/>
            <a:ext cx="11183112" cy="685800"/>
          </a:xfrm>
          <a:prstGeom prst="roundRect">
            <a:avLst>
              <a:gd name="adj" fmla="val 10667"/>
            </a:avLst>
          </a:prstGeom>
          <a:solidFill>
            <a:srgbClr val="FFFFFF"/>
          </a:solidFill>
          <a:ln w="6350">
            <a:solidFill>
              <a:srgbClr val="EBE8F0"/>
            </a:solidFill>
            <a:prstDash val="solid"/>
          </a:ln>
        </p:spPr>
      </p:sp>
      <p:sp>
        <p:nvSpPr>
          <p:cNvPr id="26" name="Shape 24"/>
          <p:cNvSpPr/>
          <p:nvPr/>
        </p:nvSpPr>
        <p:spPr>
          <a:xfrm>
            <a:off x="502920" y="2606040"/>
            <a:ext cx="64008" cy="685800"/>
          </a:xfrm>
          <a:prstGeom prst="rect">
            <a:avLst/>
          </a:prstGeom>
          <a:solidFill>
            <a:srgbClr val="7C3AED"/>
          </a:solidFill>
          <a:ln/>
        </p:spPr>
      </p:sp>
      <p:sp>
        <p:nvSpPr>
          <p:cNvPr id="27" name="Text 25"/>
          <p:cNvSpPr/>
          <p:nvPr/>
        </p:nvSpPr>
        <p:spPr>
          <a:xfrm>
            <a:off x="685800" y="2606040"/>
            <a:ext cx="10817352" cy="685800"/>
          </a:xfrm>
          <a:prstGeom prst="rect">
            <a:avLst/>
          </a:prstGeom>
          <a:noFill/>
          <a:ln/>
        </p:spPr>
        <p:txBody>
          <a:bodyPr wrap="square" rtlCol="0" anchor="ctr"/>
          <a:lstStyle/>
          <a:p>
            <a:pPr indent="0" marL="0">
              <a:buNone/>
            </a:pPr>
            <a:r>
              <a:rPr lang="en-US" sz="1300" dirty="0">
                <a:solidFill>
                  <a:srgbClr val="666666"/>
                </a:solidFill>
                <a:latin typeface="Poppins" pitchFamily="34" charset="0"/>
                <a:ea typeface="Poppins" pitchFamily="34" charset="-122"/>
                <a:cs typeface="Poppins" pitchFamily="34" charset="-120"/>
              </a:rPr>
              <a:t>Every true positive becomes a unit of work the customer </a:t>
            </a:r>
            <a:pPr indent="0" marL="0">
              <a:buNone/>
            </a:pPr>
            <a:r>
              <a:rPr lang="en-US" sz="1300" b="1" dirty="0">
                <a:solidFill>
                  <a:srgbClr val="7C3AED"/>
                </a:solidFill>
                <a:latin typeface="Poppins" pitchFamily="34" charset="0"/>
                <a:ea typeface="Poppins" pitchFamily="34" charset="-122"/>
                <a:cs typeface="Poppins" pitchFamily="34" charset="-120"/>
              </a:rPr>
              <a:t>cannot absorb at scale</a:t>
            </a:r>
            <a:pPr indent="0" marL="0">
              <a:buNone/>
            </a:pPr>
            <a:r>
              <a:rPr lang="en-US" sz="1300" dirty="0">
                <a:solidFill>
                  <a:srgbClr val="666666"/>
                </a:solidFill>
                <a:latin typeface="Poppins" pitchFamily="34" charset="0"/>
                <a:ea typeface="Poppins" pitchFamily="34" charset="-122"/>
                <a:cs typeface="Poppins" pitchFamily="34" charset="-120"/>
              </a:rPr>
              <a:t>. The better G2RS works, the worse the problem gets.</a:t>
            </a:r>
            <a:endParaRPr lang="en-US" sz="1300" dirty="0"/>
          </a:p>
        </p:txBody>
      </p:sp>
      <p:sp>
        <p:nvSpPr>
          <p:cNvPr id="28" name="Shape 26"/>
          <p:cNvSpPr/>
          <p:nvPr/>
        </p:nvSpPr>
        <p:spPr>
          <a:xfrm>
            <a:off x="502920" y="3429000"/>
            <a:ext cx="5477256" cy="1097280"/>
          </a:xfrm>
          <a:prstGeom prst="roundRect">
            <a:avLst>
              <a:gd name="adj" fmla="val 6667"/>
            </a:avLst>
          </a:prstGeom>
          <a:solidFill>
            <a:srgbClr val="FDE8E8"/>
          </a:solidFill>
          <a:ln w="6350">
            <a:solidFill>
              <a:srgbClr val="EBE8F0"/>
            </a:solidFill>
            <a:prstDash val="solid"/>
          </a:ln>
        </p:spPr>
      </p:sp>
      <p:sp>
        <p:nvSpPr>
          <p:cNvPr id="29" name="Shape 27"/>
          <p:cNvSpPr/>
          <p:nvPr/>
        </p:nvSpPr>
        <p:spPr>
          <a:xfrm>
            <a:off x="685800" y="3566160"/>
            <a:ext cx="457200" cy="457200"/>
          </a:xfrm>
          <a:prstGeom prst="ellipse">
            <a:avLst/>
          </a:prstGeom>
          <a:solidFill>
            <a:srgbClr val="DC2626"/>
          </a:solidFill>
          <a:ln/>
        </p:spPr>
      </p:sp>
      <p:sp>
        <p:nvSpPr>
          <p:cNvPr id="30" name="Shape 28"/>
          <p:cNvSpPr/>
          <p:nvPr/>
        </p:nvSpPr>
        <p:spPr>
          <a:xfrm>
            <a:off x="813816" y="3714293"/>
            <a:ext cx="201168" cy="170993"/>
          </a:xfrm>
          <a:prstGeom prst="triangle">
            <a:avLst/>
          </a:prstGeom>
          <a:solidFill>
            <a:srgbClr val="FFFFFF"/>
          </a:solidFill>
          <a:ln/>
        </p:spPr>
      </p:sp>
      <p:sp>
        <p:nvSpPr>
          <p:cNvPr id="31" name="Text 29"/>
          <p:cNvSpPr/>
          <p:nvPr/>
        </p:nvSpPr>
        <p:spPr>
          <a:xfrm>
            <a:off x="1234440" y="3566160"/>
            <a:ext cx="4562856" cy="228600"/>
          </a:xfrm>
          <a:prstGeom prst="rect">
            <a:avLst/>
          </a:prstGeom>
          <a:noFill/>
          <a:ln/>
        </p:spPr>
        <p:txBody>
          <a:bodyPr wrap="square" rtlCol="0" anchor="ctr"/>
          <a:lstStyle/>
          <a:p>
            <a:pPr indent="0" marL="0">
              <a:buNone/>
            </a:pPr>
            <a:r>
              <a:rPr lang="en-US" sz="1300" b="1" dirty="0">
                <a:solidFill>
                  <a:srgbClr val="DC2626"/>
                </a:solidFill>
                <a:latin typeface="Poppins" pitchFamily="34" charset="0"/>
                <a:ea typeface="Poppins" pitchFamily="34" charset="-122"/>
                <a:cs typeface="Poppins" pitchFamily="34" charset="-120"/>
              </a:rPr>
              <a:t>SLA breach risk</a:t>
            </a:r>
            <a:endParaRPr lang="en-US" sz="1300" dirty="0"/>
          </a:p>
        </p:txBody>
      </p:sp>
      <p:sp>
        <p:nvSpPr>
          <p:cNvPr id="32" name="Text 30"/>
          <p:cNvSpPr/>
          <p:nvPr/>
        </p:nvSpPr>
        <p:spPr>
          <a:xfrm>
            <a:off x="1234440" y="3840480"/>
            <a:ext cx="4562856" cy="59436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Existing customers breach 24–48h response SLAs as alert queues overflow</a:t>
            </a:r>
            <a:endParaRPr lang="en-US" sz="1100" dirty="0"/>
          </a:p>
        </p:txBody>
      </p:sp>
      <p:sp>
        <p:nvSpPr>
          <p:cNvPr id="33" name="Shape 31"/>
          <p:cNvSpPr/>
          <p:nvPr/>
        </p:nvSpPr>
        <p:spPr>
          <a:xfrm>
            <a:off x="6208776" y="3429000"/>
            <a:ext cx="5477256" cy="1097280"/>
          </a:xfrm>
          <a:prstGeom prst="roundRect">
            <a:avLst>
              <a:gd name="adj" fmla="val 6667"/>
            </a:avLst>
          </a:prstGeom>
          <a:solidFill>
            <a:srgbClr val="FEF3C7"/>
          </a:solidFill>
          <a:ln w="6350">
            <a:solidFill>
              <a:srgbClr val="EBE8F0"/>
            </a:solidFill>
            <a:prstDash val="solid"/>
          </a:ln>
        </p:spPr>
      </p:sp>
      <p:sp>
        <p:nvSpPr>
          <p:cNvPr id="34" name="Shape 32"/>
          <p:cNvSpPr/>
          <p:nvPr/>
        </p:nvSpPr>
        <p:spPr>
          <a:xfrm>
            <a:off x="6391656" y="3566160"/>
            <a:ext cx="457200" cy="457200"/>
          </a:xfrm>
          <a:prstGeom prst="ellipse">
            <a:avLst/>
          </a:prstGeom>
          <a:solidFill>
            <a:srgbClr val="D97706"/>
          </a:solidFill>
          <a:ln/>
        </p:spPr>
      </p:sp>
      <p:sp>
        <p:nvSpPr>
          <p:cNvPr id="35" name="Shape 33"/>
          <p:cNvSpPr/>
          <p:nvPr/>
        </p:nvSpPr>
        <p:spPr>
          <a:xfrm>
            <a:off x="6591452" y="3712464"/>
            <a:ext cx="57607" cy="123444"/>
          </a:xfrm>
          <a:prstGeom prst="rect">
            <a:avLst/>
          </a:prstGeom>
          <a:solidFill>
            <a:srgbClr val="FFFFFF"/>
          </a:solidFill>
          <a:ln/>
        </p:spPr>
      </p:sp>
      <p:sp>
        <p:nvSpPr>
          <p:cNvPr id="36" name="Shape 34"/>
          <p:cNvSpPr/>
          <p:nvPr/>
        </p:nvSpPr>
        <p:spPr>
          <a:xfrm rot="10800000">
            <a:off x="6537960" y="3819449"/>
            <a:ext cx="164592" cy="74066"/>
          </a:xfrm>
          <a:prstGeom prst="triangle">
            <a:avLst/>
          </a:prstGeom>
          <a:solidFill>
            <a:srgbClr val="FFFFFF"/>
          </a:solidFill>
          <a:ln/>
        </p:spPr>
      </p:sp>
      <p:sp>
        <p:nvSpPr>
          <p:cNvPr id="37" name="Text 35"/>
          <p:cNvSpPr/>
          <p:nvPr/>
        </p:nvSpPr>
        <p:spPr>
          <a:xfrm>
            <a:off x="6940296" y="3566160"/>
            <a:ext cx="4562856" cy="228600"/>
          </a:xfrm>
          <a:prstGeom prst="rect">
            <a:avLst/>
          </a:prstGeom>
          <a:noFill/>
          <a:ln/>
        </p:spPr>
        <p:txBody>
          <a:bodyPr wrap="square" rtlCol="0" anchor="ctr"/>
          <a:lstStyle/>
          <a:p>
            <a:pPr indent="0" marL="0">
              <a:buNone/>
            </a:pPr>
            <a:r>
              <a:rPr lang="en-US" sz="1300" b="1" dirty="0">
                <a:solidFill>
                  <a:srgbClr val="D97706"/>
                </a:solidFill>
                <a:latin typeface="Poppins" pitchFamily="34" charset="0"/>
                <a:ea typeface="Poppins" pitchFamily="34" charset="-122"/>
                <a:cs typeface="Poppins" pitchFamily="34" charset="-120"/>
              </a:rPr>
              <a:t>Demand suppression</a:t>
            </a:r>
            <a:endParaRPr lang="en-US" sz="1300" dirty="0"/>
          </a:p>
        </p:txBody>
      </p:sp>
      <p:sp>
        <p:nvSpPr>
          <p:cNvPr id="38" name="Text 36"/>
          <p:cNvSpPr/>
          <p:nvPr/>
        </p:nvSpPr>
        <p:spPr>
          <a:xfrm>
            <a:off x="6940296" y="3840480"/>
            <a:ext cx="4562856" cy="59436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Customers proactively cap their own portfolio size — they won't onboard more merchants if they can't investigate the alerts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THE ANALYST'S DAY</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One alert. </a:t>
            </a:r>
            <a:pPr indent="0" marL="0">
              <a:buNone/>
            </a:pPr>
            <a:r>
              <a:rPr lang="en-US" sz="3800" b="1" dirty="0">
                <a:solidFill>
                  <a:srgbClr val="7C3AED"/>
                </a:solidFill>
                <a:latin typeface="Poppins" pitchFamily="34" charset="0"/>
                <a:ea typeface="Poppins" pitchFamily="34" charset="-122"/>
                <a:cs typeface="Poppins" pitchFamily="34" charset="-120"/>
              </a:rPr>
              <a:t>8 steps. </a:t>
            </a:r>
            <a:pPr indent="0" marL="0">
              <a:buNone/>
            </a:pPr>
            <a:r>
              <a:rPr lang="en-US" sz="3800" b="1" dirty="0">
                <a:solidFill>
                  <a:srgbClr val="DC2626"/>
                </a:solidFill>
                <a:latin typeface="Poppins" pitchFamily="34" charset="0"/>
                <a:ea typeface="Poppins" pitchFamily="34" charset="-122"/>
                <a:cs typeface="Poppins" pitchFamily="34" charset="-120"/>
              </a:rPr>
              <a:t>40–60 min.</a:t>
            </a:r>
            <a:endParaRPr lang="en-US" sz="3800" dirty="0"/>
          </a:p>
        </p:txBody>
      </p:sp>
      <p:sp>
        <p:nvSpPr>
          <p:cNvPr id="4" name="Shape 2"/>
          <p:cNvSpPr/>
          <p:nvPr/>
        </p:nvSpPr>
        <p:spPr>
          <a:xfrm>
            <a:off x="502920" y="1417320"/>
            <a:ext cx="502920" cy="502920"/>
          </a:xfrm>
          <a:prstGeom prst="ellipse">
            <a:avLst/>
          </a:prstGeom>
          <a:solidFill>
            <a:srgbClr val="EBE8F0"/>
          </a:solidFill>
          <a:ln w="12700">
            <a:solidFill>
              <a:srgbClr val="7C3AED"/>
            </a:solidFill>
            <a:prstDash val="solid"/>
          </a:ln>
        </p:spPr>
      </p:sp>
      <p:sp>
        <p:nvSpPr>
          <p:cNvPr id="5" name="Text 3"/>
          <p:cNvSpPr/>
          <p:nvPr/>
        </p:nvSpPr>
        <p:spPr>
          <a:xfrm>
            <a:off x="502920" y="1417320"/>
            <a:ext cx="502920" cy="502920"/>
          </a:xfrm>
          <a:prstGeom prst="rect">
            <a:avLst/>
          </a:prstGeom>
          <a:noFill/>
          <a:ln/>
        </p:spPr>
        <p:txBody>
          <a:bodyPr wrap="square" rtlCol="0" anchor="ctr"/>
          <a:lstStyle/>
          <a:p>
            <a:pPr algn="ctr" indent="0" marL="0">
              <a:buNone/>
            </a:pPr>
            <a:r>
              <a:rPr lang="en-US" sz="1300" b="1" dirty="0">
                <a:solidFill>
                  <a:srgbClr val="7C3AED"/>
                </a:solidFill>
                <a:latin typeface="Poppins" pitchFamily="34" charset="0"/>
                <a:ea typeface="Poppins" pitchFamily="34" charset="-122"/>
                <a:cs typeface="Poppins" pitchFamily="34" charset="-120"/>
              </a:rPr>
              <a:t>1</a:t>
            </a:r>
            <a:endParaRPr lang="en-US" sz="1300" dirty="0"/>
          </a:p>
        </p:txBody>
      </p:sp>
      <p:sp>
        <p:nvSpPr>
          <p:cNvPr id="6" name="Text 4"/>
          <p:cNvSpPr/>
          <p:nvPr/>
        </p:nvSpPr>
        <p:spPr>
          <a:xfrm>
            <a:off x="365760" y="1965960"/>
            <a:ext cx="777240" cy="201168"/>
          </a:xfrm>
          <a:prstGeom prst="rect">
            <a:avLst/>
          </a:prstGeom>
          <a:noFill/>
          <a:ln/>
        </p:spPr>
        <p:txBody>
          <a:bodyPr wrap="square" rtlCol="0" anchor="ctr"/>
          <a:lstStyle/>
          <a:p>
            <a:pPr algn="ctr" indent="0" marL="0">
              <a:buNone/>
            </a:pPr>
            <a:r>
              <a:rPr lang="en-US" sz="1000" b="1" dirty="0">
                <a:solidFill>
                  <a:srgbClr val="1A1A2E"/>
                </a:solidFill>
                <a:latin typeface="Poppins" pitchFamily="34" charset="0"/>
                <a:ea typeface="Poppins" pitchFamily="34" charset="-122"/>
                <a:cs typeface="Poppins" pitchFamily="34" charset="-120"/>
              </a:rPr>
              <a:t>Open</a:t>
            </a:r>
            <a:endParaRPr lang="en-US" sz="1000" dirty="0"/>
          </a:p>
        </p:txBody>
      </p:sp>
      <p:sp>
        <p:nvSpPr>
          <p:cNvPr id="7" name="Text 5"/>
          <p:cNvSpPr/>
          <p:nvPr/>
        </p:nvSpPr>
        <p:spPr>
          <a:xfrm>
            <a:off x="320040" y="2148840"/>
            <a:ext cx="868680" cy="182880"/>
          </a:xfrm>
          <a:prstGeom prst="rect">
            <a:avLst/>
          </a:prstGeom>
          <a:noFill/>
          <a:ln/>
        </p:spPr>
        <p:txBody>
          <a:bodyPr wrap="square" rtlCol="0" anchor="ctr"/>
          <a:lstStyle/>
          <a:p>
            <a:pPr algn="ctr" indent="0" marL="0">
              <a:buNone/>
            </a:pPr>
            <a:r>
              <a:rPr lang="en-US" sz="900" i="1" dirty="0">
                <a:solidFill>
                  <a:srgbClr val="666666"/>
                </a:solidFill>
                <a:latin typeface="Poppins" pitchFamily="34" charset="0"/>
                <a:ea typeface="Poppins" pitchFamily="34" charset="-122"/>
                <a:cs typeface="Poppins" pitchFamily="34" charset="-120"/>
              </a:rPr>
              <a:t>No context</a:t>
            </a:r>
            <a:endParaRPr lang="en-US" sz="900" dirty="0"/>
          </a:p>
        </p:txBody>
      </p:sp>
      <p:sp>
        <p:nvSpPr>
          <p:cNvPr id="8" name="Shape 6"/>
          <p:cNvSpPr/>
          <p:nvPr/>
        </p:nvSpPr>
        <p:spPr>
          <a:xfrm>
            <a:off x="1024128" y="1668780"/>
            <a:ext cx="986246" cy="0"/>
          </a:xfrm>
          <a:prstGeom prst="line">
            <a:avLst/>
          </a:prstGeom>
          <a:noFill/>
          <a:ln w="6350">
            <a:solidFill>
              <a:srgbClr val="EBE8F0"/>
            </a:solidFill>
            <a:prstDash val="solid"/>
          </a:ln>
        </p:spPr>
      </p:sp>
      <p:sp>
        <p:nvSpPr>
          <p:cNvPr id="9" name="Shape 7"/>
          <p:cNvSpPr/>
          <p:nvPr/>
        </p:nvSpPr>
        <p:spPr>
          <a:xfrm>
            <a:off x="2028662" y="1417320"/>
            <a:ext cx="502920" cy="502920"/>
          </a:xfrm>
          <a:prstGeom prst="ellipse">
            <a:avLst/>
          </a:prstGeom>
          <a:solidFill>
            <a:srgbClr val="EBE8F0"/>
          </a:solidFill>
          <a:ln w="12700">
            <a:solidFill>
              <a:srgbClr val="7C3AED"/>
            </a:solidFill>
            <a:prstDash val="solid"/>
          </a:ln>
        </p:spPr>
      </p:sp>
      <p:sp>
        <p:nvSpPr>
          <p:cNvPr id="10" name="Text 8"/>
          <p:cNvSpPr/>
          <p:nvPr/>
        </p:nvSpPr>
        <p:spPr>
          <a:xfrm>
            <a:off x="2028662" y="1417320"/>
            <a:ext cx="502920" cy="502920"/>
          </a:xfrm>
          <a:prstGeom prst="rect">
            <a:avLst/>
          </a:prstGeom>
          <a:noFill/>
          <a:ln/>
        </p:spPr>
        <p:txBody>
          <a:bodyPr wrap="square" rtlCol="0" anchor="ctr"/>
          <a:lstStyle/>
          <a:p>
            <a:pPr algn="ctr" indent="0" marL="0">
              <a:buNone/>
            </a:pPr>
            <a:r>
              <a:rPr lang="en-US" sz="1300" b="1" dirty="0">
                <a:solidFill>
                  <a:srgbClr val="7C3AED"/>
                </a:solidFill>
                <a:latin typeface="Poppins" pitchFamily="34" charset="0"/>
                <a:ea typeface="Poppins" pitchFamily="34" charset="-122"/>
                <a:cs typeface="Poppins" pitchFamily="34" charset="-120"/>
              </a:rPr>
              <a:t>2</a:t>
            </a:r>
            <a:endParaRPr lang="en-US" sz="1300" dirty="0"/>
          </a:p>
        </p:txBody>
      </p:sp>
      <p:sp>
        <p:nvSpPr>
          <p:cNvPr id="11" name="Text 9"/>
          <p:cNvSpPr/>
          <p:nvPr/>
        </p:nvSpPr>
        <p:spPr>
          <a:xfrm>
            <a:off x="1891502" y="1965960"/>
            <a:ext cx="777240" cy="201168"/>
          </a:xfrm>
          <a:prstGeom prst="rect">
            <a:avLst/>
          </a:prstGeom>
          <a:noFill/>
          <a:ln/>
        </p:spPr>
        <p:txBody>
          <a:bodyPr wrap="square" rtlCol="0" anchor="ctr"/>
          <a:lstStyle/>
          <a:p>
            <a:pPr algn="ctr" indent="0" marL="0">
              <a:buNone/>
            </a:pPr>
            <a:r>
              <a:rPr lang="en-US" sz="1000" b="1" dirty="0">
                <a:solidFill>
                  <a:srgbClr val="1A1A2E"/>
                </a:solidFill>
                <a:latin typeface="Poppins" pitchFamily="34" charset="0"/>
                <a:ea typeface="Poppins" pitchFamily="34" charset="-122"/>
                <a:cs typeface="Poppins" pitchFamily="34" charset="-120"/>
              </a:rPr>
              <a:t>Lookup</a:t>
            </a:r>
            <a:endParaRPr lang="en-US" sz="1000" dirty="0"/>
          </a:p>
        </p:txBody>
      </p:sp>
      <p:sp>
        <p:nvSpPr>
          <p:cNvPr id="12" name="Text 10"/>
          <p:cNvSpPr/>
          <p:nvPr/>
        </p:nvSpPr>
        <p:spPr>
          <a:xfrm>
            <a:off x="1845782" y="2148840"/>
            <a:ext cx="868680" cy="182880"/>
          </a:xfrm>
          <a:prstGeom prst="rect">
            <a:avLst/>
          </a:prstGeom>
          <a:noFill/>
          <a:ln/>
        </p:spPr>
        <p:txBody>
          <a:bodyPr wrap="square" rtlCol="0" anchor="ctr"/>
          <a:lstStyle/>
          <a:p>
            <a:pPr algn="ctr" indent="0" marL="0">
              <a:buNone/>
            </a:pPr>
            <a:r>
              <a:rPr lang="en-US" sz="900" i="1" dirty="0">
                <a:solidFill>
                  <a:srgbClr val="666666"/>
                </a:solidFill>
                <a:latin typeface="Poppins" pitchFamily="34" charset="0"/>
                <a:ea typeface="Poppins" pitchFamily="34" charset="-122"/>
                <a:cs typeface="Poppins" pitchFamily="34" charset="-120"/>
              </a:rPr>
              <a:t>3+ tools</a:t>
            </a:r>
            <a:endParaRPr lang="en-US" sz="900" dirty="0"/>
          </a:p>
        </p:txBody>
      </p:sp>
      <p:sp>
        <p:nvSpPr>
          <p:cNvPr id="13" name="Shape 11"/>
          <p:cNvSpPr/>
          <p:nvPr/>
        </p:nvSpPr>
        <p:spPr>
          <a:xfrm>
            <a:off x="2549870" y="1668780"/>
            <a:ext cx="986246" cy="0"/>
          </a:xfrm>
          <a:prstGeom prst="line">
            <a:avLst/>
          </a:prstGeom>
          <a:noFill/>
          <a:ln w="6350">
            <a:solidFill>
              <a:srgbClr val="EBE8F0"/>
            </a:solidFill>
            <a:prstDash val="solid"/>
          </a:ln>
        </p:spPr>
      </p:sp>
      <p:sp>
        <p:nvSpPr>
          <p:cNvPr id="14" name="Shape 12"/>
          <p:cNvSpPr/>
          <p:nvPr/>
        </p:nvSpPr>
        <p:spPr>
          <a:xfrm>
            <a:off x="3554403" y="1417320"/>
            <a:ext cx="502920" cy="502920"/>
          </a:xfrm>
          <a:prstGeom prst="ellipse">
            <a:avLst/>
          </a:prstGeom>
          <a:solidFill>
            <a:srgbClr val="EBE8F0"/>
          </a:solidFill>
          <a:ln w="12700">
            <a:solidFill>
              <a:srgbClr val="7C3AED"/>
            </a:solidFill>
            <a:prstDash val="solid"/>
          </a:ln>
        </p:spPr>
      </p:sp>
      <p:sp>
        <p:nvSpPr>
          <p:cNvPr id="15" name="Text 13"/>
          <p:cNvSpPr/>
          <p:nvPr/>
        </p:nvSpPr>
        <p:spPr>
          <a:xfrm>
            <a:off x="3554403" y="1417320"/>
            <a:ext cx="502920" cy="502920"/>
          </a:xfrm>
          <a:prstGeom prst="rect">
            <a:avLst/>
          </a:prstGeom>
          <a:noFill/>
          <a:ln/>
        </p:spPr>
        <p:txBody>
          <a:bodyPr wrap="square" rtlCol="0" anchor="ctr"/>
          <a:lstStyle/>
          <a:p>
            <a:pPr algn="ctr" indent="0" marL="0">
              <a:buNone/>
            </a:pPr>
            <a:r>
              <a:rPr lang="en-US" sz="1300" b="1" dirty="0">
                <a:solidFill>
                  <a:srgbClr val="7C3AED"/>
                </a:solidFill>
                <a:latin typeface="Poppins" pitchFamily="34" charset="0"/>
                <a:ea typeface="Poppins" pitchFamily="34" charset="-122"/>
                <a:cs typeface="Poppins" pitchFamily="34" charset="-120"/>
              </a:rPr>
              <a:t>3</a:t>
            </a:r>
            <a:endParaRPr lang="en-US" sz="1300" dirty="0"/>
          </a:p>
        </p:txBody>
      </p:sp>
      <p:sp>
        <p:nvSpPr>
          <p:cNvPr id="16" name="Text 14"/>
          <p:cNvSpPr/>
          <p:nvPr/>
        </p:nvSpPr>
        <p:spPr>
          <a:xfrm>
            <a:off x="3417243" y="1965960"/>
            <a:ext cx="777240" cy="201168"/>
          </a:xfrm>
          <a:prstGeom prst="rect">
            <a:avLst/>
          </a:prstGeom>
          <a:noFill/>
          <a:ln/>
        </p:spPr>
        <p:txBody>
          <a:bodyPr wrap="square" rtlCol="0" anchor="ctr"/>
          <a:lstStyle/>
          <a:p>
            <a:pPr algn="ctr" indent="0" marL="0">
              <a:buNone/>
            </a:pPr>
            <a:r>
              <a:rPr lang="en-US" sz="1000" b="1" dirty="0">
                <a:solidFill>
                  <a:srgbClr val="1A1A2E"/>
                </a:solidFill>
                <a:latin typeface="Poppins" pitchFamily="34" charset="0"/>
                <a:ea typeface="Poppins" pitchFamily="34" charset="-122"/>
                <a:cs typeface="Poppins" pitchFamily="34" charset="-120"/>
              </a:rPr>
              <a:t>ID type</a:t>
            </a:r>
            <a:endParaRPr lang="en-US" sz="1000" dirty="0"/>
          </a:p>
        </p:txBody>
      </p:sp>
      <p:sp>
        <p:nvSpPr>
          <p:cNvPr id="17" name="Text 15"/>
          <p:cNvSpPr/>
          <p:nvPr/>
        </p:nvSpPr>
        <p:spPr>
          <a:xfrm>
            <a:off x="3371523" y="2148840"/>
            <a:ext cx="868680" cy="182880"/>
          </a:xfrm>
          <a:prstGeom prst="rect">
            <a:avLst/>
          </a:prstGeom>
          <a:noFill/>
          <a:ln/>
        </p:spPr>
        <p:txBody>
          <a:bodyPr wrap="square" rtlCol="0" anchor="ctr"/>
          <a:lstStyle/>
          <a:p>
            <a:pPr algn="ctr" indent="0" marL="0">
              <a:buNone/>
            </a:pPr>
            <a:r>
              <a:rPr lang="en-US" sz="900" i="1" dirty="0">
                <a:solidFill>
                  <a:srgbClr val="666666"/>
                </a:solidFill>
                <a:latin typeface="Poppins" pitchFamily="34" charset="0"/>
                <a:ea typeface="Poppins" pitchFamily="34" charset="-122"/>
                <a:cs typeface="Poppins" pitchFamily="34" charset="-120"/>
              </a:rPr>
              <a:t>Read finding</a:t>
            </a:r>
            <a:endParaRPr lang="en-US" sz="900" dirty="0"/>
          </a:p>
        </p:txBody>
      </p:sp>
      <p:sp>
        <p:nvSpPr>
          <p:cNvPr id="18" name="Shape 16"/>
          <p:cNvSpPr/>
          <p:nvPr/>
        </p:nvSpPr>
        <p:spPr>
          <a:xfrm>
            <a:off x="4075611" y="1668780"/>
            <a:ext cx="986246" cy="0"/>
          </a:xfrm>
          <a:prstGeom prst="line">
            <a:avLst/>
          </a:prstGeom>
          <a:noFill/>
          <a:ln w="6350">
            <a:solidFill>
              <a:srgbClr val="EBE8F0"/>
            </a:solidFill>
            <a:prstDash val="solid"/>
          </a:ln>
        </p:spPr>
      </p:sp>
      <p:sp>
        <p:nvSpPr>
          <p:cNvPr id="19" name="Shape 17"/>
          <p:cNvSpPr/>
          <p:nvPr/>
        </p:nvSpPr>
        <p:spPr>
          <a:xfrm>
            <a:off x="5080145" y="1417320"/>
            <a:ext cx="502920" cy="502920"/>
          </a:xfrm>
          <a:prstGeom prst="ellipse">
            <a:avLst/>
          </a:prstGeom>
          <a:solidFill>
            <a:srgbClr val="EBE8F0"/>
          </a:solidFill>
          <a:ln w="12700">
            <a:solidFill>
              <a:srgbClr val="7C3AED"/>
            </a:solidFill>
            <a:prstDash val="solid"/>
          </a:ln>
        </p:spPr>
      </p:sp>
      <p:sp>
        <p:nvSpPr>
          <p:cNvPr id="20" name="Text 18"/>
          <p:cNvSpPr/>
          <p:nvPr/>
        </p:nvSpPr>
        <p:spPr>
          <a:xfrm>
            <a:off x="5080145" y="1417320"/>
            <a:ext cx="502920" cy="502920"/>
          </a:xfrm>
          <a:prstGeom prst="rect">
            <a:avLst/>
          </a:prstGeom>
          <a:noFill/>
          <a:ln/>
        </p:spPr>
        <p:txBody>
          <a:bodyPr wrap="square" rtlCol="0" anchor="ctr"/>
          <a:lstStyle/>
          <a:p>
            <a:pPr algn="ctr" indent="0" marL="0">
              <a:buNone/>
            </a:pPr>
            <a:r>
              <a:rPr lang="en-US" sz="1300" b="1" dirty="0">
                <a:solidFill>
                  <a:srgbClr val="7C3AED"/>
                </a:solidFill>
                <a:latin typeface="Poppins" pitchFamily="34" charset="0"/>
                <a:ea typeface="Poppins" pitchFamily="34" charset="-122"/>
                <a:cs typeface="Poppins" pitchFamily="34" charset="-120"/>
              </a:rPr>
              <a:t>4</a:t>
            </a:r>
            <a:endParaRPr lang="en-US" sz="1300" dirty="0"/>
          </a:p>
        </p:txBody>
      </p:sp>
      <p:sp>
        <p:nvSpPr>
          <p:cNvPr id="21" name="Text 19"/>
          <p:cNvSpPr/>
          <p:nvPr/>
        </p:nvSpPr>
        <p:spPr>
          <a:xfrm>
            <a:off x="4942985" y="1965960"/>
            <a:ext cx="777240" cy="201168"/>
          </a:xfrm>
          <a:prstGeom prst="rect">
            <a:avLst/>
          </a:prstGeom>
          <a:noFill/>
          <a:ln/>
        </p:spPr>
        <p:txBody>
          <a:bodyPr wrap="square" rtlCol="0" anchor="ctr"/>
          <a:lstStyle/>
          <a:p>
            <a:pPr algn="ctr" indent="0" marL="0">
              <a:buNone/>
            </a:pPr>
            <a:r>
              <a:rPr lang="en-US" sz="1000" b="1" dirty="0">
                <a:solidFill>
                  <a:srgbClr val="1A1A2E"/>
                </a:solidFill>
                <a:latin typeface="Poppins" pitchFamily="34" charset="0"/>
                <a:ea typeface="Poppins" pitchFamily="34" charset="-122"/>
                <a:cs typeface="Poppins" pitchFamily="34" charset="-120"/>
              </a:rPr>
              <a:t>Policy</a:t>
            </a:r>
            <a:endParaRPr lang="en-US" sz="1000" dirty="0"/>
          </a:p>
        </p:txBody>
      </p:sp>
      <p:sp>
        <p:nvSpPr>
          <p:cNvPr id="22" name="Text 20"/>
          <p:cNvSpPr/>
          <p:nvPr/>
        </p:nvSpPr>
        <p:spPr>
          <a:xfrm>
            <a:off x="4897265" y="2148840"/>
            <a:ext cx="868680" cy="182880"/>
          </a:xfrm>
          <a:prstGeom prst="rect">
            <a:avLst/>
          </a:prstGeom>
          <a:noFill/>
          <a:ln/>
        </p:spPr>
        <p:txBody>
          <a:bodyPr wrap="square" rtlCol="0" anchor="ctr"/>
          <a:lstStyle/>
          <a:p>
            <a:pPr algn="ctr" indent="0" marL="0">
              <a:buNone/>
            </a:pPr>
            <a:r>
              <a:rPr lang="en-US" sz="900" i="1" dirty="0">
                <a:solidFill>
                  <a:srgbClr val="666666"/>
                </a:solidFill>
                <a:latin typeface="Poppins" pitchFamily="34" charset="0"/>
                <a:ea typeface="Poppins" pitchFamily="34" charset="-122"/>
                <a:cs typeface="Poppins" pitchFamily="34" charset="-120"/>
              </a:rPr>
              <a:t>Open AUP</a:t>
            </a:r>
            <a:endParaRPr lang="en-US" sz="900" dirty="0"/>
          </a:p>
        </p:txBody>
      </p:sp>
      <p:sp>
        <p:nvSpPr>
          <p:cNvPr id="23" name="Shape 21"/>
          <p:cNvSpPr/>
          <p:nvPr/>
        </p:nvSpPr>
        <p:spPr>
          <a:xfrm>
            <a:off x="5601353" y="1668780"/>
            <a:ext cx="986246" cy="0"/>
          </a:xfrm>
          <a:prstGeom prst="line">
            <a:avLst/>
          </a:prstGeom>
          <a:noFill/>
          <a:ln w="6350">
            <a:solidFill>
              <a:srgbClr val="EBE8F0"/>
            </a:solidFill>
            <a:prstDash val="solid"/>
          </a:ln>
        </p:spPr>
      </p:sp>
      <p:sp>
        <p:nvSpPr>
          <p:cNvPr id="24" name="Shape 22"/>
          <p:cNvSpPr/>
          <p:nvPr/>
        </p:nvSpPr>
        <p:spPr>
          <a:xfrm>
            <a:off x="6605887" y="1417320"/>
            <a:ext cx="502920" cy="502920"/>
          </a:xfrm>
          <a:prstGeom prst="ellipse">
            <a:avLst/>
          </a:prstGeom>
          <a:solidFill>
            <a:srgbClr val="EBE8F0"/>
          </a:solidFill>
          <a:ln w="12700">
            <a:solidFill>
              <a:srgbClr val="7C3AED"/>
            </a:solidFill>
            <a:prstDash val="solid"/>
          </a:ln>
        </p:spPr>
      </p:sp>
      <p:sp>
        <p:nvSpPr>
          <p:cNvPr id="25" name="Text 23"/>
          <p:cNvSpPr/>
          <p:nvPr/>
        </p:nvSpPr>
        <p:spPr>
          <a:xfrm>
            <a:off x="6605887" y="1417320"/>
            <a:ext cx="502920" cy="502920"/>
          </a:xfrm>
          <a:prstGeom prst="rect">
            <a:avLst/>
          </a:prstGeom>
          <a:noFill/>
          <a:ln/>
        </p:spPr>
        <p:txBody>
          <a:bodyPr wrap="square" rtlCol="0" anchor="ctr"/>
          <a:lstStyle/>
          <a:p>
            <a:pPr algn="ctr" indent="0" marL="0">
              <a:buNone/>
            </a:pPr>
            <a:r>
              <a:rPr lang="en-US" sz="1300" b="1" dirty="0">
                <a:solidFill>
                  <a:srgbClr val="7C3AED"/>
                </a:solidFill>
                <a:latin typeface="Poppins" pitchFamily="34" charset="0"/>
                <a:ea typeface="Poppins" pitchFamily="34" charset="-122"/>
                <a:cs typeface="Poppins" pitchFamily="34" charset="-120"/>
              </a:rPr>
              <a:t>5</a:t>
            </a:r>
            <a:endParaRPr lang="en-US" sz="1300" dirty="0"/>
          </a:p>
        </p:txBody>
      </p:sp>
      <p:sp>
        <p:nvSpPr>
          <p:cNvPr id="26" name="Text 24"/>
          <p:cNvSpPr/>
          <p:nvPr/>
        </p:nvSpPr>
        <p:spPr>
          <a:xfrm>
            <a:off x="6468727" y="1965960"/>
            <a:ext cx="777240" cy="201168"/>
          </a:xfrm>
          <a:prstGeom prst="rect">
            <a:avLst/>
          </a:prstGeom>
          <a:noFill/>
          <a:ln/>
        </p:spPr>
        <p:txBody>
          <a:bodyPr wrap="square" rtlCol="0" anchor="ctr"/>
          <a:lstStyle/>
          <a:p>
            <a:pPr algn="ctr" indent="0" marL="0">
              <a:buNone/>
            </a:pPr>
            <a:r>
              <a:rPr lang="en-US" sz="1000" b="1" dirty="0">
                <a:solidFill>
                  <a:srgbClr val="1A1A2E"/>
                </a:solidFill>
                <a:latin typeface="Poppins" pitchFamily="34" charset="0"/>
                <a:ea typeface="Poppins" pitchFamily="34" charset="-122"/>
                <a:cs typeface="Poppins" pitchFamily="34" charset="-120"/>
              </a:rPr>
              <a:t>Check</a:t>
            </a:r>
            <a:endParaRPr lang="en-US" sz="1000" dirty="0"/>
          </a:p>
        </p:txBody>
      </p:sp>
      <p:sp>
        <p:nvSpPr>
          <p:cNvPr id="27" name="Text 25"/>
          <p:cNvSpPr/>
          <p:nvPr/>
        </p:nvSpPr>
        <p:spPr>
          <a:xfrm>
            <a:off x="6423007" y="2148840"/>
            <a:ext cx="868680" cy="182880"/>
          </a:xfrm>
          <a:prstGeom prst="rect">
            <a:avLst/>
          </a:prstGeom>
          <a:noFill/>
          <a:ln/>
        </p:spPr>
        <p:txBody>
          <a:bodyPr wrap="square" rtlCol="0" anchor="ctr"/>
          <a:lstStyle/>
          <a:p>
            <a:pPr algn="ctr" indent="0" marL="0">
              <a:buNone/>
            </a:pPr>
            <a:r>
              <a:rPr lang="en-US" sz="900" i="1" dirty="0">
                <a:solidFill>
                  <a:srgbClr val="666666"/>
                </a:solidFill>
                <a:latin typeface="Poppins" pitchFamily="34" charset="0"/>
                <a:ea typeface="Poppins" pitchFamily="34" charset="-122"/>
                <a:cs typeface="Poppins" pitchFamily="34" charset="-120"/>
              </a:rPr>
              <a:t>Guessing</a:t>
            </a:r>
            <a:endParaRPr lang="en-US" sz="900" dirty="0"/>
          </a:p>
        </p:txBody>
      </p:sp>
      <p:sp>
        <p:nvSpPr>
          <p:cNvPr id="28" name="Shape 26"/>
          <p:cNvSpPr/>
          <p:nvPr/>
        </p:nvSpPr>
        <p:spPr>
          <a:xfrm>
            <a:off x="7127095" y="1668780"/>
            <a:ext cx="986246" cy="0"/>
          </a:xfrm>
          <a:prstGeom prst="line">
            <a:avLst/>
          </a:prstGeom>
          <a:noFill/>
          <a:ln w="6350">
            <a:solidFill>
              <a:srgbClr val="EBE8F0"/>
            </a:solidFill>
            <a:prstDash val="solid"/>
          </a:ln>
        </p:spPr>
      </p:sp>
      <p:sp>
        <p:nvSpPr>
          <p:cNvPr id="29" name="Shape 27"/>
          <p:cNvSpPr/>
          <p:nvPr/>
        </p:nvSpPr>
        <p:spPr>
          <a:xfrm>
            <a:off x="8131629" y="1417320"/>
            <a:ext cx="502920" cy="502920"/>
          </a:xfrm>
          <a:prstGeom prst="ellipse">
            <a:avLst/>
          </a:prstGeom>
          <a:solidFill>
            <a:srgbClr val="EBE8F0"/>
          </a:solidFill>
          <a:ln w="12700">
            <a:solidFill>
              <a:srgbClr val="7C3AED"/>
            </a:solidFill>
            <a:prstDash val="solid"/>
          </a:ln>
        </p:spPr>
      </p:sp>
      <p:sp>
        <p:nvSpPr>
          <p:cNvPr id="30" name="Text 28"/>
          <p:cNvSpPr/>
          <p:nvPr/>
        </p:nvSpPr>
        <p:spPr>
          <a:xfrm>
            <a:off x="8131629" y="1417320"/>
            <a:ext cx="502920" cy="502920"/>
          </a:xfrm>
          <a:prstGeom prst="rect">
            <a:avLst/>
          </a:prstGeom>
          <a:noFill/>
          <a:ln/>
        </p:spPr>
        <p:txBody>
          <a:bodyPr wrap="square" rtlCol="0" anchor="ctr"/>
          <a:lstStyle/>
          <a:p>
            <a:pPr algn="ctr" indent="0" marL="0">
              <a:buNone/>
            </a:pPr>
            <a:r>
              <a:rPr lang="en-US" sz="1300" b="1" dirty="0">
                <a:solidFill>
                  <a:srgbClr val="7C3AED"/>
                </a:solidFill>
                <a:latin typeface="Poppins" pitchFamily="34" charset="0"/>
                <a:ea typeface="Poppins" pitchFamily="34" charset="-122"/>
                <a:cs typeface="Poppins" pitchFamily="34" charset="-120"/>
              </a:rPr>
              <a:t>6</a:t>
            </a:r>
            <a:endParaRPr lang="en-US" sz="1300" dirty="0"/>
          </a:p>
        </p:txBody>
      </p:sp>
      <p:sp>
        <p:nvSpPr>
          <p:cNvPr id="31" name="Text 29"/>
          <p:cNvSpPr/>
          <p:nvPr/>
        </p:nvSpPr>
        <p:spPr>
          <a:xfrm>
            <a:off x="7994469" y="1965960"/>
            <a:ext cx="777240" cy="201168"/>
          </a:xfrm>
          <a:prstGeom prst="rect">
            <a:avLst/>
          </a:prstGeom>
          <a:noFill/>
          <a:ln/>
        </p:spPr>
        <p:txBody>
          <a:bodyPr wrap="square" rtlCol="0" anchor="ctr"/>
          <a:lstStyle/>
          <a:p>
            <a:pPr algn="ctr" indent="0" marL="0">
              <a:buNone/>
            </a:pPr>
            <a:r>
              <a:rPr lang="en-US" sz="1000" b="1" dirty="0">
                <a:solidFill>
                  <a:srgbClr val="1A1A2E"/>
                </a:solidFill>
                <a:latin typeface="Poppins" pitchFamily="34" charset="0"/>
                <a:ea typeface="Poppins" pitchFamily="34" charset="-122"/>
                <a:cs typeface="Poppins" pitchFamily="34" charset="-120"/>
              </a:rPr>
              <a:t>Investigate</a:t>
            </a:r>
            <a:endParaRPr lang="en-US" sz="1000" dirty="0"/>
          </a:p>
        </p:txBody>
      </p:sp>
      <p:sp>
        <p:nvSpPr>
          <p:cNvPr id="32" name="Text 30"/>
          <p:cNvSpPr/>
          <p:nvPr/>
        </p:nvSpPr>
        <p:spPr>
          <a:xfrm>
            <a:off x="7948749" y="2148840"/>
            <a:ext cx="868680" cy="182880"/>
          </a:xfrm>
          <a:prstGeom prst="rect">
            <a:avLst/>
          </a:prstGeom>
          <a:noFill/>
          <a:ln/>
        </p:spPr>
        <p:txBody>
          <a:bodyPr wrap="square" rtlCol="0" anchor="ctr"/>
          <a:lstStyle/>
          <a:p>
            <a:pPr algn="ctr" indent="0" marL="0">
              <a:buNone/>
            </a:pPr>
            <a:r>
              <a:rPr lang="en-US" sz="900" i="1" dirty="0">
                <a:solidFill>
                  <a:srgbClr val="666666"/>
                </a:solidFill>
                <a:latin typeface="Poppins" pitchFamily="34" charset="0"/>
                <a:ea typeface="Poppins" pitchFamily="34" charset="-122"/>
                <a:cs typeface="Poppins" pitchFamily="34" charset="-120"/>
              </a:rPr>
              <a:t>Logs</a:t>
            </a:r>
            <a:endParaRPr lang="en-US" sz="900" dirty="0"/>
          </a:p>
        </p:txBody>
      </p:sp>
      <p:sp>
        <p:nvSpPr>
          <p:cNvPr id="33" name="Shape 31"/>
          <p:cNvSpPr/>
          <p:nvPr/>
        </p:nvSpPr>
        <p:spPr>
          <a:xfrm>
            <a:off x="8652837" y="1668780"/>
            <a:ext cx="986246" cy="0"/>
          </a:xfrm>
          <a:prstGeom prst="line">
            <a:avLst/>
          </a:prstGeom>
          <a:noFill/>
          <a:ln w="6350">
            <a:solidFill>
              <a:srgbClr val="EBE8F0"/>
            </a:solidFill>
            <a:prstDash val="solid"/>
          </a:ln>
        </p:spPr>
      </p:sp>
      <p:sp>
        <p:nvSpPr>
          <p:cNvPr id="34" name="Shape 32"/>
          <p:cNvSpPr/>
          <p:nvPr/>
        </p:nvSpPr>
        <p:spPr>
          <a:xfrm>
            <a:off x="9657370" y="1417320"/>
            <a:ext cx="502920" cy="502920"/>
          </a:xfrm>
          <a:prstGeom prst="ellipse">
            <a:avLst/>
          </a:prstGeom>
          <a:solidFill>
            <a:srgbClr val="EBE8F0"/>
          </a:solidFill>
          <a:ln w="12700">
            <a:solidFill>
              <a:srgbClr val="7C3AED"/>
            </a:solidFill>
            <a:prstDash val="solid"/>
          </a:ln>
        </p:spPr>
      </p:sp>
      <p:sp>
        <p:nvSpPr>
          <p:cNvPr id="35" name="Text 33"/>
          <p:cNvSpPr/>
          <p:nvPr/>
        </p:nvSpPr>
        <p:spPr>
          <a:xfrm>
            <a:off x="9657370" y="1417320"/>
            <a:ext cx="502920" cy="502920"/>
          </a:xfrm>
          <a:prstGeom prst="rect">
            <a:avLst/>
          </a:prstGeom>
          <a:noFill/>
          <a:ln/>
        </p:spPr>
        <p:txBody>
          <a:bodyPr wrap="square" rtlCol="0" anchor="ctr"/>
          <a:lstStyle/>
          <a:p>
            <a:pPr algn="ctr" indent="0" marL="0">
              <a:buNone/>
            </a:pPr>
            <a:r>
              <a:rPr lang="en-US" sz="1300" b="1" dirty="0">
                <a:solidFill>
                  <a:srgbClr val="7C3AED"/>
                </a:solidFill>
                <a:latin typeface="Poppins" pitchFamily="34" charset="0"/>
                <a:ea typeface="Poppins" pitchFamily="34" charset="-122"/>
                <a:cs typeface="Poppins" pitchFamily="34" charset="-120"/>
              </a:rPr>
              <a:t>7</a:t>
            </a:r>
            <a:endParaRPr lang="en-US" sz="1300" dirty="0"/>
          </a:p>
        </p:txBody>
      </p:sp>
      <p:sp>
        <p:nvSpPr>
          <p:cNvPr id="36" name="Text 34"/>
          <p:cNvSpPr/>
          <p:nvPr/>
        </p:nvSpPr>
        <p:spPr>
          <a:xfrm>
            <a:off x="9520210" y="1965960"/>
            <a:ext cx="777240" cy="201168"/>
          </a:xfrm>
          <a:prstGeom prst="rect">
            <a:avLst/>
          </a:prstGeom>
          <a:noFill/>
          <a:ln/>
        </p:spPr>
        <p:txBody>
          <a:bodyPr wrap="square" rtlCol="0" anchor="ctr"/>
          <a:lstStyle/>
          <a:p>
            <a:pPr algn="ctr" indent="0" marL="0">
              <a:buNone/>
            </a:pPr>
            <a:r>
              <a:rPr lang="en-US" sz="1000" b="1" dirty="0">
                <a:solidFill>
                  <a:srgbClr val="1A1A2E"/>
                </a:solidFill>
                <a:latin typeface="Poppins" pitchFamily="34" charset="0"/>
                <a:ea typeface="Poppins" pitchFamily="34" charset="-122"/>
                <a:cs typeface="Poppins" pitchFamily="34" charset="-120"/>
              </a:rPr>
              <a:t>Write</a:t>
            </a:r>
            <a:endParaRPr lang="en-US" sz="1000" dirty="0"/>
          </a:p>
        </p:txBody>
      </p:sp>
      <p:sp>
        <p:nvSpPr>
          <p:cNvPr id="37" name="Text 35"/>
          <p:cNvSpPr/>
          <p:nvPr/>
        </p:nvSpPr>
        <p:spPr>
          <a:xfrm>
            <a:off x="9474490" y="2148840"/>
            <a:ext cx="868680" cy="182880"/>
          </a:xfrm>
          <a:prstGeom prst="rect">
            <a:avLst/>
          </a:prstGeom>
          <a:noFill/>
          <a:ln/>
        </p:spPr>
        <p:txBody>
          <a:bodyPr wrap="square" rtlCol="0" anchor="ctr"/>
          <a:lstStyle/>
          <a:p>
            <a:pPr algn="ctr" indent="0" marL="0">
              <a:buNone/>
            </a:pPr>
            <a:r>
              <a:rPr lang="en-US" sz="900" i="1" dirty="0">
                <a:solidFill>
                  <a:srgbClr val="666666"/>
                </a:solidFill>
                <a:latin typeface="Poppins" pitchFamily="34" charset="0"/>
                <a:ea typeface="Poppins" pitchFamily="34" charset="-122"/>
                <a:cs typeface="Poppins" pitchFamily="34" charset="-120"/>
              </a:rPr>
              <a:t>Blank page</a:t>
            </a:r>
            <a:endParaRPr lang="en-US" sz="900" dirty="0"/>
          </a:p>
        </p:txBody>
      </p:sp>
      <p:sp>
        <p:nvSpPr>
          <p:cNvPr id="38" name="Shape 36"/>
          <p:cNvSpPr/>
          <p:nvPr/>
        </p:nvSpPr>
        <p:spPr>
          <a:xfrm>
            <a:off x="10178578" y="1668780"/>
            <a:ext cx="986246" cy="0"/>
          </a:xfrm>
          <a:prstGeom prst="line">
            <a:avLst/>
          </a:prstGeom>
          <a:noFill/>
          <a:ln w="6350">
            <a:solidFill>
              <a:srgbClr val="EBE8F0"/>
            </a:solidFill>
            <a:prstDash val="solid"/>
          </a:ln>
        </p:spPr>
      </p:sp>
      <p:sp>
        <p:nvSpPr>
          <p:cNvPr id="39" name="Shape 37"/>
          <p:cNvSpPr/>
          <p:nvPr/>
        </p:nvSpPr>
        <p:spPr>
          <a:xfrm>
            <a:off x="11183112" y="1417320"/>
            <a:ext cx="502920" cy="502920"/>
          </a:xfrm>
          <a:prstGeom prst="ellipse">
            <a:avLst/>
          </a:prstGeom>
          <a:solidFill>
            <a:srgbClr val="EBE8F0"/>
          </a:solidFill>
          <a:ln w="12700">
            <a:solidFill>
              <a:srgbClr val="7C3AED"/>
            </a:solidFill>
            <a:prstDash val="solid"/>
          </a:ln>
        </p:spPr>
      </p:sp>
      <p:sp>
        <p:nvSpPr>
          <p:cNvPr id="40" name="Text 38"/>
          <p:cNvSpPr/>
          <p:nvPr/>
        </p:nvSpPr>
        <p:spPr>
          <a:xfrm>
            <a:off x="11183112" y="1417320"/>
            <a:ext cx="502920" cy="502920"/>
          </a:xfrm>
          <a:prstGeom prst="rect">
            <a:avLst/>
          </a:prstGeom>
          <a:noFill/>
          <a:ln/>
        </p:spPr>
        <p:txBody>
          <a:bodyPr wrap="square" rtlCol="0" anchor="ctr"/>
          <a:lstStyle/>
          <a:p>
            <a:pPr algn="ctr" indent="0" marL="0">
              <a:buNone/>
            </a:pPr>
            <a:r>
              <a:rPr lang="en-US" sz="1300" b="1" dirty="0">
                <a:solidFill>
                  <a:srgbClr val="7C3AED"/>
                </a:solidFill>
                <a:latin typeface="Poppins" pitchFamily="34" charset="0"/>
                <a:ea typeface="Poppins" pitchFamily="34" charset="-122"/>
                <a:cs typeface="Poppins" pitchFamily="34" charset="-120"/>
              </a:rPr>
              <a:t>8</a:t>
            </a:r>
            <a:endParaRPr lang="en-US" sz="1300" dirty="0"/>
          </a:p>
        </p:txBody>
      </p:sp>
      <p:sp>
        <p:nvSpPr>
          <p:cNvPr id="41" name="Text 39"/>
          <p:cNvSpPr/>
          <p:nvPr/>
        </p:nvSpPr>
        <p:spPr>
          <a:xfrm>
            <a:off x="11045952" y="1965960"/>
            <a:ext cx="777240" cy="201168"/>
          </a:xfrm>
          <a:prstGeom prst="rect">
            <a:avLst/>
          </a:prstGeom>
          <a:noFill/>
          <a:ln/>
        </p:spPr>
        <p:txBody>
          <a:bodyPr wrap="square" rtlCol="0" anchor="ctr"/>
          <a:lstStyle/>
          <a:p>
            <a:pPr algn="ctr" indent="0" marL="0">
              <a:buNone/>
            </a:pPr>
            <a:r>
              <a:rPr lang="en-US" sz="1000" b="1" dirty="0">
                <a:solidFill>
                  <a:srgbClr val="1A1A2E"/>
                </a:solidFill>
                <a:latin typeface="Poppins" pitchFamily="34" charset="0"/>
                <a:ea typeface="Poppins" pitchFamily="34" charset="-122"/>
                <a:cs typeface="Poppins" pitchFamily="34" charset="-120"/>
              </a:rPr>
              <a:t>Close</a:t>
            </a:r>
            <a:endParaRPr lang="en-US" sz="1000" dirty="0"/>
          </a:p>
        </p:txBody>
      </p:sp>
      <p:sp>
        <p:nvSpPr>
          <p:cNvPr id="42" name="Text 40"/>
          <p:cNvSpPr/>
          <p:nvPr/>
        </p:nvSpPr>
        <p:spPr>
          <a:xfrm>
            <a:off x="11000232" y="2148840"/>
            <a:ext cx="868680" cy="182880"/>
          </a:xfrm>
          <a:prstGeom prst="rect">
            <a:avLst/>
          </a:prstGeom>
          <a:noFill/>
          <a:ln/>
        </p:spPr>
        <p:txBody>
          <a:bodyPr wrap="square" rtlCol="0" anchor="ctr"/>
          <a:lstStyle/>
          <a:p>
            <a:pPr algn="ctr" indent="0" marL="0">
              <a:buNone/>
            </a:pPr>
            <a:r>
              <a:rPr lang="en-US" sz="900" i="1" dirty="0">
                <a:solidFill>
                  <a:srgbClr val="666666"/>
                </a:solidFill>
                <a:latin typeface="Poppins" pitchFamily="34" charset="0"/>
                <a:ea typeface="Poppins" pitchFamily="34" charset="-122"/>
                <a:cs typeface="Poppins" pitchFamily="34" charset="-120"/>
              </a:rPr>
              <a:t>Done</a:t>
            </a:r>
            <a:endParaRPr lang="en-US" sz="900" dirty="0"/>
          </a:p>
        </p:txBody>
      </p:sp>
      <p:sp>
        <p:nvSpPr>
          <p:cNvPr id="43" name="Shape 41"/>
          <p:cNvSpPr/>
          <p:nvPr/>
        </p:nvSpPr>
        <p:spPr>
          <a:xfrm>
            <a:off x="502920" y="2743200"/>
            <a:ext cx="3605784" cy="1188720"/>
          </a:xfrm>
          <a:prstGeom prst="roundRect">
            <a:avLst>
              <a:gd name="adj" fmla="val 6154"/>
            </a:avLst>
          </a:prstGeom>
          <a:solidFill>
            <a:srgbClr val="FFFFFF"/>
          </a:solidFill>
          <a:ln w="6350">
            <a:solidFill>
              <a:srgbClr val="EBE8F0"/>
            </a:solidFill>
            <a:prstDash val="solid"/>
          </a:ln>
        </p:spPr>
      </p:sp>
      <p:sp>
        <p:nvSpPr>
          <p:cNvPr id="44" name="Text 42"/>
          <p:cNvSpPr/>
          <p:nvPr/>
        </p:nvSpPr>
        <p:spPr>
          <a:xfrm>
            <a:off x="502920" y="2834640"/>
            <a:ext cx="3605784" cy="685800"/>
          </a:xfrm>
          <a:prstGeom prst="rect">
            <a:avLst/>
          </a:prstGeom>
          <a:noFill/>
          <a:ln/>
        </p:spPr>
        <p:txBody>
          <a:bodyPr wrap="square" rtlCol="0" anchor="ctr"/>
          <a:lstStyle/>
          <a:p>
            <a:pPr algn="ctr" indent="0" marL="0">
              <a:buNone/>
            </a:pPr>
            <a:r>
              <a:rPr lang="en-US" sz="6000" b="1" dirty="0">
                <a:solidFill>
                  <a:srgbClr val="DC2626"/>
                </a:solidFill>
                <a:latin typeface="Poppins" pitchFamily="34" charset="0"/>
                <a:ea typeface="Poppins" pitchFamily="34" charset="-122"/>
                <a:cs typeface="Poppins" pitchFamily="34" charset="-120"/>
              </a:rPr>
              <a:t>40–60</a:t>
            </a:r>
            <a:endParaRPr lang="en-US" sz="6000" dirty="0"/>
          </a:p>
        </p:txBody>
      </p:sp>
      <p:sp>
        <p:nvSpPr>
          <p:cNvPr id="45" name="Text 43"/>
          <p:cNvSpPr/>
          <p:nvPr/>
        </p:nvSpPr>
        <p:spPr>
          <a:xfrm>
            <a:off x="502920" y="3566160"/>
            <a:ext cx="3605784" cy="274320"/>
          </a:xfrm>
          <a:prstGeom prst="rect">
            <a:avLst/>
          </a:prstGeom>
          <a:noFill/>
          <a:ln/>
        </p:spPr>
        <p:txBody>
          <a:bodyPr wrap="square" rtlCol="0" anchor="ctr"/>
          <a:lstStyle/>
          <a:p>
            <a:pPr algn="ctr" indent="0" marL="0">
              <a:buNone/>
            </a:pPr>
            <a:r>
              <a:rPr lang="en-US" sz="1200" dirty="0">
                <a:solidFill>
                  <a:srgbClr val="666666"/>
                </a:solidFill>
                <a:latin typeface="Poppins" pitchFamily="34" charset="0"/>
                <a:ea typeface="Poppins" pitchFamily="34" charset="-122"/>
                <a:cs typeface="Poppins" pitchFamily="34" charset="-120"/>
              </a:rPr>
              <a:t>minutes per alert</a:t>
            </a:r>
            <a:endParaRPr lang="en-US" sz="1200" dirty="0"/>
          </a:p>
        </p:txBody>
      </p:sp>
      <p:sp>
        <p:nvSpPr>
          <p:cNvPr id="46" name="Shape 44"/>
          <p:cNvSpPr/>
          <p:nvPr/>
        </p:nvSpPr>
        <p:spPr>
          <a:xfrm>
            <a:off x="4291584" y="2743200"/>
            <a:ext cx="3605784" cy="1188720"/>
          </a:xfrm>
          <a:prstGeom prst="roundRect">
            <a:avLst>
              <a:gd name="adj" fmla="val 6154"/>
            </a:avLst>
          </a:prstGeom>
          <a:solidFill>
            <a:srgbClr val="FFFFFF"/>
          </a:solidFill>
          <a:ln w="6350">
            <a:solidFill>
              <a:srgbClr val="EBE8F0"/>
            </a:solidFill>
            <a:prstDash val="solid"/>
          </a:ln>
        </p:spPr>
      </p:sp>
      <p:sp>
        <p:nvSpPr>
          <p:cNvPr id="47" name="Text 45"/>
          <p:cNvSpPr/>
          <p:nvPr/>
        </p:nvSpPr>
        <p:spPr>
          <a:xfrm>
            <a:off x="4291584" y="2834640"/>
            <a:ext cx="3605784" cy="685800"/>
          </a:xfrm>
          <a:prstGeom prst="rect">
            <a:avLst/>
          </a:prstGeom>
          <a:noFill/>
          <a:ln/>
        </p:spPr>
        <p:txBody>
          <a:bodyPr wrap="square" rtlCol="0" anchor="ctr"/>
          <a:lstStyle/>
          <a:p>
            <a:pPr algn="ctr" indent="0" marL="0">
              <a:buNone/>
            </a:pPr>
            <a:r>
              <a:rPr lang="en-US" sz="6000" b="1" dirty="0">
                <a:solidFill>
                  <a:srgbClr val="7C3AED"/>
                </a:solidFill>
                <a:latin typeface="Poppins" pitchFamily="34" charset="0"/>
                <a:ea typeface="Poppins" pitchFamily="34" charset="-122"/>
                <a:cs typeface="Poppins" pitchFamily="34" charset="-120"/>
              </a:rPr>
              <a:t>×47</a:t>
            </a:r>
            <a:endParaRPr lang="en-US" sz="6000" dirty="0"/>
          </a:p>
        </p:txBody>
      </p:sp>
      <p:sp>
        <p:nvSpPr>
          <p:cNvPr id="48" name="Text 46"/>
          <p:cNvSpPr/>
          <p:nvPr/>
        </p:nvSpPr>
        <p:spPr>
          <a:xfrm>
            <a:off x="4291584" y="3566160"/>
            <a:ext cx="3605784" cy="274320"/>
          </a:xfrm>
          <a:prstGeom prst="rect">
            <a:avLst/>
          </a:prstGeom>
          <a:noFill/>
          <a:ln/>
        </p:spPr>
        <p:txBody>
          <a:bodyPr wrap="square" rtlCol="0" anchor="ctr"/>
          <a:lstStyle/>
          <a:p>
            <a:pPr algn="ctr" indent="0" marL="0">
              <a:buNone/>
            </a:pPr>
            <a:r>
              <a:rPr lang="en-US" sz="1200" dirty="0">
                <a:solidFill>
                  <a:srgbClr val="666666"/>
                </a:solidFill>
                <a:latin typeface="Poppins" pitchFamily="34" charset="0"/>
                <a:ea typeface="Poppins" pitchFamily="34" charset="-122"/>
                <a:cs typeface="Poppins" pitchFamily="34" charset="-120"/>
              </a:rPr>
              <a:t>alerts waiting</a:t>
            </a:r>
            <a:endParaRPr lang="en-US" sz="1200" dirty="0"/>
          </a:p>
        </p:txBody>
      </p:sp>
      <p:sp>
        <p:nvSpPr>
          <p:cNvPr id="49" name="Shape 47"/>
          <p:cNvSpPr/>
          <p:nvPr/>
        </p:nvSpPr>
        <p:spPr>
          <a:xfrm>
            <a:off x="8080248" y="2743200"/>
            <a:ext cx="3605784" cy="1188720"/>
          </a:xfrm>
          <a:prstGeom prst="roundRect">
            <a:avLst>
              <a:gd name="adj" fmla="val 6154"/>
            </a:avLst>
          </a:prstGeom>
          <a:solidFill>
            <a:srgbClr val="FFFFFF"/>
          </a:solidFill>
          <a:ln w="6350">
            <a:solidFill>
              <a:srgbClr val="EBE8F0"/>
            </a:solidFill>
            <a:prstDash val="solid"/>
          </a:ln>
        </p:spPr>
      </p:sp>
      <p:sp>
        <p:nvSpPr>
          <p:cNvPr id="50" name="Text 48"/>
          <p:cNvSpPr/>
          <p:nvPr/>
        </p:nvSpPr>
        <p:spPr>
          <a:xfrm>
            <a:off x="8080248" y="2834640"/>
            <a:ext cx="3605784" cy="685800"/>
          </a:xfrm>
          <a:prstGeom prst="rect">
            <a:avLst/>
          </a:prstGeom>
          <a:noFill/>
          <a:ln/>
        </p:spPr>
        <p:txBody>
          <a:bodyPr wrap="square" rtlCol="0" anchor="ctr"/>
          <a:lstStyle/>
          <a:p>
            <a:pPr algn="ctr" indent="0" marL="0">
              <a:buNone/>
            </a:pPr>
            <a:r>
              <a:rPr lang="en-US" sz="6000" b="1" dirty="0">
                <a:solidFill>
                  <a:srgbClr val="666666"/>
                </a:solidFill>
                <a:latin typeface="Poppins" pitchFamily="34" charset="0"/>
                <a:ea typeface="Poppins" pitchFamily="34" charset="-122"/>
                <a:cs typeface="Poppins" pitchFamily="34" charset="-120"/>
              </a:rPr>
              <a:t>∞</a:t>
            </a:r>
            <a:endParaRPr lang="en-US" sz="6000" dirty="0"/>
          </a:p>
        </p:txBody>
      </p:sp>
      <p:sp>
        <p:nvSpPr>
          <p:cNvPr id="51" name="Text 49"/>
          <p:cNvSpPr/>
          <p:nvPr/>
        </p:nvSpPr>
        <p:spPr>
          <a:xfrm>
            <a:off x="8080248" y="3566160"/>
            <a:ext cx="3605784" cy="274320"/>
          </a:xfrm>
          <a:prstGeom prst="rect">
            <a:avLst/>
          </a:prstGeom>
          <a:noFill/>
          <a:ln/>
        </p:spPr>
        <p:txBody>
          <a:bodyPr wrap="square" rtlCol="0" anchor="ctr"/>
          <a:lstStyle/>
          <a:p>
            <a:pPr algn="ctr" indent="0" marL="0">
              <a:buNone/>
            </a:pPr>
            <a:r>
              <a:rPr lang="en-US" sz="1200" dirty="0">
                <a:solidFill>
                  <a:srgbClr val="666666"/>
                </a:solidFill>
                <a:latin typeface="Poppins" pitchFamily="34" charset="0"/>
                <a:ea typeface="Poppins" pitchFamily="34" charset="-122"/>
                <a:cs typeface="Poppins" pitchFamily="34" charset="-120"/>
              </a:rPr>
              <a:t>queue never empties</a:t>
            </a:r>
            <a:endParaRPr lang="en-US" sz="1200" dirty="0"/>
          </a:p>
        </p:txBody>
      </p:sp>
      <p:sp>
        <p:nvSpPr>
          <p:cNvPr id="52" name="Shape 50"/>
          <p:cNvSpPr/>
          <p:nvPr/>
        </p:nvSpPr>
        <p:spPr>
          <a:xfrm>
            <a:off x="502920" y="4114800"/>
            <a:ext cx="11183112" cy="502920"/>
          </a:xfrm>
          <a:prstGeom prst="roundRect">
            <a:avLst>
              <a:gd name="adj" fmla="val 7273"/>
            </a:avLst>
          </a:prstGeom>
          <a:solidFill>
            <a:srgbClr val="FDE8E8"/>
          </a:solidFill>
          <a:ln/>
        </p:spPr>
      </p:sp>
      <p:sp>
        <p:nvSpPr>
          <p:cNvPr id="53" name="Shape 51"/>
          <p:cNvSpPr/>
          <p:nvPr/>
        </p:nvSpPr>
        <p:spPr>
          <a:xfrm>
            <a:off x="502920" y="4114800"/>
            <a:ext cx="64008" cy="502920"/>
          </a:xfrm>
          <a:prstGeom prst="rect">
            <a:avLst/>
          </a:prstGeom>
          <a:solidFill>
            <a:srgbClr val="DC2626"/>
          </a:solidFill>
          <a:ln/>
        </p:spPr>
      </p:sp>
      <p:sp>
        <p:nvSpPr>
          <p:cNvPr id="54" name="Text 52"/>
          <p:cNvSpPr/>
          <p:nvPr/>
        </p:nvSpPr>
        <p:spPr>
          <a:xfrm>
            <a:off x="685800" y="4114800"/>
            <a:ext cx="10817352" cy="502920"/>
          </a:xfrm>
          <a:prstGeom prst="rect">
            <a:avLst/>
          </a:prstGeom>
          <a:noFill/>
          <a:ln/>
        </p:spPr>
        <p:txBody>
          <a:bodyPr wrap="square" rtlCol="0" anchor="ctr"/>
          <a:lstStyle/>
          <a:p>
            <a:pPr indent="0" marL="0">
              <a:buNone/>
            </a:pPr>
            <a:r>
              <a:rPr lang="en-US" sz="1200" b="1" dirty="0">
                <a:solidFill>
                  <a:srgbClr val="DC2626"/>
                </a:solidFill>
                <a:latin typeface="Poppins" pitchFamily="34" charset="0"/>
                <a:ea typeface="Poppins" pitchFamily="34" charset="-122"/>
                <a:cs typeface="Poppins" pitchFamily="34" charset="-120"/>
              </a:rPr>
              <a:t>Critical &amp; High must close within 24–48h.  47 alerts × 50 min = 39 hours.  One analyst cannot meet SLA. Two cannot either.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640080"/>
            <a:ext cx="11183112" cy="640080"/>
          </a:xfrm>
          <a:prstGeom prst="rect">
            <a:avLst/>
          </a:prstGeom>
          <a:noFill/>
          <a:ln/>
        </p:spPr>
        <p:txBody>
          <a:bodyPr wrap="square" rtlCol="0" anchor="ctr"/>
          <a:lstStyle/>
          <a:p>
            <a:pPr indent="0" marL="0">
              <a:buNone/>
            </a:pPr>
            <a:r>
              <a:rPr lang="en-US" sz="3200" b="1" dirty="0">
                <a:solidFill>
                  <a:srgbClr val="1A1A2E"/>
                </a:solidFill>
                <a:latin typeface="Poppins" pitchFamily="34" charset="0"/>
                <a:ea typeface="Poppins" pitchFamily="34" charset="-122"/>
                <a:cs typeface="Poppins" pitchFamily="34" charset="-120"/>
              </a:rPr>
              <a:t>Alerts arrive ungrouped. Investigation is violation-type-specific.</a:t>
            </a:r>
            <a:endParaRPr lang="en-US" sz="3200" dirty="0"/>
          </a:p>
        </p:txBody>
      </p:sp>
      <p:sp>
        <p:nvSpPr>
          <p:cNvPr id="3" name="Text 1"/>
          <p:cNvSpPr/>
          <p:nvPr/>
        </p:nvSpPr>
        <p:spPr>
          <a:xfrm>
            <a:off x="502920" y="1280160"/>
            <a:ext cx="11183112" cy="457200"/>
          </a:xfrm>
          <a:prstGeom prst="rect">
            <a:avLst/>
          </a:prstGeom>
          <a:noFill/>
          <a:ln/>
        </p:spPr>
        <p:txBody>
          <a:bodyPr wrap="square" rtlCol="0" anchor="ctr"/>
          <a:lstStyle/>
          <a:p>
            <a:pPr indent="0" marL="0">
              <a:buNone/>
            </a:pPr>
            <a:r>
              <a:rPr lang="en-US" sz="2400" b="1" dirty="0">
                <a:solidFill>
                  <a:srgbClr val="7C3AED"/>
                </a:solidFill>
                <a:latin typeface="Poppins" pitchFamily="34" charset="0"/>
                <a:ea typeface="Poppins" pitchFamily="34" charset="-122"/>
                <a:cs typeface="Poppins" pitchFamily="34" charset="-120"/>
              </a:rPr>
              <a:t>That mismatch is the bottleneck.</a:t>
            </a:r>
            <a:endParaRPr lang="en-US" sz="2400" dirty="0"/>
          </a:p>
        </p:txBody>
      </p:sp>
      <p:sp>
        <p:nvSpPr>
          <p:cNvPr id="4" name="Shape 2"/>
          <p:cNvSpPr/>
          <p:nvPr/>
        </p:nvSpPr>
        <p:spPr>
          <a:xfrm>
            <a:off x="502920" y="2011680"/>
            <a:ext cx="3605784" cy="2743200"/>
          </a:xfrm>
          <a:prstGeom prst="roundRect">
            <a:avLst>
              <a:gd name="adj" fmla="val 2667"/>
            </a:avLst>
          </a:prstGeom>
          <a:solidFill>
            <a:srgbClr val="FFFFFF"/>
          </a:solidFill>
          <a:ln w="6350">
            <a:solidFill>
              <a:srgbClr val="EBE8F0"/>
            </a:solidFill>
            <a:prstDash val="solid"/>
          </a:ln>
        </p:spPr>
      </p:sp>
      <p:sp>
        <p:nvSpPr>
          <p:cNvPr id="5" name="Shape 3"/>
          <p:cNvSpPr/>
          <p:nvPr/>
        </p:nvSpPr>
        <p:spPr>
          <a:xfrm>
            <a:off x="2054352" y="2240280"/>
            <a:ext cx="502920" cy="502920"/>
          </a:xfrm>
          <a:prstGeom prst="ellipse">
            <a:avLst/>
          </a:prstGeom>
          <a:solidFill>
            <a:srgbClr val="DC2626"/>
          </a:solidFill>
          <a:ln/>
        </p:spPr>
      </p:sp>
      <p:sp>
        <p:nvSpPr>
          <p:cNvPr id="6" name="Shape 4"/>
          <p:cNvSpPr/>
          <p:nvPr/>
        </p:nvSpPr>
        <p:spPr>
          <a:xfrm rot="2700000">
            <a:off x="2289216" y="2381098"/>
            <a:ext cx="33193" cy="221285"/>
          </a:xfrm>
          <a:prstGeom prst="rect">
            <a:avLst/>
          </a:prstGeom>
          <a:solidFill>
            <a:srgbClr val="FFFFFF"/>
          </a:solidFill>
          <a:ln/>
        </p:spPr>
      </p:sp>
      <p:sp>
        <p:nvSpPr>
          <p:cNvPr id="7" name="Shape 5"/>
          <p:cNvSpPr/>
          <p:nvPr/>
        </p:nvSpPr>
        <p:spPr>
          <a:xfrm rot="-2700000">
            <a:off x="2289216" y="2381098"/>
            <a:ext cx="33193" cy="221285"/>
          </a:xfrm>
          <a:prstGeom prst="rect">
            <a:avLst/>
          </a:prstGeom>
          <a:solidFill>
            <a:srgbClr val="FFFFFF"/>
          </a:solidFill>
          <a:ln/>
        </p:spPr>
      </p:sp>
      <p:sp>
        <p:nvSpPr>
          <p:cNvPr id="8" name="Text 6"/>
          <p:cNvSpPr/>
          <p:nvPr/>
        </p:nvSpPr>
        <p:spPr>
          <a:xfrm>
            <a:off x="685800" y="2926080"/>
            <a:ext cx="3240024" cy="274320"/>
          </a:xfrm>
          <a:prstGeom prst="rect">
            <a:avLst/>
          </a:prstGeom>
          <a:noFill/>
          <a:ln/>
        </p:spPr>
        <p:txBody>
          <a:bodyPr wrap="square" rtlCol="0" anchor="ctr"/>
          <a:lstStyle/>
          <a:p>
            <a:pPr algn="ctr" indent="0" marL="0">
              <a:buNone/>
            </a:pPr>
            <a:r>
              <a:rPr lang="en-US" sz="1300" b="1" dirty="0">
                <a:solidFill>
                  <a:srgbClr val="1A1A2E"/>
                </a:solidFill>
                <a:latin typeface="Poppins" pitchFamily="34" charset="0"/>
                <a:ea typeface="Poppins" pitchFamily="34" charset="-122"/>
                <a:cs typeface="Poppins" pitchFamily="34" charset="-120"/>
              </a:rPr>
              <a:t>No grouping</a:t>
            </a:r>
            <a:endParaRPr lang="en-US" sz="1300" dirty="0"/>
          </a:p>
        </p:txBody>
      </p:sp>
      <p:sp>
        <p:nvSpPr>
          <p:cNvPr id="9" name="Text 7"/>
          <p:cNvSpPr/>
          <p:nvPr/>
        </p:nvSpPr>
        <p:spPr>
          <a:xfrm>
            <a:off x="685800" y="3291840"/>
            <a:ext cx="3240024" cy="1371600"/>
          </a:xfrm>
          <a:prstGeom prst="rect">
            <a:avLst/>
          </a:prstGeom>
          <a:noFill/>
          <a:ln/>
        </p:spPr>
        <p:txBody>
          <a:bodyPr wrap="square" rtlCol="0" anchor="t"/>
          <a:lstStyle/>
          <a:p>
            <a:pPr indent="0" marL="0">
              <a:lnSpc>
                <a:spcPct val="150000"/>
              </a:lnSpc>
              <a:buNone/>
            </a:pPr>
            <a:r>
              <a:rPr lang="en-US" sz="1100" dirty="0">
                <a:solidFill>
                  <a:srgbClr val="666666"/>
                </a:solidFill>
                <a:latin typeface="Poppins" pitchFamily="34" charset="0"/>
                <a:ea typeface="Poppins" pitchFamily="34" charset="-122"/>
                <a:cs typeface="Poppins" pitchFamily="34" charset="-120"/>
              </a:rPr>
              <a:t>Context switches after every case. Gambling → pharma → counterfeit → gambling again. Mental context rebuilt from zero each time.</a:t>
            </a:r>
            <a:endParaRPr lang="en-US" sz="1100" dirty="0"/>
          </a:p>
        </p:txBody>
      </p:sp>
      <p:sp>
        <p:nvSpPr>
          <p:cNvPr id="10" name="Shape 8"/>
          <p:cNvSpPr/>
          <p:nvPr/>
        </p:nvSpPr>
        <p:spPr>
          <a:xfrm>
            <a:off x="4291584" y="2011680"/>
            <a:ext cx="3605784" cy="2743200"/>
          </a:xfrm>
          <a:prstGeom prst="roundRect">
            <a:avLst>
              <a:gd name="adj" fmla="val 2667"/>
            </a:avLst>
          </a:prstGeom>
          <a:solidFill>
            <a:srgbClr val="FFFFFF"/>
          </a:solidFill>
          <a:ln w="6350">
            <a:solidFill>
              <a:srgbClr val="EBE8F0"/>
            </a:solidFill>
            <a:prstDash val="solid"/>
          </a:ln>
        </p:spPr>
      </p:sp>
      <p:sp>
        <p:nvSpPr>
          <p:cNvPr id="11" name="Shape 9"/>
          <p:cNvSpPr/>
          <p:nvPr/>
        </p:nvSpPr>
        <p:spPr>
          <a:xfrm>
            <a:off x="5843016" y="2240280"/>
            <a:ext cx="502920" cy="502920"/>
          </a:xfrm>
          <a:prstGeom prst="ellipse">
            <a:avLst/>
          </a:prstGeom>
          <a:solidFill>
            <a:srgbClr val="D97706"/>
          </a:solidFill>
          <a:ln/>
        </p:spPr>
      </p:sp>
      <p:sp>
        <p:nvSpPr>
          <p:cNvPr id="12" name="Shape 10"/>
          <p:cNvSpPr/>
          <p:nvPr/>
        </p:nvSpPr>
        <p:spPr>
          <a:xfrm>
            <a:off x="6003950" y="2378583"/>
            <a:ext cx="181051" cy="226314"/>
          </a:xfrm>
          <a:prstGeom prst="rect">
            <a:avLst>
              <a:gd name="adj" fmla="val 5051"/>
            </a:avLst>
          </a:prstGeom>
          <a:solidFill>
            <a:srgbClr val="FFFFFF"/>
          </a:solidFill>
          <a:ln/>
        </p:spPr>
      </p:sp>
      <p:sp>
        <p:nvSpPr>
          <p:cNvPr id="13" name="Shape 11"/>
          <p:cNvSpPr/>
          <p:nvPr/>
        </p:nvSpPr>
        <p:spPr>
          <a:xfrm>
            <a:off x="6049213" y="2416302"/>
            <a:ext cx="90526" cy="15088"/>
          </a:xfrm>
          <a:prstGeom prst="rect">
            <a:avLst/>
          </a:prstGeom>
          <a:solidFill>
            <a:srgbClr val="D97706"/>
          </a:solidFill>
          <a:ln/>
        </p:spPr>
      </p:sp>
      <p:sp>
        <p:nvSpPr>
          <p:cNvPr id="14" name="Shape 12"/>
          <p:cNvSpPr/>
          <p:nvPr/>
        </p:nvSpPr>
        <p:spPr>
          <a:xfrm>
            <a:off x="6049213" y="2484196"/>
            <a:ext cx="90526" cy="15088"/>
          </a:xfrm>
          <a:prstGeom prst="rect">
            <a:avLst/>
          </a:prstGeom>
          <a:solidFill>
            <a:srgbClr val="D97706"/>
          </a:solidFill>
          <a:ln/>
        </p:spPr>
      </p:sp>
      <p:sp>
        <p:nvSpPr>
          <p:cNvPr id="15" name="Shape 13"/>
          <p:cNvSpPr/>
          <p:nvPr/>
        </p:nvSpPr>
        <p:spPr>
          <a:xfrm>
            <a:off x="6049213" y="2552090"/>
            <a:ext cx="90526" cy="15088"/>
          </a:xfrm>
          <a:prstGeom prst="rect">
            <a:avLst/>
          </a:prstGeom>
          <a:solidFill>
            <a:srgbClr val="D97706"/>
          </a:solidFill>
          <a:ln/>
        </p:spPr>
      </p:sp>
      <p:sp>
        <p:nvSpPr>
          <p:cNvPr id="16" name="Text 14"/>
          <p:cNvSpPr/>
          <p:nvPr/>
        </p:nvSpPr>
        <p:spPr>
          <a:xfrm>
            <a:off x="4474464" y="2926080"/>
            <a:ext cx="3240024" cy="274320"/>
          </a:xfrm>
          <a:prstGeom prst="rect">
            <a:avLst/>
          </a:prstGeom>
          <a:noFill/>
          <a:ln/>
        </p:spPr>
        <p:txBody>
          <a:bodyPr wrap="square" rtlCol="0" anchor="ctr"/>
          <a:lstStyle/>
          <a:p>
            <a:pPr algn="ctr" indent="0" marL="0">
              <a:buNone/>
            </a:pPr>
            <a:r>
              <a:rPr lang="en-US" sz="1300" b="1" dirty="0">
                <a:solidFill>
                  <a:srgbClr val="1A1A2E"/>
                </a:solidFill>
                <a:latin typeface="Poppins" pitchFamily="34" charset="0"/>
                <a:ea typeface="Poppins" pitchFamily="34" charset="-122"/>
                <a:cs typeface="Poppins" pitchFamily="34" charset="-120"/>
              </a:rPr>
              <a:t>No checklist</a:t>
            </a:r>
            <a:endParaRPr lang="en-US" sz="1300" dirty="0"/>
          </a:p>
        </p:txBody>
      </p:sp>
      <p:sp>
        <p:nvSpPr>
          <p:cNvPr id="17" name="Text 15"/>
          <p:cNvSpPr/>
          <p:nvPr/>
        </p:nvSpPr>
        <p:spPr>
          <a:xfrm>
            <a:off x="4474464" y="3291840"/>
            <a:ext cx="3240024" cy="1371600"/>
          </a:xfrm>
          <a:prstGeom prst="rect">
            <a:avLst/>
          </a:prstGeom>
          <a:noFill/>
          <a:ln/>
        </p:spPr>
        <p:txBody>
          <a:bodyPr wrap="square" rtlCol="0" anchor="t"/>
          <a:lstStyle/>
          <a:p>
            <a:pPr indent="0" marL="0">
              <a:lnSpc>
                <a:spcPct val="150000"/>
              </a:lnSpc>
              <a:buNone/>
            </a:pPr>
            <a:r>
              <a:rPr lang="en-US" sz="1100" dirty="0">
                <a:solidFill>
                  <a:srgbClr val="666666"/>
                </a:solidFill>
                <a:latin typeface="Poppins" pitchFamily="34" charset="0"/>
                <a:ea typeface="Poppins" pitchFamily="34" charset="-122"/>
                <a:cs typeface="Poppins" pitchFamily="34" charset="-120"/>
              </a:rPr>
              <a:t>Investigation logic rebuilt from scratch every time. The analyst must recall the right policy clause and figure out what to check internally.</a:t>
            </a:r>
            <a:endParaRPr lang="en-US" sz="1100" dirty="0"/>
          </a:p>
        </p:txBody>
      </p:sp>
      <p:sp>
        <p:nvSpPr>
          <p:cNvPr id="18" name="Shape 16"/>
          <p:cNvSpPr/>
          <p:nvPr/>
        </p:nvSpPr>
        <p:spPr>
          <a:xfrm>
            <a:off x="8080248" y="2011680"/>
            <a:ext cx="3605784" cy="2743200"/>
          </a:xfrm>
          <a:prstGeom prst="roundRect">
            <a:avLst>
              <a:gd name="adj" fmla="val 2667"/>
            </a:avLst>
          </a:prstGeom>
          <a:solidFill>
            <a:srgbClr val="FFFFFF"/>
          </a:solidFill>
          <a:ln w="6350">
            <a:solidFill>
              <a:srgbClr val="EBE8F0"/>
            </a:solidFill>
            <a:prstDash val="solid"/>
          </a:ln>
        </p:spPr>
      </p:sp>
      <p:sp>
        <p:nvSpPr>
          <p:cNvPr id="19" name="Shape 17"/>
          <p:cNvSpPr/>
          <p:nvPr/>
        </p:nvSpPr>
        <p:spPr>
          <a:xfrm>
            <a:off x="9631680" y="2240280"/>
            <a:ext cx="502920" cy="502920"/>
          </a:xfrm>
          <a:prstGeom prst="ellipse">
            <a:avLst/>
          </a:prstGeom>
          <a:solidFill>
            <a:srgbClr val="7C3AED"/>
          </a:solidFill>
          <a:ln/>
        </p:spPr>
      </p:sp>
      <p:sp>
        <p:nvSpPr>
          <p:cNvPr id="20" name="Shape 18"/>
          <p:cNvSpPr/>
          <p:nvPr/>
        </p:nvSpPr>
        <p:spPr>
          <a:xfrm>
            <a:off x="9812731" y="2391156"/>
            <a:ext cx="140818" cy="201168"/>
          </a:xfrm>
          <a:prstGeom prst="rect">
            <a:avLst>
              <a:gd name="adj" fmla="val 6493"/>
            </a:avLst>
          </a:prstGeom>
          <a:solidFill>
            <a:srgbClr val="FFFFFF"/>
          </a:solidFill>
          <a:ln/>
        </p:spPr>
      </p:sp>
      <p:sp>
        <p:nvSpPr>
          <p:cNvPr id="21" name="Text 19"/>
          <p:cNvSpPr/>
          <p:nvPr/>
        </p:nvSpPr>
        <p:spPr>
          <a:xfrm>
            <a:off x="8263128" y="2926080"/>
            <a:ext cx="3240024" cy="274320"/>
          </a:xfrm>
          <a:prstGeom prst="rect">
            <a:avLst/>
          </a:prstGeom>
          <a:noFill/>
          <a:ln/>
        </p:spPr>
        <p:txBody>
          <a:bodyPr wrap="square" rtlCol="0" anchor="ctr"/>
          <a:lstStyle/>
          <a:p>
            <a:pPr algn="ctr" indent="0" marL="0">
              <a:buNone/>
            </a:pPr>
            <a:r>
              <a:rPr lang="en-US" sz="1300" b="1" dirty="0">
                <a:solidFill>
                  <a:srgbClr val="1A1A2E"/>
                </a:solidFill>
                <a:latin typeface="Poppins" pitchFamily="34" charset="0"/>
                <a:ea typeface="Poppins" pitchFamily="34" charset="-122"/>
                <a:cs typeface="Poppins" pitchFamily="34" charset="-120"/>
              </a:rPr>
              <a:t>No context</a:t>
            </a:r>
            <a:endParaRPr lang="en-US" sz="1300" dirty="0"/>
          </a:p>
        </p:txBody>
      </p:sp>
      <p:sp>
        <p:nvSpPr>
          <p:cNvPr id="22" name="Text 20"/>
          <p:cNvSpPr/>
          <p:nvPr/>
        </p:nvSpPr>
        <p:spPr>
          <a:xfrm>
            <a:off x="8263128" y="3291840"/>
            <a:ext cx="3240024" cy="1371600"/>
          </a:xfrm>
          <a:prstGeom prst="rect">
            <a:avLst/>
          </a:prstGeom>
          <a:noFill/>
          <a:ln/>
        </p:spPr>
        <p:txBody>
          <a:bodyPr wrap="square" rtlCol="0" anchor="t"/>
          <a:lstStyle/>
          <a:p>
            <a:pPr indent="0" marL="0">
              <a:lnSpc>
                <a:spcPct val="150000"/>
              </a:lnSpc>
              <a:buNone/>
            </a:pPr>
            <a:r>
              <a:rPr lang="en-US" sz="1100" dirty="0">
                <a:solidFill>
                  <a:srgbClr val="666666"/>
                </a:solidFill>
                <a:latin typeface="Poppins" pitchFamily="34" charset="0"/>
                <a:ea typeface="Poppins" pitchFamily="34" charset="-122"/>
                <a:cs typeface="Poppins" pitchFamily="34" charset="-120"/>
              </a:rPr>
              <a:t>Merchant history pulled manually from 3+ tools every single case. Nothing is pre-assembled.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502920"/>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Group by type. Load context once. </a:t>
            </a:r>
            <a:pPr indent="0" marL="0">
              <a:buNone/>
            </a:pPr>
            <a:r>
              <a:rPr lang="en-US" sz="3800" b="1" dirty="0">
                <a:solidFill>
                  <a:srgbClr val="0D9488"/>
                </a:solidFill>
                <a:latin typeface="Poppins" pitchFamily="34" charset="0"/>
                <a:ea typeface="Poppins" pitchFamily="34" charset="-122"/>
                <a:cs typeface="Poppins" pitchFamily="34" charset="-120"/>
              </a:rPr>
              <a:t>Work the batch.</a:t>
            </a:r>
            <a:endParaRPr lang="en-US" sz="3800" dirty="0"/>
          </a:p>
        </p:txBody>
      </p:sp>
      <p:sp>
        <p:nvSpPr>
          <p:cNvPr id="3" name="Shape 1"/>
          <p:cNvSpPr/>
          <p:nvPr/>
        </p:nvSpPr>
        <p:spPr>
          <a:xfrm>
            <a:off x="502920" y="1097280"/>
            <a:ext cx="731520" cy="201168"/>
          </a:xfrm>
          <a:prstGeom prst="roundRect">
            <a:avLst>
              <a:gd name="adj" fmla="val 22727"/>
            </a:avLst>
          </a:prstGeom>
          <a:solidFill>
            <a:srgbClr val="FDE8E8"/>
          </a:solidFill>
          <a:ln/>
        </p:spPr>
      </p:sp>
      <p:sp>
        <p:nvSpPr>
          <p:cNvPr id="4" name="Text 2"/>
          <p:cNvSpPr/>
          <p:nvPr/>
        </p:nvSpPr>
        <p:spPr>
          <a:xfrm>
            <a:off x="502920" y="1097280"/>
            <a:ext cx="731520" cy="201168"/>
          </a:xfrm>
          <a:prstGeom prst="rect">
            <a:avLst/>
          </a:prstGeom>
          <a:noFill/>
          <a:ln/>
        </p:spPr>
        <p:txBody>
          <a:bodyPr wrap="square" rtlCol="0" anchor="ctr"/>
          <a:lstStyle/>
          <a:p>
            <a:pPr algn="ctr" indent="0" marL="0">
              <a:buNone/>
            </a:pPr>
            <a:r>
              <a:rPr lang="en-US" sz="800" b="1" dirty="0">
                <a:solidFill>
                  <a:srgbClr val="DC2626"/>
                </a:solidFill>
                <a:latin typeface="Poppins" pitchFamily="34" charset="0"/>
                <a:ea typeface="Poppins" pitchFamily="34" charset="-122"/>
                <a:cs typeface="Poppins" pitchFamily="34" charset="-120"/>
              </a:rPr>
              <a:t>BEFORE</a:t>
            </a:r>
            <a:endParaRPr lang="en-US" sz="800" dirty="0"/>
          </a:p>
        </p:txBody>
      </p:sp>
      <p:sp>
        <p:nvSpPr>
          <p:cNvPr id="5" name="Shape 3"/>
          <p:cNvSpPr/>
          <p:nvPr/>
        </p:nvSpPr>
        <p:spPr>
          <a:xfrm>
            <a:off x="502920" y="1371600"/>
            <a:ext cx="4937760" cy="3108960"/>
          </a:xfrm>
          <a:prstGeom prst="roundRect">
            <a:avLst>
              <a:gd name="adj" fmla="val 2353"/>
            </a:avLst>
          </a:prstGeom>
          <a:solidFill>
            <a:srgbClr val="FFFFFF"/>
          </a:solidFill>
          <a:ln w="6350">
            <a:solidFill>
              <a:srgbClr val="EBE8F0"/>
            </a:solidFill>
            <a:prstDash val="solid"/>
          </a:ln>
        </p:spPr>
      </p:sp>
      <p:sp>
        <p:nvSpPr>
          <p:cNvPr id="6" name="Shape 4"/>
          <p:cNvSpPr/>
          <p:nvPr/>
        </p:nvSpPr>
        <p:spPr>
          <a:xfrm>
            <a:off x="502920" y="1371600"/>
            <a:ext cx="54864" cy="3108960"/>
          </a:xfrm>
          <a:prstGeom prst="rect">
            <a:avLst/>
          </a:prstGeom>
          <a:solidFill>
            <a:srgbClr val="DC2626"/>
          </a:solidFill>
          <a:ln/>
        </p:spPr>
      </p:sp>
      <p:sp>
        <p:nvSpPr>
          <p:cNvPr id="7" name="Text 5"/>
          <p:cNvSpPr/>
          <p:nvPr/>
        </p:nvSpPr>
        <p:spPr>
          <a:xfrm>
            <a:off x="731520" y="1554480"/>
            <a:ext cx="4480560" cy="274320"/>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betwin365.com</a:t>
            </a:r>
            <a:endParaRPr lang="en-US" sz="1200" dirty="0"/>
          </a:p>
        </p:txBody>
      </p:sp>
      <p:sp>
        <p:nvSpPr>
          <p:cNvPr id="8" name="Text 6"/>
          <p:cNvSpPr/>
          <p:nvPr/>
        </p:nvSpPr>
        <p:spPr>
          <a:xfrm>
            <a:off x="731520" y="1920240"/>
            <a:ext cx="4480560" cy="274320"/>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pharmadir.com</a:t>
            </a:r>
            <a:endParaRPr lang="en-US" sz="1200" dirty="0"/>
          </a:p>
        </p:txBody>
      </p:sp>
      <p:sp>
        <p:nvSpPr>
          <p:cNvPr id="9" name="Text 7"/>
          <p:cNvSpPr/>
          <p:nvPr/>
        </p:nvSpPr>
        <p:spPr>
          <a:xfrm>
            <a:off x="731520" y="2286000"/>
            <a:ext cx="4480560" cy="274320"/>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luxreplica.co</a:t>
            </a:r>
            <a:endParaRPr lang="en-US" sz="1200" dirty="0"/>
          </a:p>
        </p:txBody>
      </p:sp>
      <p:sp>
        <p:nvSpPr>
          <p:cNvPr id="10" name="Text 8"/>
          <p:cNvSpPr/>
          <p:nvPr/>
        </p:nvSpPr>
        <p:spPr>
          <a:xfrm>
            <a:off x="731520" y="2651760"/>
            <a:ext cx="4480560" cy="274320"/>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jackpotstore.io</a:t>
            </a:r>
            <a:endParaRPr lang="en-US" sz="1200" dirty="0"/>
          </a:p>
        </p:txBody>
      </p:sp>
      <p:sp>
        <p:nvSpPr>
          <p:cNvPr id="11" name="Text 9"/>
          <p:cNvSpPr/>
          <p:nvPr/>
        </p:nvSpPr>
        <p:spPr>
          <a:xfrm>
            <a:off x="731520" y="3017520"/>
            <a:ext cx="4480560" cy="274320"/>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cleanmeds.co</a:t>
            </a:r>
            <a:endParaRPr lang="en-US" sz="1200" dirty="0"/>
          </a:p>
        </p:txBody>
      </p:sp>
      <p:sp>
        <p:nvSpPr>
          <p:cNvPr id="12" name="Text 10"/>
          <p:cNvSpPr/>
          <p:nvPr/>
        </p:nvSpPr>
        <p:spPr>
          <a:xfrm>
            <a:off x="731520" y="3383280"/>
            <a:ext cx="4480560" cy="274320"/>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sportzgear.com</a:t>
            </a:r>
            <a:endParaRPr lang="en-US" sz="1200" dirty="0"/>
          </a:p>
        </p:txBody>
      </p:sp>
      <p:sp>
        <p:nvSpPr>
          <p:cNvPr id="13" name="Text 11"/>
          <p:cNvSpPr/>
          <p:nvPr/>
        </p:nvSpPr>
        <p:spPr>
          <a:xfrm>
            <a:off x="731520" y="3931920"/>
            <a:ext cx="4480560" cy="274320"/>
          </a:xfrm>
          <a:prstGeom prst="rect">
            <a:avLst/>
          </a:prstGeom>
          <a:noFill/>
          <a:ln/>
        </p:spPr>
        <p:txBody>
          <a:bodyPr wrap="square" rtlCol="0" anchor="ctr"/>
          <a:lstStyle/>
          <a:p>
            <a:pPr indent="0" marL="0">
              <a:buNone/>
            </a:pPr>
            <a:r>
              <a:rPr lang="en-US" sz="1000" i="1" dirty="0">
                <a:solidFill>
                  <a:srgbClr val="666666"/>
                </a:solidFill>
                <a:latin typeface="Poppins" pitchFamily="34" charset="0"/>
                <a:ea typeface="Poppins" pitchFamily="34" charset="-122"/>
                <a:cs typeface="Poppins" pitchFamily="34" charset="-120"/>
              </a:rPr>
              <a:t>random list, no structure</a:t>
            </a:r>
            <a:endParaRPr lang="en-US" sz="1000" dirty="0"/>
          </a:p>
        </p:txBody>
      </p:sp>
      <p:sp>
        <p:nvSpPr>
          <p:cNvPr id="14" name="Shape 12"/>
          <p:cNvSpPr/>
          <p:nvPr/>
        </p:nvSpPr>
        <p:spPr>
          <a:xfrm>
            <a:off x="5760720" y="2743200"/>
            <a:ext cx="548640" cy="274320"/>
          </a:xfrm>
          <a:prstGeom prst="rightArrow">
            <a:avLst/>
          </a:prstGeom>
          <a:solidFill>
            <a:srgbClr val="0D9488"/>
          </a:solidFill>
          <a:ln/>
        </p:spPr>
      </p:sp>
      <p:sp>
        <p:nvSpPr>
          <p:cNvPr id="15" name="Shape 13"/>
          <p:cNvSpPr/>
          <p:nvPr/>
        </p:nvSpPr>
        <p:spPr>
          <a:xfrm>
            <a:off x="6748272" y="1097280"/>
            <a:ext cx="640080" cy="201168"/>
          </a:xfrm>
          <a:prstGeom prst="roundRect">
            <a:avLst>
              <a:gd name="adj" fmla="val 22727"/>
            </a:avLst>
          </a:prstGeom>
          <a:solidFill>
            <a:srgbClr val="E6F5F0"/>
          </a:solidFill>
          <a:ln/>
        </p:spPr>
      </p:sp>
      <p:sp>
        <p:nvSpPr>
          <p:cNvPr id="16" name="Text 14"/>
          <p:cNvSpPr/>
          <p:nvPr/>
        </p:nvSpPr>
        <p:spPr>
          <a:xfrm>
            <a:off x="6748272" y="1097280"/>
            <a:ext cx="640080" cy="201168"/>
          </a:xfrm>
          <a:prstGeom prst="rect">
            <a:avLst/>
          </a:prstGeom>
          <a:noFill/>
          <a:ln/>
        </p:spPr>
        <p:txBody>
          <a:bodyPr wrap="square" rtlCol="0" anchor="ctr"/>
          <a:lstStyle/>
          <a:p>
            <a:pPr algn="ctr" indent="0" marL="0">
              <a:buNone/>
            </a:pPr>
            <a:r>
              <a:rPr lang="en-US" sz="800" b="1" dirty="0">
                <a:solidFill>
                  <a:srgbClr val="0D9488"/>
                </a:solidFill>
                <a:latin typeface="Poppins" pitchFamily="34" charset="0"/>
                <a:ea typeface="Poppins" pitchFamily="34" charset="-122"/>
                <a:cs typeface="Poppins" pitchFamily="34" charset="-120"/>
              </a:rPr>
              <a:t>AFTER</a:t>
            </a:r>
            <a:endParaRPr lang="en-US" sz="800" dirty="0"/>
          </a:p>
        </p:txBody>
      </p:sp>
      <p:sp>
        <p:nvSpPr>
          <p:cNvPr id="17" name="Shape 15"/>
          <p:cNvSpPr/>
          <p:nvPr/>
        </p:nvSpPr>
        <p:spPr>
          <a:xfrm>
            <a:off x="6748272" y="1371600"/>
            <a:ext cx="4937760" cy="3108960"/>
          </a:xfrm>
          <a:prstGeom prst="roundRect">
            <a:avLst>
              <a:gd name="adj" fmla="val 2353"/>
            </a:avLst>
          </a:prstGeom>
          <a:solidFill>
            <a:srgbClr val="FFFFFF"/>
          </a:solidFill>
          <a:ln w="6350">
            <a:solidFill>
              <a:srgbClr val="EBE8F0"/>
            </a:solidFill>
            <a:prstDash val="solid"/>
          </a:ln>
        </p:spPr>
      </p:sp>
      <p:sp>
        <p:nvSpPr>
          <p:cNvPr id="18" name="Shape 16"/>
          <p:cNvSpPr/>
          <p:nvPr/>
        </p:nvSpPr>
        <p:spPr>
          <a:xfrm>
            <a:off x="6748272" y="1371600"/>
            <a:ext cx="54864" cy="3108960"/>
          </a:xfrm>
          <a:prstGeom prst="rect">
            <a:avLst/>
          </a:prstGeom>
          <a:solidFill>
            <a:srgbClr val="0D9488"/>
          </a:solidFill>
          <a:ln/>
        </p:spPr>
      </p:sp>
      <p:sp>
        <p:nvSpPr>
          <p:cNvPr id="19" name="Shape 17"/>
          <p:cNvSpPr/>
          <p:nvPr/>
        </p:nvSpPr>
        <p:spPr>
          <a:xfrm>
            <a:off x="6976872" y="1645920"/>
            <a:ext cx="1280160" cy="201168"/>
          </a:xfrm>
          <a:prstGeom prst="roundRect">
            <a:avLst>
              <a:gd name="adj" fmla="val 22727"/>
            </a:avLst>
          </a:prstGeom>
          <a:solidFill>
            <a:srgbClr val="FEF3C7"/>
          </a:solidFill>
          <a:ln/>
        </p:spPr>
      </p:sp>
      <p:sp>
        <p:nvSpPr>
          <p:cNvPr id="20" name="Text 18"/>
          <p:cNvSpPr/>
          <p:nvPr/>
        </p:nvSpPr>
        <p:spPr>
          <a:xfrm>
            <a:off x="6976872" y="1645920"/>
            <a:ext cx="1280160" cy="201168"/>
          </a:xfrm>
          <a:prstGeom prst="rect">
            <a:avLst/>
          </a:prstGeom>
          <a:noFill/>
          <a:ln/>
        </p:spPr>
        <p:txBody>
          <a:bodyPr wrap="square" rtlCol="0" anchor="ctr"/>
          <a:lstStyle/>
          <a:p>
            <a:pPr algn="ctr" indent="0" marL="0">
              <a:buNone/>
            </a:pPr>
            <a:r>
              <a:rPr lang="en-US" sz="800" b="1" dirty="0">
                <a:solidFill>
                  <a:srgbClr val="D97706"/>
                </a:solidFill>
                <a:latin typeface="Poppins" pitchFamily="34" charset="0"/>
                <a:ea typeface="Poppins" pitchFamily="34" charset="-122"/>
                <a:cs typeface="Poppins" pitchFamily="34" charset="-120"/>
              </a:rPr>
              <a:t>Gambling (2)</a:t>
            </a:r>
            <a:endParaRPr lang="en-US" sz="800" dirty="0"/>
          </a:p>
        </p:txBody>
      </p:sp>
      <p:sp>
        <p:nvSpPr>
          <p:cNvPr id="21" name="Text 19"/>
          <p:cNvSpPr/>
          <p:nvPr/>
        </p:nvSpPr>
        <p:spPr>
          <a:xfrm>
            <a:off x="8394192" y="1645920"/>
            <a:ext cx="2926080" cy="201168"/>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same checklist</a:t>
            </a:r>
            <a:endParaRPr lang="en-US" sz="1100" dirty="0"/>
          </a:p>
        </p:txBody>
      </p:sp>
      <p:sp>
        <p:nvSpPr>
          <p:cNvPr id="22" name="Shape 20"/>
          <p:cNvSpPr/>
          <p:nvPr/>
        </p:nvSpPr>
        <p:spPr>
          <a:xfrm>
            <a:off x="6976872" y="2331720"/>
            <a:ext cx="1280160" cy="201168"/>
          </a:xfrm>
          <a:prstGeom prst="roundRect">
            <a:avLst>
              <a:gd name="adj" fmla="val 22727"/>
            </a:avLst>
          </a:prstGeom>
          <a:solidFill>
            <a:srgbClr val="EBE8F0"/>
          </a:solidFill>
          <a:ln/>
        </p:spPr>
      </p:sp>
      <p:sp>
        <p:nvSpPr>
          <p:cNvPr id="23" name="Text 21"/>
          <p:cNvSpPr/>
          <p:nvPr/>
        </p:nvSpPr>
        <p:spPr>
          <a:xfrm>
            <a:off x="6976872" y="2331720"/>
            <a:ext cx="1280160" cy="201168"/>
          </a:xfrm>
          <a:prstGeom prst="rect">
            <a:avLst/>
          </a:prstGeom>
          <a:noFill/>
          <a:ln/>
        </p:spPr>
        <p:txBody>
          <a:bodyPr wrap="square" rtlCol="0" anchor="ctr"/>
          <a:lstStyle/>
          <a:p>
            <a:pPr algn="ctr" indent="0" marL="0">
              <a:buNone/>
            </a:pPr>
            <a:r>
              <a:rPr lang="en-US" sz="800" b="1" dirty="0">
                <a:solidFill>
                  <a:srgbClr val="7C3AED"/>
                </a:solidFill>
                <a:latin typeface="Poppins" pitchFamily="34" charset="0"/>
                <a:ea typeface="Poppins" pitchFamily="34" charset="-122"/>
                <a:cs typeface="Poppins" pitchFamily="34" charset="-120"/>
              </a:rPr>
              <a:t>Prescription (2)</a:t>
            </a:r>
            <a:endParaRPr lang="en-US" sz="800" dirty="0"/>
          </a:p>
        </p:txBody>
      </p:sp>
      <p:sp>
        <p:nvSpPr>
          <p:cNvPr id="24" name="Text 22"/>
          <p:cNvSpPr/>
          <p:nvPr/>
        </p:nvSpPr>
        <p:spPr>
          <a:xfrm>
            <a:off x="8394192" y="2331720"/>
            <a:ext cx="2926080" cy="201168"/>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context once</a:t>
            </a:r>
            <a:endParaRPr lang="en-US" sz="1100" dirty="0"/>
          </a:p>
        </p:txBody>
      </p:sp>
      <p:sp>
        <p:nvSpPr>
          <p:cNvPr id="25" name="Shape 23"/>
          <p:cNvSpPr/>
          <p:nvPr/>
        </p:nvSpPr>
        <p:spPr>
          <a:xfrm>
            <a:off x="6976872" y="3017520"/>
            <a:ext cx="1280160" cy="201168"/>
          </a:xfrm>
          <a:prstGeom prst="roundRect">
            <a:avLst>
              <a:gd name="adj" fmla="val 22727"/>
            </a:avLst>
          </a:prstGeom>
          <a:solidFill>
            <a:srgbClr val="E6F5F0"/>
          </a:solidFill>
          <a:ln/>
        </p:spPr>
      </p:sp>
      <p:sp>
        <p:nvSpPr>
          <p:cNvPr id="26" name="Text 24"/>
          <p:cNvSpPr/>
          <p:nvPr/>
        </p:nvSpPr>
        <p:spPr>
          <a:xfrm>
            <a:off x="6976872" y="3017520"/>
            <a:ext cx="1280160" cy="201168"/>
          </a:xfrm>
          <a:prstGeom prst="rect">
            <a:avLst/>
          </a:prstGeom>
          <a:noFill/>
          <a:ln/>
        </p:spPr>
        <p:txBody>
          <a:bodyPr wrap="square" rtlCol="0" anchor="ctr"/>
          <a:lstStyle/>
          <a:p>
            <a:pPr algn="ctr" indent="0" marL="0">
              <a:buNone/>
            </a:pPr>
            <a:r>
              <a:rPr lang="en-US" sz="800" b="1" dirty="0">
                <a:solidFill>
                  <a:srgbClr val="0D9488"/>
                </a:solidFill>
                <a:latin typeface="Poppins" pitchFamily="34" charset="0"/>
                <a:ea typeface="Poppins" pitchFamily="34" charset="-122"/>
                <a:cs typeface="Poppins" pitchFamily="34" charset="-120"/>
              </a:rPr>
              <a:t>Counterfeit (2)</a:t>
            </a:r>
            <a:endParaRPr lang="en-US" sz="800" dirty="0"/>
          </a:p>
        </p:txBody>
      </p:sp>
      <p:sp>
        <p:nvSpPr>
          <p:cNvPr id="27" name="Text 25"/>
          <p:cNvSpPr/>
          <p:nvPr/>
        </p:nvSpPr>
        <p:spPr>
          <a:xfrm>
            <a:off x="8394192" y="3017520"/>
            <a:ext cx="2926080" cy="201168"/>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context once</a:t>
            </a:r>
            <a:endParaRPr lang="en-US" sz="1100" dirty="0"/>
          </a:p>
        </p:txBody>
      </p:sp>
      <p:sp>
        <p:nvSpPr>
          <p:cNvPr id="28" name="Shape 26"/>
          <p:cNvSpPr/>
          <p:nvPr/>
        </p:nvSpPr>
        <p:spPr>
          <a:xfrm>
            <a:off x="6748272" y="4663440"/>
            <a:ext cx="4937760" cy="594360"/>
          </a:xfrm>
          <a:prstGeom prst="roundRect">
            <a:avLst>
              <a:gd name="adj" fmla="val 6154"/>
            </a:avLst>
          </a:prstGeom>
          <a:solidFill>
            <a:srgbClr val="E6F5F0"/>
          </a:solidFill>
          <a:ln/>
        </p:spPr>
      </p:sp>
      <p:sp>
        <p:nvSpPr>
          <p:cNvPr id="29" name="Text 27"/>
          <p:cNvSpPr/>
          <p:nvPr/>
        </p:nvSpPr>
        <p:spPr>
          <a:xfrm>
            <a:off x="6885432" y="4663440"/>
            <a:ext cx="4663440" cy="594360"/>
          </a:xfrm>
          <a:prstGeom prst="rect">
            <a:avLst/>
          </a:prstGeom>
          <a:noFill/>
          <a:ln/>
        </p:spPr>
        <p:txBody>
          <a:bodyPr wrap="square" rtlCol="0" anchor="ctr"/>
          <a:lstStyle/>
          <a:p>
            <a:pPr indent="0" marL="0">
              <a:buNone/>
            </a:pPr>
            <a:r>
              <a:rPr lang="en-US" sz="1100" b="1" i="1" dirty="0">
                <a:solidFill>
                  <a:srgbClr val="0D9488"/>
                </a:solidFill>
                <a:latin typeface="Poppins" pitchFamily="34" charset="0"/>
                <a:ea typeface="Poppins" pitchFamily="34" charset="-122"/>
                <a:cs typeface="Poppins" pitchFamily="34" charset="-120"/>
              </a:rPr>
              <a:t>The analyst becomes a violation-type expert for the session — instead of starting cold on every alert.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ALTERNATIVES CONSIDERED</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Three paths. </a:t>
            </a:r>
            <a:pPr indent="0" marL="0">
              <a:buNone/>
            </a:pPr>
            <a:r>
              <a:rPr lang="en-US" sz="3800" b="1" dirty="0">
                <a:solidFill>
                  <a:srgbClr val="7C3AED"/>
                </a:solidFill>
                <a:latin typeface="Poppins" pitchFamily="34" charset="0"/>
                <a:ea typeface="Poppins" pitchFamily="34" charset="-122"/>
                <a:cs typeface="Poppins" pitchFamily="34" charset="-120"/>
              </a:rPr>
              <a:t>One recommendation.</a:t>
            </a:r>
            <a:endParaRPr lang="en-US" sz="3800" dirty="0"/>
          </a:p>
        </p:txBody>
      </p:sp>
      <p:sp>
        <p:nvSpPr>
          <p:cNvPr id="4" name="Shape 2"/>
          <p:cNvSpPr/>
          <p:nvPr/>
        </p:nvSpPr>
        <p:spPr>
          <a:xfrm>
            <a:off x="502920" y="1325880"/>
            <a:ext cx="10789920" cy="1325880"/>
          </a:xfrm>
          <a:prstGeom prst="roundRect">
            <a:avLst>
              <a:gd name="adj" fmla="val 5517"/>
            </a:avLst>
          </a:prstGeom>
          <a:solidFill>
            <a:srgbClr val="FFFFFF"/>
          </a:solidFill>
          <a:ln w="6350">
            <a:solidFill>
              <a:srgbClr val="EBE8F0"/>
            </a:solidFill>
            <a:prstDash val="solid"/>
          </a:ln>
        </p:spPr>
      </p:sp>
      <p:sp>
        <p:nvSpPr>
          <p:cNvPr id="5" name="Shape 3"/>
          <p:cNvSpPr/>
          <p:nvPr/>
        </p:nvSpPr>
        <p:spPr>
          <a:xfrm>
            <a:off x="502920" y="1325880"/>
            <a:ext cx="548640" cy="1325880"/>
          </a:xfrm>
          <a:prstGeom prst="rect">
            <a:avLst/>
          </a:prstGeom>
          <a:solidFill>
            <a:srgbClr val="DC2626"/>
          </a:solidFill>
          <a:ln/>
        </p:spPr>
      </p:sp>
      <p:sp>
        <p:nvSpPr>
          <p:cNvPr id="6" name="Shape 4"/>
          <p:cNvSpPr/>
          <p:nvPr/>
        </p:nvSpPr>
        <p:spPr>
          <a:xfrm>
            <a:off x="594360" y="1805940"/>
            <a:ext cx="365760" cy="365760"/>
          </a:xfrm>
          <a:prstGeom prst="ellipse">
            <a:avLst/>
          </a:prstGeom>
          <a:solidFill>
            <a:srgbClr val="DC2626"/>
          </a:solidFill>
          <a:ln/>
        </p:spPr>
      </p:sp>
      <p:sp>
        <p:nvSpPr>
          <p:cNvPr id="7" name="Shape 5"/>
          <p:cNvSpPr/>
          <p:nvPr/>
        </p:nvSpPr>
        <p:spPr>
          <a:xfrm rot="2700000">
            <a:off x="765170" y="1908353"/>
            <a:ext cx="24140" cy="160934"/>
          </a:xfrm>
          <a:prstGeom prst="rect">
            <a:avLst/>
          </a:prstGeom>
          <a:solidFill>
            <a:srgbClr val="FFFFFF"/>
          </a:solidFill>
          <a:ln/>
        </p:spPr>
      </p:sp>
      <p:sp>
        <p:nvSpPr>
          <p:cNvPr id="8" name="Shape 6"/>
          <p:cNvSpPr/>
          <p:nvPr/>
        </p:nvSpPr>
        <p:spPr>
          <a:xfrm rot="-2700000">
            <a:off x="765170" y="1908353"/>
            <a:ext cx="24140" cy="160934"/>
          </a:xfrm>
          <a:prstGeom prst="rect">
            <a:avLst/>
          </a:prstGeom>
          <a:solidFill>
            <a:srgbClr val="FFFFFF"/>
          </a:solidFill>
          <a:ln/>
        </p:spPr>
      </p:sp>
      <p:sp>
        <p:nvSpPr>
          <p:cNvPr id="9" name="Text 7"/>
          <p:cNvSpPr/>
          <p:nvPr/>
        </p:nvSpPr>
        <p:spPr>
          <a:xfrm>
            <a:off x="1234440" y="1417320"/>
            <a:ext cx="4572000" cy="256032"/>
          </a:xfrm>
          <a:prstGeom prst="rect">
            <a:avLst/>
          </a:prstGeom>
          <a:noFill/>
          <a:ln/>
        </p:spPr>
        <p:txBody>
          <a:bodyPr wrap="square" rtlCol="0" anchor="ctr"/>
          <a:lstStyle/>
          <a:p>
            <a:pPr indent="0" marL="0">
              <a:buNone/>
            </a:pPr>
            <a:r>
              <a:rPr lang="en-US" sz="1300" b="1" dirty="0">
                <a:solidFill>
                  <a:srgbClr val="1A1A2E"/>
                </a:solidFill>
                <a:latin typeface="Poppins" pitchFamily="34" charset="0"/>
                <a:ea typeface="Poppins" pitchFamily="34" charset="-122"/>
                <a:cs typeface="Poppins" pitchFamily="34" charset="-120"/>
              </a:rPr>
              <a:t>Automate Investigation</a:t>
            </a:r>
            <a:endParaRPr lang="en-US" sz="1300" dirty="0"/>
          </a:p>
        </p:txBody>
      </p:sp>
      <p:sp>
        <p:nvSpPr>
          <p:cNvPr id="10" name="Text 8"/>
          <p:cNvSpPr/>
          <p:nvPr/>
        </p:nvSpPr>
        <p:spPr>
          <a:xfrm>
            <a:off x="1234440" y="1691640"/>
            <a:ext cx="8412480" cy="274320"/>
          </a:xfrm>
          <a:prstGeom prst="rect">
            <a:avLst/>
          </a:prstGeom>
          <a:noFill/>
          <a:ln/>
        </p:spPr>
        <p:txBody>
          <a:bodyPr wrap="square" rtlCol="0" anchor="ctr"/>
          <a:lstStyle/>
          <a:p>
            <a:pPr indent="0" marL="0">
              <a:buNone/>
            </a:pPr>
            <a:r>
              <a:rPr lang="en-US" sz="1000" dirty="0">
                <a:solidFill>
                  <a:srgbClr val="666666"/>
                </a:solidFill>
                <a:latin typeface="Poppins" pitchFamily="34" charset="0"/>
                <a:ea typeface="Poppins" pitchFamily="34" charset="-122"/>
                <a:cs typeface="Poppins" pitchFamily="34" charset="-120"/>
              </a:rPr>
              <a:t>× Security boundary: banks will not allow third-party access to internal transaction data — full stop.</a:t>
            </a:r>
            <a:endParaRPr lang="en-US" sz="1000" dirty="0"/>
          </a:p>
        </p:txBody>
      </p:sp>
      <p:sp>
        <p:nvSpPr>
          <p:cNvPr id="11" name="Text 9"/>
          <p:cNvSpPr/>
          <p:nvPr/>
        </p:nvSpPr>
        <p:spPr>
          <a:xfrm>
            <a:off x="1234440" y="1965960"/>
            <a:ext cx="8412480" cy="274320"/>
          </a:xfrm>
          <a:prstGeom prst="rect">
            <a:avLst/>
          </a:prstGeom>
          <a:noFill/>
          <a:ln/>
        </p:spPr>
        <p:txBody>
          <a:bodyPr wrap="square" rtlCol="0" anchor="ctr"/>
          <a:lstStyle/>
          <a:p>
            <a:pPr indent="0" marL="0">
              <a:buNone/>
            </a:pPr>
            <a:r>
              <a:rPr lang="en-US" sz="1000" dirty="0">
                <a:solidFill>
                  <a:srgbClr val="666666"/>
                </a:solidFill>
                <a:latin typeface="Poppins" pitchFamily="34" charset="0"/>
                <a:ea typeface="Poppins" pitchFamily="34" charset="-122"/>
                <a:cs typeface="Poppins" pitchFamily="34" charset="-120"/>
              </a:rPr>
              <a:t>× Legal liability: customer is legally liable for decisions made about their merchants. Automation removes required human sign-off.</a:t>
            </a:r>
            <a:endParaRPr lang="en-US" sz="1000" dirty="0"/>
          </a:p>
        </p:txBody>
      </p:sp>
      <p:sp>
        <p:nvSpPr>
          <p:cNvPr id="12" name="Text 10"/>
          <p:cNvSpPr/>
          <p:nvPr/>
        </p:nvSpPr>
        <p:spPr>
          <a:xfrm>
            <a:off x="1234440" y="2240280"/>
            <a:ext cx="8412480" cy="274320"/>
          </a:xfrm>
          <a:prstGeom prst="rect">
            <a:avLst/>
          </a:prstGeom>
          <a:noFill/>
          <a:ln/>
        </p:spPr>
        <p:txBody>
          <a:bodyPr wrap="square" rtlCol="0" anchor="ctr"/>
          <a:lstStyle/>
          <a:p>
            <a:pPr indent="0" marL="0">
              <a:buNone/>
            </a:pPr>
            <a:r>
              <a:rPr lang="en-US" sz="1000" dirty="0">
                <a:solidFill>
                  <a:srgbClr val="666666"/>
                </a:solidFill>
                <a:latin typeface="Poppins" pitchFamily="34" charset="0"/>
                <a:ea typeface="Poppins" pitchFamily="34" charset="-122"/>
                <a:cs typeface="Poppins" pitchFamily="34" charset="-120"/>
              </a:rPr>
              <a:t>× Wrong problem: removes humans from the loop instead of making human review faster and better.</a:t>
            </a:r>
            <a:endParaRPr lang="en-US" sz="1000" dirty="0"/>
          </a:p>
        </p:txBody>
      </p:sp>
      <p:sp>
        <p:nvSpPr>
          <p:cNvPr id="13" name="Shape 11"/>
          <p:cNvSpPr/>
          <p:nvPr/>
        </p:nvSpPr>
        <p:spPr>
          <a:xfrm>
            <a:off x="9738360" y="1417320"/>
            <a:ext cx="1371600" cy="201168"/>
          </a:xfrm>
          <a:prstGeom prst="roundRect">
            <a:avLst>
              <a:gd name="adj" fmla="val 22727"/>
            </a:avLst>
          </a:prstGeom>
          <a:solidFill>
            <a:srgbClr val="FDE8E8"/>
          </a:solidFill>
          <a:ln/>
        </p:spPr>
      </p:sp>
      <p:sp>
        <p:nvSpPr>
          <p:cNvPr id="14" name="Text 12"/>
          <p:cNvSpPr/>
          <p:nvPr/>
        </p:nvSpPr>
        <p:spPr>
          <a:xfrm>
            <a:off x="9738360" y="1417320"/>
            <a:ext cx="1371600" cy="201168"/>
          </a:xfrm>
          <a:prstGeom prst="rect">
            <a:avLst/>
          </a:prstGeom>
          <a:noFill/>
          <a:ln/>
        </p:spPr>
        <p:txBody>
          <a:bodyPr wrap="square" rtlCol="0" anchor="ctr"/>
          <a:lstStyle/>
          <a:p>
            <a:pPr algn="ctr" indent="0" marL="0">
              <a:buNone/>
            </a:pPr>
            <a:r>
              <a:rPr lang="en-US" sz="800" b="1" dirty="0">
                <a:solidFill>
                  <a:srgbClr val="DC2626"/>
                </a:solidFill>
                <a:latin typeface="Poppins" pitchFamily="34" charset="0"/>
                <a:ea typeface="Poppins" pitchFamily="34" charset="-122"/>
                <a:cs typeface="Poppins" pitchFamily="34" charset="-120"/>
              </a:rPr>
              <a:t>REJECTED</a:t>
            </a:r>
            <a:endParaRPr lang="en-US" sz="800" dirty="0"/>
          </a:p>
        </p:txBody>
      </p:sp>
      <p:sp>
        <p:nvSpPr>
          <p:cNvPr id="15" name="Shape 13"/>
          <p:cNvSpPr/>
          <p:nvPr/>
        </p:nvSpPr>
        <p:spPr>
          <a:xfrm>
            <a:off x="502920" y="2761488"/>
            <a:ext cx="10789920" cy="1325880"/>
          </a:xfrm>
          <a:prstGeom prst="roundRect">
            <a:avLst>
              <a:gd name="adj" fmla="val 5517"/>
            </a:avLst>
          </a:prstGeom>
          <a:solidFill>
            <a:srgbClr val="FFFFFF"/>
          </a:solidFill>
          <a:ln w="6350">
            <a:solidFill>
              <a:srgbClr val="EBE8F0"/>
            </a:solidFill>
            <a:prstDash val="solid"/>
          </a:ln>
        </p:spPr>
      </p:sp>
      <p:sp>
        <p:nvSpPr>
          <p:cNvPr id="16" name="Shape 14"/>
          <p:cNvSpPr/>
          <p:nvPr/>
        </p:nvSpPr>
        <p:spPr>
          <a:xfrm>
            <a:off x="502920" y="2761488"/>
            <a:ext cx="548640" cy="1325880"/>
          </a:xfrm>
          <a:prstGeom prst="rect">
            <a:avLst/>
          </a:prstGeom>
          <a:solidFill>
            <a:srgbClr val="D97706"/>
          </a:solidFill>
          <a:ln/>
        </p:spPr>
      </p:sp>
      <p:sp>
        <p:nvSpPr>
          <p:cNvPr id="17" name="Shape 15"/>
          <p:cNvSpPr/>
          <p:nvPr/>
        </p:nvSpPr>
        <p:spPr>
          <a:xfrm>
            <a:off x="594360" y="3241548"/>
            <a:ext cx="365760" cy="365760"/>
          </a:xfrm>
          <a:prstGeom prst="ellipse">
            <a:avLst/>
          </a:prstGeom>
          <a:solidFill>
            <a:srgbClr val="D97706"/>
          </a:solidFill>
          <a:ln/>
        </p:spPr>
      </p:sp>
      <p:sp>
        <p:nvSpPr>
          <p:cNvPr id="18" name="Shape 16"/>
          <p:cNvSpPr/>
          <p:nvPr/>
        </p:nvSpPr>
        <p:spPr>
          <a:xfrm>
            <a:off x="765170" y="3360054"/>
            <a:ext cx="24140" cy="128748"/>
          </a:xfrm>
          <a:prstGeom prst="rect">
            <a:avLst/>
          </a:prstGeom>
          <a:solidFill>
            <a:srgbClr val="FFFFFF"/>
          </a:solidFill>
          <a:ln/>
        </p:spPr>
      </p:sp>
      <p:sp>
        <p:nvSpPr>
          <p:cNvPr id="19" name="Shape 17"/>
          <p:cNvSpPr/>
          <p:nvPr/>
        </p:nvSpPr>
        <p:spPr>
          <a:xfrm>
            <a:off x="712866" y="3412358"/>
            <a:ext cx="128748" cy="24140"/>
          </a:xfrm>
          <a:prstGeom prst="rect">
            <a:avLst/>
          </a:prstGeom>
          <a:solidFill>
            <a:srgbClr val="FFFFFF"/>
          </a:solidFill>
          <a:ln/>
        </p:spPr>
      </p:sp>
      <p:sp>
        <p:nvSpPr>
          <p:cNvPr id="20" name="Text 18"/>
          <p:cNvSpPr/>
          <p:nvPr/>
        </p:nvSpPr>
        <p:spPr>
          <a:xfrm>
            <a:off x="1234440" y="2852928"/>
            <a:ext cx="4572000" cy="256032"/>
          </a:xfrm>
          <a:prstGeom prst="rect">
            <a:avLst/>
          </a:prstGeom>
          <a:noFill/>
          <a:ln/>
        </p:spPr>
        <p:txBody>
          <a:bodyPr wrap="square" rtlCol="0" anchor="ctr"/>
          <a:lstStyle/>
          <a:p>
            <a:pPr indent="0" marL="0">
              <a:buNone/>
            </a:pPr>
            <a:r>
              <a:rPr lang="en-US" sz="1300" b="1" dirty="0">
                <a:solidFill>
                  <a:srgbClr val="1A1A2E"/>
                </a:solidFill>
                <a:latin typeface="Poppins" pitchFamily="34" charset="0"/>
                <a:ea typeface="Poppins" pitchFamily="34" charset="-122"/>
                <a:cs typeface="Poppins" pitchFamily="34" charset="-120"/>
              </a:rPr>
              <a:t>Risk-Based Monitoring Tiers</a:t>
            </a:r>
            <a:endParaRPr lang="en-US" sz="1300" dirty="0"/>
          </a:p>
        </p:txBody>
      </p:sp>
      <p:sp>
        <p:nvSpPr>
          <p:cNvPr id="21" name="Text 19"/>
          <p:cNvSpPr/>
          <p:nvPr/>
        </p:nvSpPr>
        <p:spPr>
          <a:xfrm>
            <a:off x="1234440" y="3127248"/>
            <a:ext cx="8412480" cy="274320"/>
          </a:xfrm>
          <a:prstGeom prst="rect">
            <a:avLst/>
          </a:prstGeom>
          <a:noFill/>
          <a:ln/>
        </p:spPr>
        <p:txBody>
          <a:bodyPr wrap="square" rtlCol="0" anchor="ctr"/>
          <a:lstStyle/>
          <a:p>
            <a:pPr indent="0" marL="0">
              <a:buNone/>
            </a:pPr>
            <a:r>
              <a:rPr lang="en-US" sz="1000" dirty="0">
                <a:solidFill>
                  <a:srgbClr val="666666"/>
                </a:solidFill>
                <a:latin typeface="Poppins" pitchFamily="34" charset="0"/>
                <a:ea typeface="Poppins" pitchFamily="34" charset="-122"/>
                <a:cs typeface="Poppins" pitchFamily="34" charset="-120"/>
              </a:rPr>
              <a:t>+ Reduces alert volume at source — fewer alerts enter the system</a:t>
            </a:r>
            <a:endParaRPr lang="en-US" sz="1000" dirty="0"/>
          </a:p>
        </p:txBody>
      </p:sp>
      <p:sp>
        <p:nvSpPr>
          <p:cNvPr id="22" name="Text 20"/>
          <p:cNvSpPr/>
          <p:nvPr/>
        </p:nvSpPr>
        <p:spPr>
          <a:xfrm>
            <a:off x="1234440" y="3401568"/>
            <a:ext cx="8412480" cy="274320"/>
          </a:xfrm>
          <a:prstGeom prst="rect">
            <a:avLst/>
          </a:prstGeom>
          <a:noFill/>
          <a:ln/>
        </p:spPr>
        <p:txBody>
          <a:bodyPr wrap="square" rtlCol="0" anchor="ctr"/>
          <a:lstStyle/>
          <a:p>
            <a:pPr indent="0" marL="0">
              <a:buNone/>
            </a:pPr>
            <a:r>
              <a:rPr lang="en-US" sz="1000" dirty="0">
                <a:solidFill>
                  <a:srgbClr val="666666"/>
                </a:solidFill>
                <a:latin typeface="Poppins" pitchFamily="34" charset="0"/>
                <a:ea typeface="Poppins" pitchFamily="34" charset="-122"/>
                <a:cs typeface="Poppins" pitchFamily="34" charset="-120"/>
              </a:rPr>
              <a:t>– Reduces count, not per-case effort: each alert still takes 40–60 min regardless</a:t>
            </a:r>
            <a:endParaRPr lang="en-US" sz="1000" dirty="0"/>
          </a:p>
        </p:txBody>
      </p:sp>
      <p:sp>
        <p:nvSpPr>
          <p:cNvPr id="23" name="Text 21"/>
          <p:cNvSpPr/>
          <p:nvPr/>
        </p:nvSpPr>
        <p:spPr>
          <a:xfrm>
            <a:off x="1234440" y="3675888"/>
            <a:ext cx="8412480" cy="274320"/>
          </a:xfrm>
          <a:prstGeom prst="rect">
            <a:avLst/>
          </a:prstGeom>
          <a:noFill/>
          <a:ln/>
        </p:spPr>
        <p:txBody>
          <a:bodyPr wrap="square" rtlCol="0" anchor="ctr"/>
          <a:lstStyle/>
          <a:p>
            <a:pPr indent="0" marL="0">
              <a:buNone/>
            </a:pPr>
            <a:r>
              <a:rPr lang="en-US" sz="1000" dirty="0">
                <a:solidFill>
                  <a:srgbClr val="666666"/>
                </a:solidFill>
                <a:latin typeface="Poppins" pitchFamily="34" charset="0"/>
                <a:ea typeface="Poppins" pitchFamily="34" charset="-122"/>
                <a:cs typeface="Poppins" pitchFamily="34" charset="-120"/>
              </a:rPr>
              <a:t>→ Deploy as second layer once Co-Pilot proves workflow efficiency. Sequence matters.</a:t>
            </a:r>
            <a:endParaRPr lang="en-US" sz="1000" dirty="0"/>
          </a:p>
        </p:txBody>
      </p:sp>
      <p:sp>
        <p:nvSpPr>
          <p:cNvPr id="24" name="Shape 22"/>
          <p:cNvSpPr/>
          <p:nvPr/>
        </p:nvSpPr>
        <p:spPr>
          <a:xfrm>
            <a:off x="9738360" y="2852928"/>
            <a:ext cx="1371600" cy="201168"/>
          </a:xfrm>
          <a:prstGeom prst="roundRect">
            <a:avLst>
              <a:gd name="adj" fmla="val 22727"/>
            </a:avLst>
          </a:prstGeom>
          <a:solidFill>
            <a:srgbClr val="FEF3C7"/>
          </a:solidFill>
          <a:ln/>
        </p:spPr>
      </p:sp>
      <p:sp>
        <p:nvSpPr>
          <p:cNvPr id="25" name="Text 23"/>
          <p:cNvSpPr/>
          <p:nvPr/>
        </p:nvSpPr>
        <p:spPr>
          <a:xfrm>
            <a:off x="9738360" y="2852928"/>
            <a:ext cx="1371600" cy="201168"/>
          </a:xfrm>
          <a:prstGeom prst="rect">
            <a:avLst/>
          </a:prstGeom>
          <a:noFill/>
          <a:ln/>
        </p:spPr>
        <p:txBody>
          <a:bodyPr wrap="square" rtlCol="0" anchor="ctr"/>
          <a:lstStyle/>
          <a:p>
            <a:pPr algn="ctr" indent="0" marL="0">
              <a:buNone/>
            </a:pPr>
            <a:r>
              <a:rPr lang="en-US" sz="800" b="1" dirty="0">
                <a:solidFill>
                  <a:srgbClr val="D97706"/>
                </a:solidFill>
                <a:latin typeface="Poppins" pitchFamily="34" charset="0"/>
                <a:ea typeface="Poppins" pitchFamily="34" charset="-122"/>
                <a:cs typeface="Poppins" pitchFamily="34" charset="-120"/>
              </a:rPr>
              <a:t>COMPLEMENTARY</a:t>
            </a:r>
            <a:endParaRPr lang="en-US" sz="800" dirty="0"/>
          </a:p>
        </p:txBody>
      </p:sp>
      <p:sp>
        <p:nvSpPr>
          <p:cNvPr id="26" name="Shape 24"/>
          <p:cNvSpPr/>
          <p:nvPr/>
        </p:nvSpPr>
        <p:spPr>
          <a:xfrm>
            <a:off x="502920" y="4197096"/>
            <a:ext cx="10789920" cy="1325880"/>
          </a:xfrm>
          <a:prstGeom prst="roundRect">
            <a:avLst>
              <a:gd name="adj" fmla="val 5517"/>
            </a:avLst>
          </a:prstGeom>
          <a:solidFill>
            <a:srgbClr val="E6F5F0"/>
          </a:solidFill>
          <a:ln w="6350">
            <a:solidFill>
              <a:srgbClr val="EBE8F0"/>
            </a:solidFill>
            <a:prstDash val="solid"/>
          </a:ln>
        </p:spPr>
      </p:sp>
      <p:sp>
        <p:nvSpPr>
          <p:cNvPr id="27" name="Shape 25"/>
          <p:cNvSpPr/>
          <p:nvPr/>
        </p:nvSpPr>
        <p:spPr>
          <a:xfrm>
            <a:off x="502920" y="4197096"/>
            <a:ext cx="548640" cy="1325880"/>
          </a:xfrm>
          <a:prstGeom prst="rect">
            <a:avLst/>
          </a:prstGeom>
          <a:solidFill>
            <a:srgbClr val="0D9488"/>
          </a:solidFill>
          <a:ln/>
        </p:spPr>
      </p:sp>
      <p:sp>
        <p:nvSpPr>
          <p:cNvPr id="28" name="Shape 26"/>
          <p:cNvSpPr/>
          <p:nvPr/>
        </p:nvSpPr>
        <p:spPr>
          <a:xfrm>
            <a:off x="594360" y="4677156"/>
            <a:ext cx="365760" cy="365760"/>
          </a:xfrm>
          <a:prstGeom prst="ellipse">
            <a:avLst/>
          </a:prstGeom>
          <a:solidFill>
            <a:srgbClr val="0D9488"/>
          </a:solidFill>
          <a:ln/>
        </p:spPr>
      </p:sp>
      <p:sp>
        <p:nvSpPr>
          <p:cNvPr id="29" name="Shape 27"/>
          <p:cNvSpPr/>
          <p:nvPr/>
        </p:nvSpPr>
        <p:spPr>
          <a:xfrm rot="-2400000">
            <a:off x="724571" y="4846869"/>
            <a:ext cx="98755" cy="26335"/>
          </a:xfrm>
          <a:prstGeom prst="rect">
            <a:avLst/>
          </a:prstGeom>
          <a:solidFill>
            <a:srgbClr val="FFFFFF"/>
          </a:solidFill>
          <a:ln/>
        </p:spPr>
      </p:sp>
      <p:sp>
        <p:nvSpPr>
          <p:cNvPr id="30" name="Shape 28"/>
          <p:cNvSpPr/>
          <p:nvPr/>
        </p:nvSpPr>
        <p:spPr>
          <a:xfrm rot="1200000">
            <a:off x="770656" y="4800783"/>
            <a:ext cx="26335" cy="118506"/>
          </a:xfrm>
          <a:prstGeom prst="rect">
            <a:avLst/>
          </a:prstGeom>
          <a:solidFill>
            <a:srgbClr val="FFFFFF"/>
          </a:solidFill>
          <a:ln/>
        </p:spPr>
      </p:sp>
      <p:sp>
        <p:nvSpPr>
          <p:cNvPr id="31" name="Text 29"/>
          <p:cNvSpPr/>
          <p:nvPr/>
        </p:nvSpPr>
        <p:spPr>
          <a:xfrm>
            <a:off x="1234440" y="4288536"/>
            <a:ext cx="4572000" cy="256032"/>
          </a:xfrm>
          <a:prstGeom prst="rect">
            <a:avLst/>
          </a:prstGeom>
          <a:noFill/>
          <a:ln/>
        </p:spPr>
        <p:txBody>
          <a:bodyPr wrap="square" rtlCol="0" anchor="ctr"/>
          <a:lstStyle/>
          <a:p>
            <a:pPr indent="0" marL="0">
              <a:buNone/>
            </a:pPr>
            <a:r>
              <a:rPr lang="en-US" sz="1300" b="1" dirty="0">
                <a:solidFill>
                  <a:srgbClr val="1A1A2E"/>
                </a:solidFill>
                <a:latin typeface="Poppins" pitchFamily="34" charset="0"/>
                <a:ea typeface="Poppins" pitchFamily="34" charset="-122"/>
                <a:cs typeface="Poppins" pitchFamily="34" charset="-120"/>
              </a:rPr>
              <a:t>Merchant Risk Co-Pilot</a:t>
            </a:r>
            <a:endParaRPr lang="en-US" sz="1300" dirty="0"/>
          </a:p>
        </p:txBody>
      </p:sp>
      <p:sp>
        <p:nvSpPr>
          <p:cNvPr id="32" name="Text 30"/>
          <p:cNvSpPr/>
          <p:nvPr/>
        </p:nvSpPr>
        <p:spPr>
          <a:xfrm>
            <a:off x="1234440" y="4562856"/>
            <a:ext cx="8412480" cy="274320"/>
          </a:xfrm>
          <a:prstGeom prst="rect">
            <a:avLst/>
          </a:prstGeom>
          <a:noFill/>
          <a:ln/>
        </p:spPr>
        <p:txBody>
          <a:bodyPr wrap="square" rtlCol="0" anchor="ctr"/>
          <a:lstStyle/>
          <a:p>
            <a:pPr indent="0" marL="0">
              <a:buNone/>
            </a:pPr>
            <a:r>
              <a:rPr lang="en-US" sz="1000" dirty="0">
                <a:solidFill>
                  <a:srgbClr val="666666"/>
                </a:solidFill>
                <a:latin typeface="Poppins" pitchFamily="34" charset="0"/>
                <a:ea typeface="Poppins" pitchFamily="34" charset="-122"/>
                <a:cs typeface="Poppins" pitchFamily="34" charset="-120"/>
              </a:rPr>
              <a:t>✓ Attacks root cause: structural mismatch and blank-slate context</a:t>
            </a:r>
            <a:endParaRPr lang="en-US" sz="1000" dirty="0"/>
          </a:p>
        </p:txBody>
      </p:sp>
      <p:sp>
        <p:nvSpPr>
          <p:cNvPr id="33" name="Text 31"/>
          <p:cNvSpPr/>
          <p:nvPr/>
        </p:nvSpPr>
        <p:spPr>
          <a:xfrm>
            <a:off x="1234440" y="4837176"/>
            <a:ext cx="8412480" cy="274320"/>
          </a:xfrm>
          <a:prstGeom prst="rect">
            <a:avLst/>
          </a:prstGeom>
          <a:noFill/>
          <a:ln/>
        </p:spPr>
        <p:txBody>
          <a:bodyPr wrap="square" rtlCol="0" anchor="ctr"/>
          <a:lstStyle/>
          <a:p>
            <a:pPr indent="0" marL="0">
              <a:buNone/>
            </a:pPr>
            <a:r>
              <a:rPr lang="en-US" sz="1000" dirty="0">
                <a:solidFill>
                  <a:srgbClr val="666666"/>
                </a:solidFill>
                <a:latin typeface="Poppins" pitchFamily="34" charset="0"/>
                <a:ea typeface="Poppins" pitchFamily="34" charset="-122"/>
                <a:cs typeface="Poppins" pitchFamily="34" charset="-120"/>
              </a:rPr>
              <a:t>✓ Scales as software — no headcount required on G2RS or customer side</a:t>
            </a:r>
            <a:endParaRPr lang="en-US" sz="1000" dirty="0"/>
          </a:p>
        </p:txBody>
      </p:sp>
      <p:sp>
        <p:nvSpPr>
          <p:cNvPr id="34" name="Text 32"/>
          <p:cNvSpPr/>
          <p:nvPr/>
        </p:nvSpPr>
        <p:spPr>
          <a:xfrm>
            <a:off x="1234440" y="5111496"/>
            <a:ext cx="8412480" cy="274320"/>
          </a:xfrm>
          <a:prstGeom prst="rect">
            <a:avLst/>
          </a:prstGeom>
          <a:noFill/>
          <a:ln/>
        </p:spPr>
        <p:txBody>
          <a:bodyPr wrap="square" rtlCol="0" anchor="ctr"/>
          <a:lstStyle/>
          <a:p>
            <a:pPr indent="0" marL="0">
              <a:buNone/>
            </a:pPr>
            <a:r>
              <a:rPr lang="en-US" sz="1000" dirty="0">
                <a:solidFill>
                  <a:srgbClr val="666666"/>
                </a:solidFill>
                <a:latin typeface="Poppins" pitchFamily="34" charset="0"/>
                <a:ea typeface="Poppins" pitchFamily="34" charset="-122"/>
                <a:cs typeface="Poppins" pitchFamily="34" charset="-120"/>
              </a:rPr>
              <a:t>✓ Respects the data boundary entirely — guides analysts, never accesses internal data</a:t>
            </a:r>
            <a:endParaRPr lang="en-US" sz="1000" dirty="0"/>
          </a:p>
        </p:txBody>
      </p:sp>
      <p:sp>
        <p:nvSpPr>
          <p:cNvPr id="35" name="Shape 33"/>
          <p:cNvSpPr/>
          <p:nvPr/>
        </p:nvSpPr>
        <p:spPr>
          <a:xfrm>
            <a:off x="9738360" y="4288536"/>
            <a:ext cx="1371600" cy="201168"/>
          </a:xfrm>
          <a:prstGeom prst="roundRect">
            <a:avLst>
              <a:gd name="adj" fmla="val 22727"/>
            </a:avLst>
          </a:prstGeom>
          <a:solidFill>
            <a:srgbClr val="E6F5F0"/>
          </a:solidFill>
          <a:ln/>
        </p:spPr>
      </p:sp>
      <p:sp>
        <p:nvSpPr>
          <p:cNvPr id="36" name="Text 34"/>
          <p:cNvSpPr/>
          <p:nvPr/>
        </p:nvSpPr>
        <p:spPr>
          <a:xfrm>
            <a:off x="9738360" y="4288536"/>
            <a:ext cx="1371600" cy="201168"/>
          </a:xfrm>
          <a:prstGeom prst="rect">
            <a:avLst/>
          </a:prstGeom>
          <a:noFill/>
          <a:ln/>
        </p:spPr>
        <p:txBody>
          <a:bodyPr wrap="square" rtlCol="0" anchor="ctr"/>
          <a:lstStyle/>
          <a:p>
            <a:pPr algn="ctr" indent="0" marL="0">
              <a:buNone/>
            </a:pPr>
            <a:r>
              <a:rPr lang="en-US" sz="800" b="1" dirty="0">
                <a:solidFill>
                  <a:srgbClr val="0D9488"/>
                </a:solidFill>
                <a:latin typeface="Poppins" pitchFamily="34" charset="0"/>
                <a:ea typeface="Poppins" pitchFamily="34" charset="-122"/>
                <a:cs typeface="Poppins" pitchFamily="34" charset="-120"/>
              </a:rPr>
              <a:t>CHOSEN ✓</a:t>
            </a:r>
            <a:endParaRPr lang="en-US" sz="800" dirty="0"/>
          </a:p>
        </p:txBody>
      </p:sp>
      <p:sp>
        <p:nvSpPr>
          <p:cNvPr id="37" name="Shape 35"/>
          <p:cNvSpPr/>
          <p:nvPr/>
        </p:nvSpPr>
        <p:spPr>
          <a:xfrm>
            <a:off x="502920" y="5632704"/>
            <a:ext cx="10789920" cy="594360"/>
          </a:xfrm>
          <a:prstGeom prst="roundRect">
            <a:avLst>
              <a:gd name="adj" fmla="val 12308"/>
            </a:avLst>
          </a:prstGeom>
          <a:solidFill>
            <a:srgbClr val="FAF9FD"/>
          </a:solidFill>
          <a:ln w="6350">
            <a:solidFill>
              <a:srgbClr val="EBE8F0"/>
            </a:solidFill>
            <a:prstDash val="solid"/>
          </a:ln>
        </p:spPr>
      </p:sp>
      <p:sp>
        <p:nvSpPr>
          <p:cNvPr id="38" name="Text 36"/>
          <p:cNvSpPr/>
          <p:nvPr/>
        </p:nvSpPr>
        <p:spPr>
          <a:xfrm>
            <a:off x="685800" y="5632704"/>
            <a:ext cx="8778240" cy="594360"/>
          </a:xfrm>
          <a:prstGeom prst="rect">
            <a:avLst/>
          </a:prstGeom>
          <a:noFill/>
          <a:ln/>
        </p:spPr>
        <p:txBody>
          <a:bodyPr wrap="square" rtlCol="0" anchor="ctr"/>
          <a:lstStyle/>
          <a:p>
            <a:pPr indent="0" marL="0">
              <a:buNone/>
            </a:pPr>
            <a:r>
              <a:rPr lang="en-US" sz="1100" i="1" dirty="0">
                <a:solidFill>
                  <a:srgbClr val="666666"/>
                </a:solidFill>
                <a:latin typeface="Poppins" pitchFamily="34" charset="0"/>
                <a:ea typeface="Poppins" pitchFamily="34" charset="-122"/>
                <a:cs typeface="Poppins" pitchFamily="34" charset="-120"/>
              </a:rPr>
              <a:t>Why not just hire more analysts? Headcount scales linearly with alert volume. It treats the symptom, not the cause. Adding analysts does not make each investigation faster, more accurate, or SLA-compliant.</a:t>
            </a:r>
            <a:endParaRPr lang="en-US" sz="1100" dirty="0"/>
          </a:p>
        </p:txBody>
      </p:sp>
      <p:sp>
        <p:nvSpPr>
          <p:cNvPr id="39" name="Shape 37"/>
          <p:cNvSpPr/>
          <p:nvPr/>
        </p:nvSpPr>
        <p:spPr>
          <a:xfrm>
            <a:off x="9738360" y="5833872"/>
            <a:ext cx="1371600" cy="201168"/>
          </a:xfrm>
          <a:prstGeom prst="roundRect">
            <a:avLst>
              <a:gd name="adj" fmla="val 22727"/>
            </a:avLst>
          </a:prstGeom>
          <a:solidFill>
            <a:srgbClr val="EBE8F0"/>
          </a:solidFill>
          <a:ln/>
        </p:spPr>
      </p:sp>
      <p:sp>
        <p:nvSpPr>
          <p:cNvPr id="40" name="Text 38"/>
          <p:cNvSpPr/>
          <p:nvPr/>
        </p:nvSpPr>
        <p:spPr>
          <a:xfrm>
            <a:off x="9738360" y="5833872"/>
            <a:ext cx="1371600" cy="201168"/>
          </a:xfrm>
          <a:prstGeom prst="rect">
            <a:avLst/>
          </a:prstGeom>
          <a:noFill/>
          <a:ln/>
        </p:spPr>
        <p:txBody>
          <a:bodyPr wrap="square" rtlCol="0" anchor="ctr"/>
          <a:lstStyle/>
          <a:p>
            <a:pPr algn="ctr" indent="0" marL="0">
              <a:buNone/>
            </a:pPr>
            <a:r>
              <a:rPr lang="en-US" sz="800" b="1" dirty="0">
                <a:solidFill>
                  <a:srgbClr val="666666"/>
                </a:solidFill>
                <a:latin typeface="Poppins" pitchFamily="34" charset="0"/>
                <a:ea typeface="Poppins" pitchFamily="34" charset="-122"/>
                <a:cs typeface="Poppins" pitchFamily="34" charset="-120"/>
              </a:rPr>
              <a:t>ALSO REJECTED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THE SOLUTION</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Four layers. </a:t>
            </a:r>
            <a:pPr indent="0" marL="0">
              <a:buNone/>
            </a:pPr>
            <a:r>
              <a:rPr lang="en-US" sz="3800" b="1" dirty="0">
                <a:solidFill>
                  <a:srgbClr val="1A1A2E"/>
                </a:solidFill>
                <a:latin typeface="Poppins" pitchFamily="34" charset="0"/>
                <a:ea typeface="Poppins" pitchFamily="34" charset="-122"/>
                <a:cs typeface="Poppins" pitchFamily="34" charset="-120"/>
              </a:rPr>
              <a:t>Each one </a:t>
            </a:r>
            <a:pPr indent="0" marL="0">
              <a:buNone/>
            </a:pPr>
            <a:r>
              <a:rPr lang="en-US" sz="3800" b="1" dirty="0">
                <a:solidFill>
                  <a:srgbClr val="0D9488"/>
                </a:solidFill>
                <a:latin typeface="Poppins" pitchFamily="34" charset="0"/>
                <a:ea typeface="Poppins" pitchFamily="34" charset="-122"/>
                <a:cs typeface="Poppins" pitchFamily="34" charset="-120"/>
              </a:rPr>
              <a:t>compounds.</a:t>
            </a:r>
            <a:endParaRPr lang="en-US" sz="3800" dirty="0"/>
          </a:p>
        </p:txBody>
      </p:sp>
      <p:sp>
        <p:nvSpPr>
          <p:cNvPr id="4" name="Shape 2"/>
          <p:cNvSpPr/>
          <p:nvPr/>
        </p:nvSpPr>
        <p:spPr>
          <a:xfrm>
            <a:off x="502920" y="1417320"/>
            <a:ext cx="2658618" cy="3291840"/>
          </a:xfrm>
          <a:prstGeom prst="roundRect">
            <a:avLst>
              <a:gd name="adj" fmla="val 2752"/>
            </a:avLst>
          </a:prstGeom>
          <a:solidFill>
            <a:srgbClr val="FFFFFF"/>
          </a:solidFill>
          <a:ln w="6350">
            <a:solidFill>
              <a:srgbClr val="EBE8F0"/>
            </a:solidFill>
            <a:prstDash val="solid"/>
          </a:ln>
        </p:spPr>
      </p:sp>
      <p:sp>
        <p:nvSpPr>
          <p:cNvPr id="5" name="Text 3"/>
          <p:cNvSpPr/>
          <p:nvPr/>
        </p:nvSpPr>
        <p:spPr>
          <a:xfrm>
            <a:off x="502920" y="1527048"/>
            <a:ext cx="2658618" cy="182880"/>
          </a:xfrm>
          <a:prstGeom prst="rect">
            <a:avLst/>
          </a:prstGeom>
          <a:noFill/>
          <a:ln/>
        </p:spPr>
        <p:txBody>
          <a:bodyPr wrap="square" rtlCol="0" anchor="ctr"/>
          <a:lstStyle/>
          <a:p>
            <a:pPr algn="ctr" indent="0" marL="0">
              <a:buNone/>
            </a:pPr>
            <a:r>
              <a:rPr lang="en-US" sz="900" dirty="0">
                <a:solidFill>
                  <a:srgbClr val="666666"/>
                </a:solidFill>
                <a:latin typeface="Poppins" pitchFamily="34" charset="0"/>
                <a:ea typeface="Poppins" pitchFamily="34" charset="-122"/>
                <a:cs typeface="Poppins" pitchFamily="34" charset="-120"/>
              </a:rPr>
              <a:t>1</a:t>
            </a:r>
            <a:endParaRPr lang="en-US" sz="900" dirty="0"/>
          </a:p>
        </p:txBody>
      </p:sp>
      <p:sp>
        <p:nvSpPr>
          <p:cNvPr id="6" name="Shape 4"/>
          <p:cNvSpPr/>
          <p:nvPr/>
        </p:nvSpPr>
        <p:spPr>
          <a:xfrm>
            <a:off x="1557909" y="1764792"/>
            <a:ext cx="548640" cy="548640"/>
          </a:xfrm>
          <a:prstGeom prst="ellipse">
            <a:avLst/>
          </a:prstGeom>
          <a:solidFill>
            <a:srgbClr val="7C3AED"/>
          </a:solidFill>
          <a:ln/>
        </p:spPr>
      </p:sp>
      <p:sp>
        <p:nvSpPr>
          <p:cNvPr id="7" name="Shape 5"/>
          <p:cNvSpPr/>
          <p:nvPr/>
        </p:nvSpPr>
        <p:spPr>
          <a:xfrm>
            <a:off x="1675318" y="1932127"/>
            <a:ext cx="106985" cy="21397"/>
          </a:xfrm>
          <a:prstGeom prst="rect">
            <a:avLst/>
          </a:prstGeom>
          <a:solidFill>
            <a:srgbClr val="FFFFFF"/>
          </a:solidFill>
          <a:ln/>
        </p:spPr>
      </p:sp>
      <p:sp>
        <p:nvSpPr>
          <p:cNvPr id="8" name="Shape 6"/>
          <p:cNvSpPr/>
          <p:nvPr/>
        </p:nvSpPr>
        <p:spPr>
          <a:xfrm>
            <a:off x="1675318" y="2028414"/>
            <a:ext cx="106985" cy="21397"/>
          </a:xfrm>
          <a:prstGeom prst="rect">
            <a:avLst/>
          </a:prstGeom>
          <a:solidFill>
            <a:srgbClr val="FFFFFF"/>
          </a:solidFill>
          <a:ln/>
        </p:spPr>
      </p:sp>
      <p:sp>
        <p:nvSpPr>
          <p:cNvPr id="9" name="Shape 7"/>
          <p:cNvSpPr/>
          <p:nvPr/>
        </p:nvSpPr>
        <p:spPr>
          <a:xfrm>
            <a:off x="1675318" y="2124700"/>
            <a:ext cx="106985" cy="21397"/>
          </a:xfrm>
          <a:prstGeom prst="rect">
            <a:avLst/>
          </a:prstGeom>
          <a:solidFill>
            <a:srgbClr val="FFFFFF"/>
          </a:solidFill>
          <a:ln/>
        </p:spPr>
      </p:sp>
      <p:sp>
        <p:nvSpPr>
          <p:cNvPr id="10" name="Shape 8"/>
          <p:cNvSpPr/>
          <p:nvPr/>
        </p:nvSpPr>
        <p:spPr>
          <a:xfrm>
            <a:off x="1882155" y="2028414"/>
            <a:ext cx="106985" cy="21397"/>
          </a:xfrm>
          <a:prstGeom prst="rect">
            <a:avLst/>
          </a:prstGeom>
          <a:solidFill>
            <a:srgbClr val="FFFFFF"/>
          </a:solidFill>
          <a:ln/>
        </p:spPr>
      </p:sp>
      <p:sp>
        <p:nvSpPr>
          <p:cNvPr id="11" name="Text 9"/>
          <p:cNvSpPr/>
          <p:nvPr/>
        </p:nvSpPr>
        <p:spPr>
          <a:xfrm>
            <a:off x="640080" y="2423160"/>
            <a:ext cx="2384298" cy="411480"/>
          </a:xfrm>
          <a:prstGeom prst="rect">
            <a:avLst/>
          </a:prstGeom>
          <a:noFill/>
          <a:ln/>
        </p:spPr>
        <p:txBody>
          <a:bodyPr wrap="square" rtlCol="0" anchor="t"/>
          <a:lstStyle/>
          <a:p>
            <a:pPr algn="ctr" indent="0" marL="0">
              <a:buNone/>
            </a:pPr>
            <a:r>
              <a:rPr lang="en-US" sz="1400" b="1" dirty="0">
                <a:solidFill>
                  <a:srgbClr val="1A1A2E"/>
                </a:solidFill>
                <a:latin typeface="Poppins" pitchFamily="34" charset="0"/>
                <a:ea typeface="Poppins" pitchFamily="34" charset="-122"/>
                <a:cs typeface="Poppins" pitchFamily="34" charset="-120"/>
              </a:rPr>
              <a:t>Violation-type grouping</a:t>
            </a:r>
            <a:endParaRPr lang="en-US" sz="1400" dirty="0"/>
          </a:p>
        </p:txBody>
      </p:sp>
      <p:sp>
        <p:nvSpPr>
          <p:cNvPr id="12" name="Text 10"/>
          <p:cNvSpPr/>
          <p:nvPr/>
        </p:nvSpPr>
        <p:spPr>
          <a:xfrm>
            <a:off x="640080" y="2880360"/>
            <a:ext cx="2384298" cy="731520"/>
          </a:xfrm>
          <a:prstGeom prst="rect">
            <a:avLst/>
          </a:prstGeom>
          <a:noFill/>
          <a:ln/>
        </p:spPr>
        <p:txBody>
          <a:bodyPr wrap="square" rtlCol="0" anchor="ctr"/>
          <a:lstStyle/>
          <a:p>
            <a:pPr algn="ctr" indent="0" marL="0">
              <a:lnSpc>
                <a:spcPct val="150000"/>
              </a:lnSpc>
              <a:buNone/>
            </a:pPr>
            <a:r>
              <a:rPr lang="en-US" sz="1100" dirty="0">
                <a:solidFill>
                  <a:srgbClr val="666666"/>
                </a:solidFill>
                <a:latin typeface="Poppins" pitchFamily="34" charset="0"/>
                <a:ea typeface="Poppins" pitchFamily="34" charset="-122"/>
                <a:cs typeface="Poppins" pitchFamily="34" charset="-120"/>
              </a:rPr>
              <a:t>Groups 47 random alerts into batches by violation type</a:t>
            </a:r>
            <a:endParaRPr lang="en-US" sz="1100" dirty="0"/>
          </a:p>
        </p:txBody>
      </p:sp>
      <p:sp>
        <p:nvSpPr>
          <p:cNvPr id="13" name="Text 11"/>
          <p:cNvSpPr/>
          <p:nvPr/>
        </p:nvSpPr>
        <p:spPr>
          <a:xfrm>
            <a:off x="640080" y="3794760"/>
            <a:ext cx="2384298" cy="640080"/>
          </a:xfrm>
          <a:prstGeom prst="rect">
            <a:avLst/>
          </a:prstGeom>
          <a:noFill/>
          <a:ln/>
        </p:spPr>
        <p:txBody>
          <a:bodyPr wrap="square" rtlCol="0" anchor="t"/>
          <a:lstStyle/>
          <a:p>
            <a:pPr algn="ctr" indent="0" marL="0">
              <a:buNone/>
            </a:pPr>
            <a:r>
              <a:rPr lang="en-US" sz="1000" b="1" i="1" dirty="0">
                <a:solidFill>
                  <a:srgbClr val="7C3AED"/>
                </a:solidFill>
                <a:latin typeface="Poppins" pitchFamily="34" charset="0"/>
                <a:ea typeface="Poppins" pitchFamily="34" charset="-122"/>
                <a:cs typeface="Poppins" pitchFamily="34" charset="-120"/>
              </a:rPr>
              <a:t>Eliminates context switching entirely</a:t>
            </a:r>
            <a:endParaRPr lang="en-US" sz="1000" dirty="0"/>
          </a:p>
        </p:txBody>
      </p:sp>
      <p:sp>
        <p:nvSpPr>
          <p:cNvPr id="14" name="Shape 12"/>
          <p:cNvSpPr/>
          <p:nvPr/>
        </p:nvSpPr>
        <p:spPr>
          <a:xfrm>
            <a:off x="3344418" y="1417320"/>
            <a:ext cx="2658618" cy="3291840"/>
          </a:xfrm>
          <a:prstGeom prst="roundRect">
            <a:avLst>
              <a:gd name="adj" fmla="val 2752"/>
            </a:avLst>
          </a:prstGeom>
          <a:solidFill>
            <a:srgbClr val="FFFFFF"/>
          </a:solidFill>
          <a:ln w="6350">
            <a:solidFill>
              <a:srgbClr val="EBE8F0"/>
            </a:solidFill>
            <a:prstDash val="solid"/>
          </a:ln>
        </p:spPr>
      </p:sp>
      <p:sp>
        <p:nvSpPr>
          <p:cNvPr id="15" name="Text 13"/>
          <p:cNvSpPr/>
          <p:nvPr/>
        </p:nvSpPr>
        <p:spPr>
          <a:xfrm>
            <a:off x="3344418" y="1527048"/>
            <a:ext cx="2658618" cy="182880"/>
          </a:xfrm>
          <a:prstGeom prst="rect">
            <a:avLst/>
          </a:prstGeom>
          <a:noFill/>
          <a:ln/>
        </p:spPr>
        <p:txBody>
          <a:bodyPr wrap="square" rtlCol="0" anchor="ctr"/>
          <a:lstStyle/>
          <a:p>
            <a:pPr algn="ctr" indent="0" marL="0">
              <a:buNone/>
            </a:pPr>
            <a:r>
              <a:rPr lang="en-US" sz="900" dirty="0">
                <a:solidFill>
                  <a:srgbClr val="666666"/>
                </a:solidFill>
                <a:latin typeface="Poppins" pitchFamily="34" charset="0"/>
                <a:ea typeface="Poppins" pitchFamily="34" charset="-122"/>
                <a:cs typeface="Poppins" pitchFamily="34" charset="-120"/>
              </a:rPr>
              <a:t>2</a:t>
            </a:r>
            <a:endParaRPr lang="en-US" sz="900" dirty="0"/>
          </a:p>
        </p:txBody>
      </p:sp>
      <p:sp>
        <p:nvSpPr>
          <p:cNvPr id="16" name="Shape 14"/>
          <p:cNvSpPr/>
          <p:nvPr/>
        </p:nvSpPr>
        <p:spPr>
          <a:xfrm>
            <a:off x="4399407" y="1764792"/>
            <a:ext cx="548640" cy="548640"/>
          </a:xfrm>
          <a:prstGeom prst="ellipse">
            <a:avLst/>
          </a:prstGeom>
          <a:solidFill>
            <a:srgbClr val="0D9488"/>
          </a:solidFill>
          <a:ln/>
        </p:spPr>
      </p:sp>
      <p:sp>
        <p:nvSpPr>
          <p:cNvPr id="17" name="Shape 15"/>
          <p:cNvSpPr/>
          <p:nvPr/>
        </p:nvSpPr>
        <p:spPr>
          <a:xfrm>
            <a:off x="4572777" y="1924995"/>
            <a:ext cx="158008" cy="43891"/>
          </a:xfrm>
          <a:prstGeom prst="rect">
            <a:avLst>
              <a:gd name="adj" fmla="val 20833"/>
            </a:avLst>
          </a:prstGeom>
          <a:solidFill>
            <a:srgbClr val="FFFFFF"/>
          </a:solidFill>
          <a:ln/>
        </p:spPr>
      </p:sp>
      <p:sp>
        <p:nvSpPr>
          <p:cNvPr id="18" name="Shape 16"/>
          <p:cNvSpPr/>
          <p:nvPr/>
        </p:nvSpPr>
        <p:spPr>
          <a:xfrm>
            <a:off x="4585945" y="1968886"/>
            <a:ext cx="158008" cy="43891"/>
          </a:xfrm>
          <a:prstGeom prst="rect">
            <a:avLst>
              <a:gd name="adj" fmla="val 20833"/>
            </a:avLst>
          </a:prstGeom>
          <a:solidFill>
            <a:srgbClr val="FFFFFF"/>
          </a:solidFill>
          <a:ln/>
        </p:spPr>
      </p:sp>
      <p:sp>
        <p:nvSpPr>
          <p:cNvPr id="19" name="Shape 17"/>
          <p:cNvSpPr/>
          <p:nvPr/>
        </p:nvSpPr>
        <p:spPr>
          <a:xfrm>
            <a:off x="4599112" y="2012777"/>
            <a:ext cx="158008" cy="43891"/>
          </a:xfrm>
          <a:prstGeom prst="rect">
            <a:avLst>
              <a:gd name="adj" fmla="val 20833"/>
            </a:avLst>
          </a:prstGeom>
          <a:solidFill>
            <a:srgbClr val="FFFFFF"/>
          </a:solidFill>
          <a:ln/>
        </p:spPr>
      </p:sp>
      <p:sp>
        <p:nvSpPr>
          <p:cNvPr id="20" name="Text 18"/>
          <p:cNvSpPr/>
          <p:nvPr/>
        </p:nvSpPr>
        <p:spPr>
          <a:xfrm>
            <a:off x="3481578" y="2423160"/>
            <a:ext cx="2384298" cy="411480"/>
          </a:xfrm>
          <a:prstGeom prst="rect">
            <a:avLst/>
          </a:prstGeom>
          <a:noFill/>
          <a:ln/>
        </p:spPr>
        <p:txBody>
          <a:bodyPr wrap="square" rtlCol="0" anchor="t"/>
          <a:lstStyle/>
          <a:p>
            <a:pPr algn="ctr" indent="0" marL="0">
              <a:buNone/>
            </a:pPr>
            <a:r>
              <a:rPr lang="en-US" sz="1400" b="1" dirty="0">
                <a:solidFill>
                  <a:srgbClr val="1A1A2E"/>
                </a:solidFill>
                <a:latin typeface="Poppins" pitchFamily="34" charset="0"/>
                <a:ea typeface="Poppins" pitchFamily="34" charset="-122"/>
                <a:cs typeface="Poppins" pitchFamily="34" charset="-120"/>
              </a:rPr>
              <a:t>Evidence pack</a:t>
            </a:r>
            <a:endParaRPr lang="en-US" sz="1400" dirty="0"/>
          </a:p>
        </p:txBody>
      </p:sp>
      <p:sp>
        <p:nvSpPr>
          <p:cNvPr id="21" name="Text 19"/>
          <p:cNvSpPr/>
          <p:nvPr/>
        </p:nvSpPr>
        <p:spPr>
          <a:xfrm>
            <a:off x="3481578" y="2880360"/>
            <a:ext cx="2384298" cy="731520"/>
          </a:xfrm>
          <a:prstGeom prst="rect">
            <a:avLst/>
          </a:prstGeom>
          <a:noFill/>
          <a:ln/>
        </p:spPr>
        <p:txBody>
          <a:bodyPr wrap="square" rtlCol="0" anchor="ctr"/>
          <a:lstStyle/>
          <a:p>
            <a:pPr algn="ctr" indent="0" marL="0">
              <a:lnSpc>
                <a:spcPct val="150000"/>
              </a:lnSpc>
              <a:buNone/>
            </a:pPr>
            <a:r>
              <a:rPr lang="en-US" sz="1100" dirty="0">
                <a:solidFill>
                  <a:srgbClr val="666666"/>
                </a:solidFill>
                <a:latin typeface="Poppins" pitchFamily="34" charset="0"/>
                <a:ea typeface="Poppins" pitchFamily="34" charset="-122"/>
                <a:cs typeface="Poppins" pitchFamily="34" charset="-120"/>
              </a:rPr>
              <a:t>Pre-assembles Compass Score, EverC signals, merchant history</a:t>
            </a:r>
            <a:endParaRPr lang="en-US" sz="1100" dirty="0"/>
          </a:p>
        </p:txBody>
      </p:sp>
      <p:sp>
        <p:nvSpPr>
          <p:cNvPr id="22" name="Text 20"/>
          <p:cNvSpPr/>
          <p:nvPr/>
        </p:nvSpPr>
        <p:spPr>
          <a:xfrm>
            <a:off x="3481578" y="3794760"/>
            <a:ext cx="2384298" cy="640080"/>
          </a:xfrm>
          <a:prstGeom prst="rect">
            <a:avLst/>
          </a:prstGeom>
          <a:noFill/>
          <a:ln/>
        </p:spPr>
        <p:txBody>
          <a:bodyPr wrap="square" rtlCol="0" anchor="t"/>
          <a:lstStyle/>
          <a:p>
            <a:pPr algn="ctr" indent="0" marL="0">
              <a:buNone/>
            </a:pPr>
            <a:r>
              <a:rPr lang="en-US" sz="1000" b="1" i="1" dirty="0">
                <a:solidFill>
                  <a:srgbClr val="7C3AED"/>
                </a:solidFill>
                <a:latin typeface="Poppins" pitchFamily="34" charset="0"/>
                <a:ea typeface="Poppins" pitchFamily="34" charset="-122"/>
                <a:cs typeface="Poppins" pitchFamily="34" charset="-120"/>
              </a:rPr>
              <a:t>G2RS + EverC unified toolbox in action</a:t>
            </a:r>
            <a:endParaRPr lang="en-US" sz="1000" dirty="0"/>
          </a:p>
        </p:txBody>
      </p:sp>
      <p:sp>
        <p:nvSpPr>
          <p:cNvPr id="23" name="Shape 21"/>
          <p:cNvSpPr/>
          <p:nvPr/>
        </p:nvSpPr>
        <p:spPr>
          <a:xfrm>
            <a:off x="6185916" y="1417320"/>
            <a:ext cx="2658618" cy="3291840"/>
          </a:xfrm>
          <a:prstGeom prst="roundRect">
            <a:avLst>
              <a:gd name="adj" fmla="val 2752"/>
            </a:avLst>
          </a:prstGeom>
          <a:solidFill>
            <a:srgbClr val="FFFFFF"/>
          </a:solidFill>
          <a:ln w="6350">
            <a:solidFill>
              <a:srgbClr val="EBE8F0"/>
            </a:solidFill>
            <a:prstDash val="solid"/>
          </a:ln>
        </p:spPr>
      </p:sp>
      <p:sp>
        <p:nvSpPr>
          <p:cNvPr id="24" name="Text 22"/>
          <p:cNvSpPr/>
          <p:nvPr/>
        </p:nvSpPr>
        <p:spPr>
          <a:xfrm>
            <a:off x="6185916" y="1527048"/>
            <a:ext cx="2658618" cy="182880"/>
          </a:xfrm>
          <a:prstGeom prst="rect">
            <a:avLst/>
          </a:prstGeom>
          <a:noFill/>
          <a:ln/>
        </p:spPr>
        <p:txBody>
          <a:bodyPr wrap="square" rtlCol="0" anchor="ctr"/>
          <a:lstStyle/>
          <a:p>
            <a:pPr algn="ctr" indent="0" marL="0">
              <a:buNone/>
            </a:pPr>
            <a:r>
              <a:rPr lang="en-US" sz="900" dirty="0">
                <a:solidFill>
                  <a:srgbClr val="666666"/>
                </a:solidFill>
                <a:latin typeface="Poppins" pitchFamily="34" charset="0"/>
                <a:ea typeface="Poppins" pitchFamily="34" charset="-122"/>
                <a:cs typeface="Poppins" pitchFamily="34" charset="-120"/>
              </a:rPr>
              <a:t>3</a:t>
            </a:r>
            <a:endParaRPr lang="en-US" sz="900" dirty="0"/>
          </a:p>
        </p:txBody>
      </p:sp>
      <p:sp>
        <p:nvSpPr>
          <p:cNvPr id="25" name="Shape 23"/>
          <p:cNvSpPr/>
          <p:nvPr/>
        </p:nvSpPr>
        <p:spPr>
          <a:xfrm>
            <a:off x="7240905" y="1764792"/>
            <a:ext cx="548640" cy="548640"/>
          </a:xfrm>
          <a:prstGeom prst="ellipse">
            <a:avLst/>
          </a:prstGeom>
          <a:solidFill>
            <a:srgbClr val="D97706"/>
          </a:solidFill>
          <a:ln/>
        </p:spPr>
      </p:sp>
      <p:sp>
        <p:nvSpPr>
          <p:cNvPr id="26" name="Shape 24"/>
          <p:cNvSpPr/>
          <p:nvPr/>
        </p:nvSpPr>
        <p:spPr>
          <a:xfrm>
            <a:off x="7416470" y="1915668"/>
            <a:ext cx="197510" cy="246888"/>
          </a:xfrm>
          <a:prstGeom prst="rect">
            <a:avLst>
              <a:gd name="adj" fmla="val 4630"/>
            </a:avLst>
          </a:prstGeom>
          <a:solidFill>
            <a:srgbClr val="FFFFFF"/>
          </a:solidFill>
          <a:ln/>
        </p:spPr>
      </p:sp>
      <p:sp>
        <p:nvSpPr>
          <p:cNvPr id="27" name="Shape 25"/>
          <p:cNvSpPr/>
          <p:nvPr/>
        </p:nvSpPr>
        <p:spPr>
          <a:xfrm>
            <a:off x="7465847" y="1956816"/>
            <a:ext cx="98755" cy="16459"/>
          </a:xfrm>
          <a:prstGeom prst="rect">
            <a:avLst/>
          </a:prstGeom>
          <a:solidFill>
            <a:srgbClr val="D97706"/>
          </a:solidFill>
          <a:ln/>
        </p:spPr>
      </p:sp>
      <p:sp>
        <p:nvSpPr>
          <p:cNvPr id="28" name="Shape 26"/>
          <p:cNvSpPr/>
          <p:nvPr/>
        </p:nvSpPr>
        <p:spPr>
          <a:xfrm>
            <a:off x="7465847" y="2030882"/>
            <a:ext cx="98755" cy="16459"/>
          </a:xfrm>
          <a:prstGeom prst="rect">
            <a:avLst/>
          </a:prstGeom>
          <a:solidFill>
            <a:srgbClr val="D97706"/>
          </a:solidFill>
          <a:ln/>
        </p:spPr>
      </p:sp>
      <p:sp>
        <p:nvSpPr>
          <p:cNvPr id="29" name="Shape 27"/>
          <p:cNvSpPr/>
          <p:nvPr/>
        </p:nvSpPr>
        <p:spPr>
          <a:xfrm>
            <a:off x="7465847" y="2104949"/>
            <a:ext cx="98755" cy="16459"/>
          </a:xfrm>
          <a:prstGeom prst="rect">
            <a:avLst/>
          </a:prstGeom>
          <a:solidFill>
            <a:srgbClr val="D97706"/>
          </a:solidFill>
          <a:ln/>
        </p:spPr>
      </p:sp>
      <p:sp>
        <p:nvSpPr>
          <p:cNvPr id="30" name="Text 28"/>
          <p:cNvSpPr/>
          <p:nvPr/>
        </p:nvSpPr>
        <p:spPr>
          <a:xfrm>
            <a:off x="6323076" y="2423160"/>
            <a:ext cx="2384298" cy="411480"/>
          </a:xfrm>
          <a:prstGeom prst="rect">
            <a:avLst/>
          </a:prstGeom>
          <a:noFill/>
          <a:ln/>
        </p:spPr>
        <p:txBody>
          <a:bodyPr wrap="square" rtlCol="0" anchor="t"/>
          <a:lstStyle/>
          <a:p>
            <a:pPr algn="ctr" indent="0" marL="0">
              <a:buNone/>
            </a:pPr>
            <a:r>
              <a:rPr lang="en-US" sz="1400" b="1" dirty="0">
                <a:solidFill>
                  <a:srgbClr val="1A1A2E"/>
                </a:solidFill>
                <a:latin typeface="Poppins" pitchFamily="34" charset="0"/>
                <a:ea typeface="Poppins" pitchFamily="34" charset="-122"/>
                <a:cs typeface="Poppins" pitchFamily="34" charset="-120"/>
              </a:rPr>
              <a:t>Verification checklist</a:t>
            </a:r>
            <a:endParaRPr lang="en-US" sz="1400" dirty="0"/>
          </a:p>
        </p:txBody>
      </p:sp>
      <p:sp>
        <p:nvSpPr>
          <p:cNvPr id="31" name="Text 29"/>
          <p:cNvSpPr/>
          <p:nvPr/>
        </p:nvSpPr>
        <p:spPr>
          <a:xfrm>
            <a:off x="6323076" y="2880360"/>
            <a:ext cx="2384298" cy="731520"/>
          </a:xfrm>
          <a:prstGeom prst="rect">
            <a:avLst/>
          </a:prstGeom>
          <a:noFill/>
          <a:ln/>
        </p:spPr>
        <p:txBody>
          <a:bodyPr wrap="square" rtlCol="0" anchor="ctr"/>
          <a:lstStyle/>
          <a:p>
            <a:pPr algn="ctr" indent="0" marL="0">
              <a:lnSpc>
                <a:spcPct val="150000"/>
              </a:lnSpc>
              <a:buNone/>
            </a:pPr>
            <a:r>
              <a:rPr lang="en-US" sz="1100" dirty="0">
                <a:solidFill>
                  <a:srgbClr val="666666"/>
                </a:solidFill>
                <a:latin typeface="Poppins" pitchFamily="34" charset="0"/>
                <a:ea typeface="Poppins" pitchFamily="34" charset="-122"/>
                <a:cs typeface="Poppins" pitchFamily="34" charset="-120"/>
              </a:rPr>
              <a:t>Tells analyst exactly what internal data to check for this violation type</a:t>
            </a:r>
            <a:endParaRPr lang="en-US" sz="1100" dirty="0"/>
          </a:p>
        </p:txBody>
      </p:sp>
      <p:sp>
        <p:nvSpPr>
          <p:cNvPr id="32" name="Text 30"/>
          <p:cNvSpPr/>
          <p:nvPr/>
        </p:nvSpPr>
        <p:spPr>
          <a:xfrm>
            <a:off x="6323076" y="3794760"/>
            <a:ext cx="2384298" cy="640080"/>
          </a:xfrm>
          <a:prstGeom prst="rect">
            <a:avLst/>
          </a:prstGeom>
          <a:noFill/>
          <a:ln/>
        </p:spPr>
        <p:txBody>
          <a:bodyPr wrap="square" rtlCol="0" anchor="t"/>
          <a:lstStyle/>
          <a:p>
            <a:pPr algn="ctr" indent="0" marL="0">
              <a:buNone/>
            </a:pPr>
            <a:r>
              <a:rPr lang="en-US" sz="1000" b="1" i="1" dirty="0">
                <a:solidFill>
                  <a:srgbClr val="7C3AED"/>
                </a:solidFill>
                <a:latin typeface="Poppins" pitchFamily="34" charset="0"/>
                <a:ea typeface="Poppins" pitchFamily="34" charset="-122"/>
                <a:cs typeface="Poppins" pitchFamily="34" charset="-120"/>
              </a:rPr>
              <a:t>Respects data boundary — guides, never accesses</a:t>
            </a:r>
            <a:endParaRPr lang="en-US" sz="1000" dirty="0"/>
          </a:p>
        </p:txBody>
      </p:sp>
      <p:sp>
        <p:nvSpPr>
          <p:cNvPr id="33" name="Shape 31"/>
          <p:cNvSpPr/>
          <p:nvPr/>
        </p:nvSpPr>
        <p:spPr>
          <a:xfrm>
            <a:off x="9027414" y="1417320"/>
            <a:ext cx="2658618" cy="3291840"/>
          </a:xfrm>
          <a:prstGeom prst="roundRect">
            <a:avLst>
              <a:gd name="adj" fmla="val 2752"/>
            </a:avLst>
          </a:prstGeom>
          <a:solidFill>
            <a:srgbClr val="FFFFFF"/>
          </a:solidFill>
          <a:ln w="6350">
            <a:solidFill>
              <a:srgbClr val="EBE8F0"/>
            </a:solidFill>
            <a:prstDash val="solid"/>
          </a:ln>
        </p:spPr>
      </p:sp>
      <p:sp>
        <p:nvSpPr>
          <p:cNvPr id="34" name="Text 32"/>
          <p:cNvSpPr/>
          <p:nvPr/>
        </p:nvSpPr>
        <p:spPr>
          <a:xfrm>
            <a:off x="9027414" y="1527048"/>
            <a:ext cx="2658618" cy="182880"/>
          </a:xfrm>
          <a:prstGeom prst="rect">
            <a:avLst/>
          </a:prstGeom>
          <a:noFill/>
          <a:ln/>
        </p:spPr>
        <p:txBody>
          <a:bodyPr wrap="square" rtlCol="0" anchor="ctr"/>
          <a:lstStyle/>
          <a:p>
            <a:pPr algn="ctr" indent="0" marL="0">
              <a:buNone/>
            </a:pPr>
            <a:r>
              <a:rPr lang="en-US" sz="900" dirty="0">
                <a:solidFill>
                  <a:srgbClr val="666666"/>
                </a:solidFill>
                <a:latin typeface="Poppins" pitchFamily="34" charset="0"/>
                <a:ea typeface="Poppins" pitchFamily="34" charset="-122"/>
                <a:cs typeface="Poppins" pitchFamily="34" charset="-120"/>
              </a:rPr>
              <a:t>4</a:t>
            </a:r>
            <a:endParaRPr lang="en-US" sz="900" dirty="0"/>
          </a:p>
        </p:txBody>
      </p:sp>
      <p:sp>
        <p:nvSpPr>
          <p:cNvPr id="35" name="Shape 33"/>
          <p:cNvSpPr/>
          <p:nvPr/>
        </p:nvSpPr>
        <p:spPr>
          <a:xfrm>
            <a:off x="10082403" y="1764792"/>
            <a:ext cx="548640" cy="548640"/>
          </a:xfrm>
          <a:prstGeom prst="ellipse">
            <a:avLst/>
          </a:prstGeom>
          <a:solidFill>
            <a:srgbClr val="7C3AED"/>
          </a:solidFill>
          <a:ln/>
        </p:spPr>
      </p:sp>
      <p:sp>
        <p:nvSpPr>
          <p:cNvPr id="36" name="Shape 34"/>
          <p:cNvSpPr/>
          <p:nvPr/>
        </p:nvSpPr>
        <p:spPr>
          <a:xfrm>
            <a:off x="10246995" y="1951330"/>
            <a:ext cx="219456" cy="153619"/>
          </a:xfrm>
          <a:prstGeom prst="roundRect">
            <a:avLst>
              <a:gd name="adj" fmla="val 11905"/>
            </a:avLst>
          </a:prstGeom>
          <a:solidFill>
            <a:srgbClr val="FFFFFF"/>
          </a:solidFill>
          <a:ln/>
        </p:spPr>
      </p:sp>
      <p:sp>
        <p:nvSpPr>
          <p:cNvPr id="37" name="Shape 35"/>
          <p:cNvSpPr/>
          <p:nvPr/>
        </p:nvSpPr>
        <p:spPr>
          <a:xfrm rot="10800000">
            <a:off x="10323805" y="2099462"/>
            <a:ext cx="54864" cy="38405"/>
          </a:xfrm>
          <a:prstGeom prst="triangle">
            <a:avLst/>
          </a:prstGeom>
          <a:solidFill>
            <a:srgbClr val="FFFFFF"/>
          </a:solidFill>
          <a:ln/>
        </p:spPr>
      </p:sp>
      <p:sp>
        <p:nvSpPr>
          <p:cNvPr id="38" name="Text 36"/>
          <p:cNvSpPr/>
          <p:nvPr/>
        </p:nvSpPr>
        <p:spPr>
          <a:xfrm>
            <a:off x="9164574" y="2423160"/>
            <a:ext cx="2384298" cy="411480"/>
          </a:xfrm>
          <a:prstGeom prst="rect">
            <a:avLst/>
          </a:prstGeom>
          <a:noFill/>
          <a:ln/>
        </p:spPr>
        <p:txBody>
          <a:bodyPr wrap="square" rtlCol="0" anchor="t"/>
          <a:lstStyle/>
          <a:p>
            <a:pPr algn="ctr" indent="0" marL="0">
              <a:buNone/>
            </a:pPr>
            <a:r>
              <a:rPr lang="en-US" sz="1400" b="1" dirty="0">
                <a:solidFill>
                  <a:srgbClr val="1A1A2E"/>
                </a:solidFill>
                <a:latin typeface="Poppins" pitchFamily="34" charset="0"/>
                <a:ea typeface="Poppins" pitchFamily="34" charset="-122"/>
                <a:cs typeface="Poppins" pitchFamily="34" charset="-120"/>
              </a:rPr>
              <a:t>AI case summary</a:t>
            </a:r>
            <a:endParaRPr lang="en-US" sz="1400" dirty="0"/>
          </a:p>
        </p:txBody>
      </p:sp>
      <p:sp>
        <p:nvSpPr>
          <p:cNvPr id="39" name="Text 37"/>
          <p:cNvSpPr/>
          <p:nvPr/>
        </p:nvSpPr>
        <p:spPr>
          <a:xfrm>
            <a:off x="9164574" y="2880360"/>
            <a:ext cx="2384298" cy="731520"/>
          </a:xfrm>
          <a:prstGeom prst="rect">
            <a:avLst/>
          </a:prstGeom>
          <a:noFill/>
          <a:ln/>
        </p:spPr>
        <p:txBody>
          <a:bodyPr wrap="square" rtlCol="0" anchor="ctr"/>
          <a:lstStyle/>
          <a:p>
            <a:pPr algn="ctr" indent="0" marL="0">
              <a:lnSpc>
                <a:spcPct val="150000"/>
              </a:lnSpc>
              <a:buNone/>
            </a:pPr>
            <a:r>
              <a:rPr lang="en-US" sz="1100" dirty="0">
                <a:solidFill>
                  <a:srgbClr val="666666"/>
                </a:solidFill>
                <a:latin typeface="Poppins" pitchFamily="34" charset="0"/>
                <a:ea typeface="Poppins" pitchFamily="34" charset="-122"/>
                <a:cs typeface="Poppins" pitchFamily="34" charset="-120"/>
              </a:rPr>
              <a:t>Plain language: who, what pattern. 20 seconds. Analyst edits and signs off.</a:t>
            </a:r>
            <a:endParaRPr lang="en-US" sz="1100" dirty="0"/>
          </a:p>
        </p:txBody>
      </p:sp>
      <p:sp>
        <p:nvSpPr>
          <p:cNvPr id="40" name="Text 38"/>
          <p:cNvSpPr/>
          <p:nvPr/>
        </p:nvSpPr>
        <p:spPr>
          <a:xfrm>
            <a:off x="9164574" y="3794760"/>
            <a:ext cx="2384298" cy="640080"/>
          </a:xfrm>
          <a:prstGeom prst="rect">
            <a:avLst/>
          </a:prstGeom>
          <a:noFill/>
          <a:ln/>
        </p:spPr>
        <p:txBody>
          <a:bodyPr wrap="square" rtlCol="0" anchor="t"/>
          <a:lstStyle/>
          <a:p>
            <a:pPr algn="ctr" indent="0" marL="0">
              <a:buNone/>
            </a:pPr>
            <a:r>
              <a:rPr lang="en-US" sz="1000" b="1" i="1" dirty="0">
                <a:solidFill>
                  <a:srgbClr val="7C3AED"/>
                </a:solidFill>
                <a:latin typeface="Poppins" pitchFamily="34" charset="0"/>
                <a:ea typeface="Poppins" pitchFamily="34" charset="-122"/>
                <a:cs typeface="Poppins" pitchFamily="34" charset="-120"/>
              </a:rPr>
              <a:t>AI is advisory only — analyst always verifies</a:t>
            </a:r>
            <a:endParaRPr lang="en-US" sz="1000" dirty="0"/>
          </a:p>
        </p:txBody>
      </p:sp>
      <p:sp>
        <p:nvSpPr>
          <p:cNvPr id="41" name="Shape 39"/>
          <p:cNvSpPr/>
          <p:nvPr/>
        </p:nvSpPr>
        <p:spPr>
          <a:xfrm>
            <a:off x="502920" y="4892040"/>
            <a:ext cx="11183112" cy="502920"/>
          </a:xfrm>
          <a:prstGeom prst="roundRect">
            <a:avLst>
              <a:gd name="adj" fmla="val 7273"/>
            </a:avLst>
          </a:prstGeom>
          <a:solidFill>
            <a:srgbClr val="E6F5F0"/>
          </a:solidFill>
          <a:ln/>
        </p:spPr>
      </p:sp>
      <p:sp>
        <p:nvSpPr>
          <p:cNvPr id="42" name="Text 40"/>
          <p:cNvSpPr/>
          <p:nvPr/>
        </p:nvSpPr>
        <p:spPr>
          <a:xfrm>
            <a:off x="685800" y="4892040"/>
            <a:ext cx="10817352" cy="502920"/>
          </a:xfrm>
          <a:prstGeom prst="rect">
            <a:avLst/>
          </a:prstGeom>
          <a:noFill/>
          <a:ln/>
        </p:spPr>
        <p:txBody>
          <a:bodyPr wrap="square" rtlCol="0" anchor="ctr"/>
          <a:lstStyle/>
          <a:p>
            <a:pPr algn="ctr" indent="0" marL="0">
              <a:buNone/>
            </a:pPr>
            <a:r>
              <a:rPr lang="en-US" sz="1300" b="1" dirty="0">
                <a:solidFill>
                  <a:srgbClr val="0D9488"/>
                </a:solidFill>
                <a:latin typeface="Poppins" pitchFamily="34" charset="0"/>
                <a:ea typeface="Poppins" pitchFamily="34" charset="-122"/>
                <a:cs typeface="Poppins" pitchFamily="34" charset="-120"/>
              </a:rPr>
              <a:t>The analyst becomes a violation-type expert for the batch — instead of starting cold on every alert.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THE TRANSFORMATION</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Same analyst. Same Monday. </a:t>
            </a:r>
            <a:pPr indent="0" marL="0">
              <a:buNone/>
            </a:pPr>
            <a:r>
              <a:rPr lang="en-US" sz="3800" b="1" dirty="0">
                <a:solidFill>
                  <a:srgbClr val="0D9488"/>
                </a:solidFill>
                <a:latin typeface="Poppins" pitchFamily="34" charset="0"/>
                <a:ea typeface="Poppins" pitchFamily="34" charset="-122"/>
                <a:cs typeface="Poppins" pitchFamily="34" charset="-120"/>
              </a:rPr>
              <a:t>Different outcome.</a:t>
            </a:r>
            <a:endParaRPr lang="en-US" sz="3800" dirty="0"/>
          </a:p>
        </p:txBody>
      </p:sp>
      <p:sp>
        <p:nvSpPr>
          <p:cNvPr id="4" name="Shape 2"/>
          <p:cNvSpPr/>
          <p:nvPr/>
        </p:nvSpPr>
        <p:spPr>
          <a:xfrm>
            <a:off x="502920" y="1188720"/>
            <a:ext cx="1645920" cy="201168"/>
          </a:xfrm>
          <a:prstGeom prst="roundRect">
            <a:avLst>
              <a:gd name="adj" fmla="val 22727"/>
            </a:avLst>
          </a:prstGeom>
          <a:solidFill>
            <a:srgbClr val="FDE8E8"/>
          </a:solidFill>
          <a:ln/>
        </p:spPr>
      </p:sp>
      <p:sp>
        <p:nvSpPr>
          <p:cNvPr id="5" name="Text 3"/>
          <p:cNvSpPr/>
          <p:nvPr/>
        </p:nvSpPr>
        <p:spPr>
          <a:xfrm>
            <a:off x="502920" y="1188720"/>
            <a:ext cx="1645920" cy="201168"/>
          </a:xfrm>
          <a:prstGeom prst="rect">
            <a:avLst/>
          </a:prstGeom>
          <a:noFill/>
          <a:ln/>
        </p:spPr>
        <p:txBody>
          <a:bodyPr wrap="square" rtlCol="0" anchor="ctr"/>
          <a:lstStyle/>
          <a:p>
            <a:pPr algn="ctr" indent="0" marL="0">
              <a:buNone/>
            </a:pPr>
            <a:r>
              <a:rPr lang="en-US" sz="800" b="1" dirty="0">
                <a:solidFill>
                  <a:srgbClr val="DC2626"/>
                </a:solidFill>
                <a:latin typeface="Poppins" pitchFamily="34" charset="0"/>
                <a:ea typeface="Poppins" pitchFamily="34" charset="-122"/>
                <a:cs typeface="Poppins" pitchFamily="34" charset="-120"/>
              </a:rPr>
              <a:t>WITHOUT CO-PILOT</a:t>
            </a:r>
            <a:endParaRPr lang="en-US" sz="800" dirty="0"/>
          </a:p>
        </p:txBody>
      </p:sp>
      <p:sp>
        <p:nvSpPr>
          <p:cNvPr id="6" name="Text 4"/>
          <p:cNvSpPr/>
          <p:nvPr/>
        </p:nvSpPr>
        <p:spPr>
          <a:xfrm>
            <a:off x="502920" y="1508760"/>
            <a:ext cx="274320" cy="475488"/>
          </a:xfrm>
          <a:prstGeom prst="rect">
            <a:avLst/>
          </a:prstGeom>
          <a:noFill/>
          <a:ln/>
        </p:spPr>
        <p:txBody>
          <a:bodyPr wrap="square" rtlCol="0" anchor="ctr"/>
          <a:lstStyle/>
          <a:p>
            <a:pPr algn="ctr" indent="0" marL="0">
              <a:buNone/>
            </a:pPr>
            <a:r>
              <a:rPr lang="en-US" sz="1400" b="1" dirty="0">
                <a:solidFill>
                  <a:srgbClr val="DC2626"/>
                </a:solidFill>
                <a:latin typeface="Poppins" pitchFamily="34" charset="0"/>
                <a:ea typeface="Poppins" pitchFamily="34" charset="-122"/>
                <a:cs typeface="Poppins" pitchFamily="34" charset="-120"/>
              </a:rPr>
              <a:t>✕</a:t>
            </a:r>
            <a:endParaRPr lang="en-US" sz="1400" dirty="0"/>
          </a:p>
        </p:txBody>
      </p:sp>
      <p:sp>
        <p:nvSpPr>
          <p:cNvPr id="7" name="Text 5"/>
          <p:cNvSpPr/>
          <p:nvPr/>
        </p:nvSpPr>
        <p:spPr>
          <a:xfrm>
            <a:off x="822960" y="1508760"/>
            <a:ext cx="4251960" cy="475488"/>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47 unstructured alerts</a:t>
            </a:r>
            <a:endParaRPr lang="en-US" sz="1200" dirty="0"/>
          </a:p>
        </p:txBody>
      </p:sp>
      <p:sp>
        <p:nvSpPr>
          <p:cNvPr id="8" name="Shape 6"/>
          <p:cNvSpPr/>
          <p:nvPr/>
        </p:nvSpPr>
        <p:spPr>
          <a:xfrm>
            <a:off x="5166360" y="1691640"/>
            <a:ext cx="457200" cy="109728"/>
          </a:xfrm>
          <a:prstGeom prst="rightArrow">
            <a:avLst/>
          </a:prstGeom>
          <a:solidFill>
            <a:srgbClr val="EBE8F0"/>
          </a:solidFill>
          <a:ln/>
        </p:spPr>
      </p:sp>
      <p:sp>
        <p:nvSpPr>
          <p:cNvPr id="9" name="Text 7"/>
          <p:cNvSpPr/>
          <p:nvPr/>
        </p:nvSpPr>
        <p:spPr>
          <a:xfrm>
            <a:off x="502920" y="1984248"/>
            <a:ext cx="274320" cy="475488"/>
          </a:xfrm>
          <a:prstGeom prst="rect">
            <a:avLst/>
          </a:prstGeom>
          <a:noFill/>
          <a:ln/>
        </p:spPr>
        <p:txBody>
          <a:bodyPr wrap="square" rtlCol="0" anchor="ctr"/>
          <a:lstStyle/>
          <a:p>
            <a:pPr algn="ctr" indent="0" marL="0">
              <a:buNone/>
            </a:pPr>
            <a:r>
              <a:rPr lang="en-US" sz="1400" b="1" dirty="0">
                <a:solidFill>
                  <a:srgbClr val="DC2626"/>
                </a:solidFill>
                <a:latin typeface="Poppins" pitchFamily="34" charset="0"/>
                <a:ea typeface="Poppins" pitchFamily="34" charset="-122"/>
                <a:cs typeface="Poppins" pitchFamily="34" charset="-120"/>
              </a:rPr>
              <a:t>✕</a:t>
            </a:r>
            <a:endParaRPr lang="en-US" sz="1400" dirty="0"/>
          </a:p>
        </p:txBody>
      </p:sp>
      <p:sp>
        <p:nvSpPr>
          <p:cNvPr id="10" name="Text 8"/>
          <p:cNvSpPr/>
          <p:nvPr/>
        </p:nvSpPr>
        <p:spPr>
          <a:xfrm>
            <a:off x="822960" y="1984248"/>
            <a:ext cx="4251960" cy="475488"/>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Opens cold — no context</a:t>
            </a:r>
            <a:endParaRPr lang="en-US" sz="1200" dirty="0"/>
          </a:p>
        </p:txBody>
      </p:sp>
      <p:sp>
        <p:nvSpPr>
          <p:cNvPr id="11" name="Shape 9"/>
          <p:cNvSpPr/>
          <p:nvPr/>
        </p:nvSpPr>
        <p:spPr>
          <a:xfrm>
            <a:off x="5166360" y="2167128"/>
            <a:ext cx="457200" cy="109728"/>
          </a:xfrm>
          <a:prstGeom prst="rightArrow">
            <a:avLst/>
          </a:prstGeom>
          <a:solidFill>
            <a:srgbClr val="EBE8F0"/>
          </a:solidFill>
          <a:ln/>
        </p:spPr>
      </p:sp>
      <p:sp>
        <p:nvSpPr>
          <p:cNvPr id="12" name="Text 10"/>
          <p:cNvSpPr/>
          <p:nvPr/>
        </p:nvSpPr>
        <p:spPr>
          <a:xfrm>
            <a:off x="502920" y="2459736"/>
            <a:ext cx="274320" cy="475488"/>
          </a:xfrm>
          <a:prstGeom prst="rect">
            <a:avLst/>
          </a:prstGeom>
          <a:noFill/>
          <a:ln/>
        </p:spPr>
        <p:txBody>
          <a:bodyPr wrap="square" rtlCol="0" anchor="ctr"/>
          <a:lstStyle/>
          <a:p>
            <a:pPr algn="ctr" indent="0" marL="0">
              <a:buNone/>
            </a:pPr>
            <a:r>
              <a:rPr lang="en-US" sz="1400" b="1" dirty="0">
                <a:solidFill>
                  <a:srgbClr val="DC2626"/>
                </a:solidFill>
                <a:latin typeface="Poppins" pitchFamily="34" charset="0"/>
                <a:ea typeface="Poppins" pitchFamily="34" charset="-122"/>
                <a:cs typeface="Poppins" pitchFamily="34" charset="-120"/>
              </a:rPr>
              <a:t>✕</a:t>
            </a:r>
            <a:endParaRPr lang="en-US" sz="1400" dirty="0"/>
          </a:p>
        </p:txBody>
      </p:sp>
      <p:sp>
        <p:nvSpPr>
          <p:cNvPr id="13" name="Text 11"/>
          <p:cNvSpPr/>
          <p:nvPr/>
        </p:nvSpPr>
        <p:spPr>
          <a:xfrm>
            <a:off x="822960" y="2459736"/>
            <a:ext cx="4251960" cy="475488"/>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Figures out what to check</a:t>
            </a:r>
            <a:endParaRPr lang="en-US" sz="1200" dirty="0"/>
          </a:p>
        </p:txBody>
      </p:sp>
      <p:sp>
        <p:nvSpPr>
          <p:cNvPr id="14" name="Shape 12"/>
          <p:cNvSpPr/>
          <p:nvPr/>
        </p:nvSpPr>
        <p:spPr>
          <a:xfrm>
            <a:off x="5166360" y="2642616"/>
            <a:ext cx="457200" cy="109728"/>
          </a:xfrm>
          <a:prstGeom prst="rightArrow">
            <a:avLst/>
          </a:prstGeom>
          <a:solidFill>
            <a:srgbClr val="EBE8F0"/>
          </a:solidFill>
          <a:ln/>
        </p:spPr>
      </p:sp>
      <p:sp>
        <p:nvSpPr>
          <p:cNvPr id="15" name="Text 13"/>
          <p:cNvSpPr/>
          <p:nvPr/>
        </p:nvSpPr>
        <p:spPr>
          <a:xfrm>
            <a:off x="502920" y="2935224"/>
            <a:ext cx="274320" cy="475488"/>
          </a:xfrm>
          <a:prstGeom prst="rect">
            <a:avLst/>
          </a:prstGeom>
          <a:noFill/>
          <a:ln/>
        </p:spPr>
        <p:txBody>
          <a:bodyPr wrap="square" rtlCol="0" anchor="ctr"/>
          <a:lstStyle/>
          <a:p>
            <a:pPr algn="ctr" indent="0" marL="0">
              <a:buNone/>
            </a:pPr>
            <a:r>
              <a:rPr lang="en-US" sz="1400" b="1" dirty="0">
                <a:solidFill>
                  <a:srgbClr val="DC2626"/>
                </a:solidFill>
                <a:latin typeface="Poppins" pitchFamily="34" charset="0"/>
                <a:ea typeface="Poppins" pitchFamily="34" charset="-122"/>
                <a:cs typeface="Poppins" pitchFamily="34" charset="-120"/>
              </a:rPr>
              <a:t>✕</a:t>
            </a:r>
            <a:endParaRPr lang="en-US" sz="1400" dirty="0"/>
          </a:p>
        </p:txBody>
      </p:sp>
      <p:sp>
        <p:nvSpPr>
          <p:cNvPr id="16" name="Text 14"/>
          <p:cNvSpPr/>
          <p:nvPr/>
        </p:nvSpPr>
        <p:spPr>
          <a:xfrm>
            <a:off x="822960" y="2935224"/>
            <a:ext cx="4251960" cy="475488"/>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40–60 min per case</a:t>
            </a:r>
            <a:endParaRPr lang="en-US" sz="1200" dirty="0"/>
          </a:p>
        </p:txBody>
      </p:sp>
      <p:sp>
        <p:nvSpPr>
          <p:cNvPr id="17" name="Shape 15"/>
          <p:cNvSpPr/>
          <p:nvPr/>
        </p:nvSpPr>
        <p:spPr>
          <a:xfrm>
            <a:off x="5166360" y="3118104"/>
            <a:ext cx="457200" cy="109728"/>
          </a:xfrm>
          <a:prstGeom prst="rightArrow">
            <a:avLst/>
          </a:prstGeom>
          <a:solidFill>
            <a:srgbClr val="EBE8F0"/>
          </a:solidFill>
          <a:ln/>
        </p:spPr>
      </p:sp>
      <p:sp>
        <p:nvSpPr>
          <p:cNvPr id="18" name="Text 16"/>
          <p:cNvSpPr/>
          <p:nvPr/>
        </p:nvSpPr>
        <p:spPr>
          <a:xfrm>
            <a:off x="502920" y="3410712"/>
            <a:ext cx="274320" cy="475488"/>
          </a:xfrm>
          <a:prstGeom prst="rect">
            <a:avLst/>
          </a:prstGeom>
          <a:noFill/>
          <a:ln/>
        </p:spPr>
        <p:txBody>
          <a:bodyPr wrap="square" rtlCol="0" anchor="ctr"/>
          <a:lstStyle/>
          <a:p>
            <a:pPr algn="ctr" indent="0" marL="0">
              <a:buNone/>
            </a:pPr>
            <a:r>
              <a:rPr lang="en-US" sz="1400" b="1" dirty="0">
                <a:solidFill>
                  <a:srgbClr val="DC2626"/>
                </a:solidFill>
                <a:latin typeface="Poppins" pitchFamily="34" charset="0"/>
                <a:ea typeface="Poppins" pitchFamily="34" charset="-122"/>
                <a:cs typeface="Poppins" pitchFamily="34" charset="-120"/>
              </a:rPr>
              <a:t>✕</a:t>
            </a:r>
            <a:endParaRPr lang="en-US" sz="1400" dirty="0"/>
          </a:p>
        </p:txBody>
      </p:sp>
      <p:sp>
        <p:nvSpPr>
          <p:cNvPr id="19" name="Text 17"/>
          <p:cNvSpPr/>
          <p:nvPr/>
        </p:nvSpPr>
        <p:spPr>
          <a:xfrm>
            <a:off x="822960" y="3410712"/>
            <a:ext cx="4251960" cy="475488"/>
          </a:xfrm>
          <a:prstGeom prst="rect">
            <a:avLst/>
          </a:prstGeom>
          <a:noFill/>
          <a:ln/>
        </p:spPr>
        <p:txBody>
          <a:bodyPr wrap="square" rtlCol="0" anchor="ctr"/>
          <a:lstStyle/>
          <a:p>
            <a:pPr indent="0" marL="0">
              <a:buNone/>
            </a:pPr>
            <a:r>
              <a:rPr lang="en-US" sz="1200" dirty="0">
                <a:solidFill>
                  <a:srgbClr val="666666"/>
                </a:solidFill>
                <a:latin typeface="Poppins" pitchFamily="34" charset="0"/>
                <a:ea typeface="Poppins" pitchFamily="34" charset="-122"/>
                <a:cs typeface="Poppins" pitchFamily="34" charset="-120"/>
              </a:rPr>
              <a:t>Queue never empties</a:t>
            </a:r>
            <a:endParaRPr lang="en-US" sz="1200" dirty="0"/>
          </a:p>
        </p:txBody>
      </p:sp>
      <p:sp>
        <p:nvSpPr>
          <p:cNvPr id="20" name="Shape 18"/>
          <p:cNvSpPr/>
          <p:nvPr/>
        </p:nvSpPr>
        <p:spPr>
          <a:xfrm>
            <a:off x="5166360" y="3593592"/>
            <a:ext cx="457200" cy="109728"/>
          </a:xfrm>
          <a:prstGeom prst="rightArrow">
            <a:avLst/>
          </a:prstGeom>
          <a:solidFill>
            <a:srgbClr val="EBE8F0"/>
          </a:solidFill>
          <a:ln/>
        </p:spPr>
      </p:sp>
      <p:sp>
        <p:nvSpPr>
          <p:cNvPr id="21" name="Shape 19"/>
          <p:cNvSpPr/>
          <p:nvPr/>
        </p:nvSpPr>
        <p:spPr>
          <a:xfrm>
            <a:off x="5806440" y="1188720"/>
            <a:ext cx="1371600" cy="201168"/>
          </a:xfrm>
          <a:prstGeom prst="roundRect">
            <a:avLst>
              <a:gd name="adj" fmla="val 22727"/>
            </a:avLst>
          </a:prstGeom>
          <a:solidFill>
            <a:srgbClr val="E6F5F0"/>
          </a:solidFill>
          <a:ln/>
        </p:spPr>
      </p:sp>
      <p:sp>
        <p:nvSpPr>
          <p:cNvPr id="22" name="Text 20"/>
          <p:cNvSpPr/>
          <p:nvPr/>
        </p:nvSpPr>
        <p:spPr>
          <a:xfrm>
            <a:off x="5806440" y="1188720"/>
            <a:ext cx="1371600" cy="201168"/>
          </a:xfrm>
          <a:prstGeom prst="rect">
            <a:avLst/>
          </a:prstGeom>
          <a:noFill/>
          <a:ln/>
        </p:spPr>
        <p:txBody>
          <a:bodyPr wrap="square" rtlCol="0" anchor="ctr"/>
          <a:lstStyle/>
          <a:p>
            <a:pPr algn="ctr" indent="0" marL="0">
              <a:buNone/>
            </a:pPr>
            <a:r>
              <a:rPr lang="en-US" sz="800" b="1" dirty="0">
                <a:solidFill>
                  <a:srgbClr val="0D9488"/>
                </a:solidFill>
                <a:latin typeface="Poppins" pitchFamily="34" charset="0"/>
                <a:ea typeface="Poppins" pitchFamily="34" charset="-122"/>
                <a:cs typeface="Poppins" pitchFamily="34" charset="-120"/>
              </a:rPr>
              <a:t>WITH CO-PILOT</a:t>
            </a:r>
            <a:endParaRPr lang="en-US" sz="800" dirty="0"/>
          </a:p>
        </p:txBody>
      </p:sp>
      <p:sp>
        <p:nvSpPr>
          <p:cNvPr id="23" name="Text 21"/>
          <p:cNvSpPr/>
          <p:nvPr/>
        </p:nvSpPr>
        <p:spPr>
          <a:xfrm>
            <a:off x="5806440" y="1508760"/>
            <a:ext cx="274320" cy="475488"/>
          </a:xfrm>
          <a:prstGeom prst="rect">
            <a:avLst/>
          </a:prstGeom>
          <a:noFill/>
          <a:ln/>
        </p:spPr>
        <p:txBody>
          <a:bodyPr wrap="square" rtlCol="0" anchor="ctr"/>
          <a:lstStyle/>
          <a:p>
            <a:pPr algn="ctr" indent="0" marL="0">
              <a:buNone/>
            </a:pPr>
            <a:r>
              <a:rPr lang="en-US" sz="1400" b="1" dirty="0">
                <a:solidFill>
                  <a:srgbClr val="0D9488"/>
                </a:solidFill>
                <a:latin typeface="Poppins" pitchFamily="34" charset="0"/>
                <a:ea typeface="Poppins" pitchFamily="34" charset="-122"/>
                <a:cs typeface="Poppins" pitchFamily="34" charset="-120"/>
              </a:rPr>
              <a:t>✓</a:t>
            </a:r>
            <a:endParaRPr lang="en-US" sz="1400" dirty="0"/>
          </a:p>
        </p:txBody>
      </p:sp>
      <p:sp>
        <p:nvSpPr>
          <p:cNvPr id="24" name="Text 22"/>
          <p:cNvSpPr/>
          <p:nvPr/>
        </p:nvSpPr>
        <p:spPr>
          <a:xfrm>
            <a:off x="6126480" y="1508760"/>
            <a:ext cx="4251960" cy="475488"/>
          </a:xfrm>
          <a:prstGeom prst="rect">
            <a:avLst/>
          </a:prstGeom>
          <a:noFill/>
          <a:ln/>
        </p:spPr>
        <p:txBody>
          <a:bodyPr wrap="square" rtlCol="0" anchor="ctr"/>
          <a:lstStyle/>
          <a:p>
            <a:pPr indent="0" marL="0">
              <a:buNone/>
            </a:pPr>
            <a:r>
              <a:rPr lang="en-US" sz="1200" dirty="0">
                <a:solidFill>
                  <a:srgbClr val="1A1A2E"/>
                </a:solidFill>
                <a:latin typeface="Poppins" pitchFamily="34" charset="0"/>
                <a:ea typeface="Poppins" pitchFamily="34" charset="-122"/>
                <a:cs typeface="Poppins" pitchFamily="34" charset="-120"/>
              </a:rPr>
              <a:t>3 batches by violation type</a:t>
            </a:r>
            <a:endParaRPr lang="en-US" sz="1200" dirty="0"/>
          </a:p>
        </p:txBody>
      </p:sp>
      <p:sp>
        <p:nvSpPr>
          <p:cNvPr id="25" name="Text 23"/>
          <p:cNvSpPr/>
          <p:nvPr/>
        </p:nvSpPr>
        <p:spPr>
          <a:xfrm>
            <a:off x="5806440" y="1984248"/>
            <a:ext cx="274320" cy="475488"/>
          </a:xfrm>
          <a:prstGeom prst="rect">
            <a:avLst/>
          </a:prstGeom>
          <a:noFill/>
          <a:ln/>
        </p:spPr>
        <p:txBody>
          <a:bodyPr wrap="square" rtlCol="0" anchor="ctr"/>
          <a:lstStyle/>
          <a:p>
            <a:pPr algn="ctr" indent="0" marL="0">
              <a:buNone/>
            </a:pPr>
            <a:r>
              <a:rPr lang="en-US" sz="1400" b="1" dirty="0">
                <a:solidFill>
                  <a:srgbClr val="0D9488"/>
                </a:solidFill>
                <a:latin typeface="Poppins" pitchFamily="34" charset="0"/>
                <a:ea typeface="Poppins" pitchFamily="34" charset="-122"/>
                <a:cs typeface="Poppins" pitchFamily="34" charset="-120"/>
              </a:rPr>
              <a:t>✓</a:t>
            </a:r>
            <a:endParaRPr lang="en-US" sz="1400" dirty="0"/>
          </a:p>
        </p:txBody>
      </p:sp>
      <p:sp>
        <p:nvSpPr>
          <p:cNvPr id="26" name="Text 24"/>
          <p:cNvSpPr/>
          <p:nvPr/>
        </p:nvSpPr>
        <p:spPr>
          <a:xfrm>
            <a:off x="6126480" y="1984248"/>
            <a:ext cx="4251960" cy="475488"/>
          </a:xfrm>
          <a:prstGeom prst="rect">
            <a:avLst/>
          </a:prstGeom>
          <a:noFill/>
          <a:ln/>
        </p:spPr>
        <p:txBody>
          <a:bodyPr wrap="square" rtlCol="0" anchor="ctr"/>
          <a:lstStyle/>
          <a:p>
            <a:pPr indent="0" marL="0">
              <a:buNone/>
            </a:pPr>
            <a:r>
              <a:rPr lang="en-US" sz="1200" dirty="0">
                <a:solidFill>
                  <a:srgbClr val="1A1A2E"/>
                </a:solidFill>
                <a:latin typeface="Poppins" pitchFamily="34" charset="0"/>
                <a:ea typeface="Poppins" pitchFamily="34" charset="-122"/>
                <a:cs typeface="Poppins" pitchFamily="34" charset="-120"/>
              </a:rPr>
              <a:t>Evidence pack pre-assembled</a:t>
            </a:r>
            <a:endParaRPr lang="en-US" sz="1200" dirty="0"/>
          </a:p>
        </p:txBody>
      </p:sp>
      <p:sp>
        <p:nvSpPr>
          <p:cNvPr id="27" name="Text 25"/>
          <p:cNvSpPr/>
          <p:nvPr/>
        </p:nvSpPr>
        <p:spPr>
          <a:xfrm>
            <a:off x="5806440" y="2459736"/>
            <a:ext cx="274320" cy="475488"/>
          </a:xfrm>
          <a:prstGeom prst="rect">
            <a:avLst/>
          </a:prstGeom>
          <a:noFill/>
          <a:ln/>
        </p:spPr>
        <p:txBody>
          <a:bodyPr wrap="square" rtlCol="0" anchor="ctr"/>
          <a:lstStyle/>
          <a:p>
            <a:pPr algn="ctr" indent="0" marL="0">
              <a:buNone/>
            </a:pPr>
            <a:r>
              <a:rPr lang="en-US" sz="1400" b="1" dirty="0">
                <a:solidFill>
                  <a:srgbClr val="0D9488"/>
                </a:solidFill>
                <a:latin typeface="Poppins" pitchFamily="34" charset="0"/>
                <a:ea typeface="Poppins" pitchFamily="34" charset="-122"/>
                <a:cs typeface="Poppins" pitchFamily="34" charset="-120"/>
              </a:rPr>
              <a:t>✓</a:t>
            </a:r>
            <a:endParaRPr lang="en-US" sz="1400" dirty="0"/>
          </a:p>
        </p:txBody>
      </p:sp>
      <p:sp>
        <p:nvSpPr>
          <p:cNvPr id="28" name="Text 26"/>
          <p:cNvSpPr/>
          <p:nvPr/>
        </p:nvSpPr>
        <p:spPr>
          <a:xfrm>
            <a:off x="6126480" y="2459736"/>
            <a:ext cx="4251960" cy="475488"/>
          </a:xfrm>
          <a:prstGeom prst="rect">
            <a:avLst/>
          </a:prstGeom>
          <a:noFill/>
          <a:ln/>
        </p:spPr>
        <p:txBody>
          <a:bodyPr wrap="square" rtlCol="0" anchor="ctr"/>
          <a:lstStyle/>
          <a:p>
            <a:pPr indent="0" marL="0">
              <a:buNone/>
            </a:pPr>
            <a:r>
              <a:rPr lang="en-US" sz="1200" dirty="0">
                <a:solidFill>
                  <a:srgbClr val="1A1A2E"/>
                </a:solidFill>
                <a:latin typeface="Poppins" pitchFamily="34" charset="0"/>
                <a:ea typeface="Poppins" pitchFamily="34" charset="-122"/>
                <a:cs typeface="Poppins" pitchFamily="34" charset="-120"/>
              </a:rPr>
              <a:t>Checklist: 3 things to verify</a:t>
            </a:r>
            <a:endParaRPr lang="en-US" sz="1200" dirty="0"/>
          </a:p>
        </p:txBody>
      </p:sp>
      <p:sp>
        <p:nvSpPr>
          <p:cNvPr id="29" name="Text 27"/>
          <p:cNvSpPr/>
          <p:nvPr/>
        </p:nvSpPr>
        <p:spPr>
          <a:xfrm>
            <a:off x="5806440" y="2935224"/>
            <a:ext cx="274320" cy="475488"/>
          </a:xfrm>
          <a:prstGeom prst="rect">
            <a:avLst/>
          </a:prstGeom>
          <a:noFill/>
          <a:ln/>
        </p:spPr>
        <p:txBody>
          <a:bodyPr wrap="square" rtlCol="0" anchor="ctr"/>
          <a:lstStyle/>
          <a:p>
            <a:pPr algn="ctr" indent="0" marL="0">
              <a:buNone/>
            </a:pPr>
            <a:r>
              <a:rPr lang="en-US" sz="1400" b="1" dirty="0">
                <a:solidFill>
                  <a:srgbClr val="0D9488"/>
                </a:solidFill>
                <a:latin typeface="Poppins" pitchFamily="34" charset="0"/>
                <a:ea typeface="Poppins" pitchFamily="34" charset="-122"/>
                <a:cs typeface="Poppins" pitchFamily="34" charset="-120"/>
              </a:rPr>
              <a:t>✓</a:t>
            </a:r>
            <a:endParaRPr lang="en-US" sz="1400" dirty="0"/>
          </a:p>
        </p:txBody>
      </p:sp>
      <p:sp>
        <p:nvSpPr>
          <p:cNvPr id="30" name="Text 28"/>
          <p:cNvSpPr/>
          <p:nvPr/>
        </p:nvSpPr>
        <p:spPr>
          <a:xfrm>
            <a:off x="6126480" y="2935224"/>
            <a:ext cx="4251960" cy="475488"/>
          </a:xfrm>
          <a:prstGeom prst="rect">
            <a:avLst/>
          </a:prstGeom>
          <a:noFill/>
          <a:ln/>
        </p:spPr>
        <p:txBody>
          <a:bodyPr wrap="square" rtlCol="0" anchor="ctr"/>
          <a:lstStyle/>
          <a:p>
            <a:pPr indent="0" marL="0">
              <a:buNone/>
            </a:pPr>
            <a:r>
              <a:rPr lang="en-US" sz="1200" dirty="0">
                <a:solidFill>
                  <a:srgbClr val="1A1A2E"/>
                </a:solidFill>
                <a:latin typeface="Poppins" pitchFamily="34" charset="0"/>
                <a:ea typeface="Poppins" pitchFamily="34" charset="-122"/>
                <a:cs typeface="Poppins" pitchFamily="34" charset="-120"/>
              </a:rPr>
              <a:t>8–12 min per case</a:t>
            </a:r>
            <a:endParaRPr lang="en-US" sz="1200" dirty="0"/>
          </a:p>
        </p:txBody>
      </p:sp>
      <p:sp>
        <p:nvSpPr>
          <p:cNvPr id="31" name="Text 29"/>
          <p:cNvSpPr/>
          <p:nvPr/>
        </p:nvSpPr>
        <p:spPr>
          <a:xfrm>
            <a:off x="5806440" y="3410712"/>
            <a:ext cx="274320" cy="475488"/>
          </a:xfrm>
          <a:prstGeom prst="rect">
            <a:avLst/>
          </a:prstGeom>
          <a:noFill/>
          <a:ln/>
        </p:spPr>
        <p:txBody>
          <a:bodyPr wrap="square" rtlCol="0" anchor="ctr"/>
          <a:lstStyle/>
          <a:p>
            <a:pPr algn="ctr" indent="0" marL="0">
              <a:buNone/>
            </a:pPr>
            <a:r>
              <a:rPr lang="en-US" sz="1400" b="1" dirty="0">
                <a:solidFill>
                  <a:srgbClr val="0D9488"/>
                </a:solidFill>
                <a:latin typeface="Poppins" pitchFamily="34" charset="0"/>
                <a:ea typeface="Poppins" pitchFamily="34" charset="-122"/>
                <a:cs typeface="Poppins" pitchFamily="34" charset="-120"/>
              </a:rPr>
              <a:t>✓</a:t>
            </a:r>
            <a:endParaRPr lang="en-US" sz="1400" dirty="0"/>
          </a:p>
        </p:txBody>
      </p:sp>
      <p:sp>
        <p:nvSpPr>
          <p:cNvPr id="32" name="Text 30"/>
          <p:cNvSpPr/>
          <p:nvPr/>
        </p:nvSpPr>
        <p:spPr>
          <a:xfrm>
            <a:off x="6126480" y="3410712"/>
            <a:ext cx="4251960" cy="475488"/>
          </a:xfrm>
          <a:prstGeom prst="rect">
            <a:avLst/>
          </a:prstGeom>
          <a:noFill/>
          <a:ln/>
        </p:spPr>
        <p:txBody>
          <a:bodyPr wrap="square" rtlCol="0" anchor="ctr"/>
          <a:lstStyle/>
          <a:p>
            <a:pPr indent="0" marL="0">
              <a:buNone/>
            </a:pPr>
            <a:r>
              <a:rPr lang="en-US" sz="1200" dirty="0">
                <a:solidFill>
                  <a:srgbClr val="1A1A2E"/>
                </a:solidFill>
                <a:latin typeface="Poppins" pitchFamily="34" charset="0"/>
                <a:ea typeface="Poppins" pitchFamily="34" charset="-122"/>
                <a:cs typeface="Poppins" pitchFamily="34" charset="-120"/>
              </a:rPr>
              <a:t>Queue empty by noon</a:t>
            </a:r>
            <a:endParaRPr lang="en-US" sz="1200" dirty="0"/>
          </a:p>
        </p:txBody>
      </p:sp>
      <p:sp>
        <p:nvSpPr>
          <p:cNvPr id="33" name="Shape 31"/>
          <p:cNvSpPr/>
          <p:nvPr/>
        </p:nvSpPr>
        <p:spPr>
          <a:xfrm>
            <a:off x="502920" y="4206240"/>
            <a:ext cx="3605784" cy="1188720"/>
          </a:xfrm>
          <a:prstGeom prst="roundRect">
            <a:avLst>
              <a:gd name="adj" fmla="val 6154"/>
            </a:avLst>
          </a:prstGeom>
          <a:solidFill>
            <a:srgbClr val="EBE8F0"/>
          </a:solidFill>
          <a:ln w="6350">
            <a:solidFill>
              <a:srgbClr val="EBE8F0"/>
            </a:solidFill>
            <a:prstDash val="solid"/>
          </a:ln>
        </p:spPr>
      </p:sp>
      <p:sp>
        <p:nvSpPr>
          <p:cNvPr id="34" name="Text 32"/>
          <p:cNvSpPr/>
          <p:nvPr/>
        </p:nvSpPr>
        <p:spPr>
          <a:xfrm>
            <a:off x="502920" y="4297680"/>
            <a:ext cx="3605784" cy="640080"/>
          </a:xfrm>
          <a:prstGeom prst="rect">
            <a:avLst/>
          </a:prstGeom>
          <a:noFill/>
          <a:ln/>
        </p:spPr>
        <p:txBody>
          <a:bodyPr wrap="square" rtlCol="0" anchor="ctr"/>
          <a:lstStyle/>
          <a:p>
            <a:pPr algn="ctr" indent="0" marL="0">
              <a:buNone/>
            </a:pPr>
            <a:r>
              <a:rPr lang="en-US" sz="5200" b="1" dirty="0">
                <a:solidFill>
                  <a:srgbClr val="7C3AED"/>
                </a:solidFill>
                <a:latin typeface="Poppins" pitchFamily="34" charset="0"/>
                <a:ea typeface="Poppins" pitchFamily="34" charset="-122"/>
                <a:cs typeface="Poppins" pitchFamily="34" charset="-120"/>
              </a:rPr>
              <a:t>3×</a:t>
            </a:r>
            <a:endParaRPr lang="en-US" sz="5200" dirty="0"/>
          </a:p>
        </p:txBody>
      </p:sp>
      <p:sp>
        <p:nvSpPr>
          <p:cNvPr id="35" name="Text 33"/>
          <p:cNvSpPr/>
          <p:nvPr/>
        </p:nvSpPr>
        <p:spPr>
          <a:xfrm>
            <a:off x="502920" y="4983480"/>
            <a:ext cx="3605784" cy="274320"/>
          </a:xfrm>
          <a:prstGeom prst="rect">
            <a:avLst/>
          </a:prstGeom>
          <a:noFill/>
          <a:ln/>
        </p:spPr>
        <p:txBody>
          <a:bodyPr wrap="square" rtlCol="0" anchor="ctr"/>
          <a:lstStyle/>
          <a:p>
            <a:pPr algn="ctr" indent="0" marL="0">
              <a:buNone/>
            </a:pPr>
            <a:r>
              <a:rPr lang="en-US" sz="1100" dirty="0">
                <a:solidFill>
                  <a:srgbClr val="666666"/>
                </a:solidFill>
                <a:latin typeface="Poppins" pitchFamily="34" charset="0"/>
                <a:ea typeface="Poppins" pitchFamily="34" charset="-122"/>
                <a:cs typeface="Poppins" pitchFamily="34" charset="-120"/>
              </a:rPr>
              <a:t>throughput</a:t>
            </a:r>
            <a:endParaRPr lang="en-US" sz="1100" dirty="0"/>
          </a:p>
        </p:txBody>
      </p:sp>
      <p:sp>
        <p:nvSpPr>
          <p:cNvPr id="36" name="Shape 34"/>
          <p:cNvSpPr/>
          <p:nvPr/>
        </p:nvSpPr>
        <p:spPr>
          <a:xfrm>
            <a:off x="4291584" y="4206240"/>
            <a:ext cx="3605784" cy="1188720"/>
          </a:xfrm>
          <a:prstGeom prst="roundRect">
            <a:avLst>
              <a:gd name="adj" fmla="val 6154"/>
            </a:avLst>
          </a:prstGeom>
          <a:solidFill>
            <a:srgbClr val="E6F5F0"/>
          </a:solidFill>
          <a:ln w="6350">
            <a:solidFill>
              <a:srgbClr val="EBE8F0"/>
            </a:solidFill>
            <a:prstDash val="solid"/>
          </a:ln>
        </p:spPr>
      </p:sp>
      <p:sp>
        <p:nvSpPr>
          <p:cNvPr id="37" name="Text 35"/>
          <p:cNvSpPr/>
          <p:nvPr/>
        </p:nvSpPr>
        <p:spPr>
          <a:xfrm>
            <a:off x="4291584" y="4297680"/>
            <a:ext cx="3605784" cy="640080"/>
          </a:xfrm>
          <a:prstGeom prst="rect">
            <a:avLst/>
          </a:prstGeom>
          <a:noFill/>
          <a:ln/>
        </p:spPr>
        <p:txBody>
          <a:bodyPr wrap="square" rtlCol="0" anchor="ctr"/>
          <a:lstStyle/>
          <a:p>
            <a:pPr algn="ctr" indent="0" marL="0">
              <a:buNone/>
            </a:pPr>
            <a:r>
              <a:rPr lang="en-US" sz="5200" b="1" dirty="0">
                <a:solidFill>
                  <a:srgbClr val="0D9488"/>
                </a:solidFill>
                <a:latin typeface="Poppins" pitchFamily="34" charset="0"/>
                <a:ea typeface="Poppins" pitchFamily="34" charset="-122"/>
                <a:cs typeface="Poppins" pitchFamily="34" charset="-120"/>
              </a:rPr>
              <a:t>75%</a:t>
            </a:r>
            <a:endParaRPr lang="en-US" sz="5200" dirty="0"/>
          </a:p>
        </p:txBody>
      </p:sp>
      <p:sp>
        <p:nvSpPr>
          <p:cNvPr id="38" name="Text 36"/>
          <p:cNvSpPr/>
          <p:nvPr/>
        </p:nvSpPr>
        <p:spPr>
          <a:xfrm>
            <a:off x="4291584" y="4983480"/>
            <a:ext cx="3605784" cy="274320"/>
          </a:xfrm>
          <a:prstGeom prst="rect">
            <a:avLst/>
          </a:prstGeom>
          <a:noFill/>
          <a:ln/>
        </p:spPr>
        <p:txBody>
          <a:bodyPr wrap="square" rtlCol="0" anchor="ctr"/>
          <a:lstStyle/>
          <a:p>
            <a:pPr algn="ctr" indent="0" marL="0">
              <a:buNone/>
            </a:pPr>
            <a:r>
              <a:rPr lang="en-US" sz="1100" dirty="0">
                <a:solidFill>
                  <a:srgbClr val="666666"/>
                </a:solidFill>
                <a:latin typeface="Poppins" pitchFamily="34" charset="0"/>
                <a:ea typeface="Poppins" pitchFamily="34" charset="-122"/>
                <a:cs typeface="Poppins" pitchFamily="34" charset="-120"/>
              </a:rPr>
              <a:t>time reduction</a:t>
            </a:r>
            <a:endParaRPr lang="en-US" sz="1100" dirty="0"/>
          </a:p>
        </p:txBody>
      </p:sp>
      <p:sp>
        <p:nvSpPr>
          <p:cNvPr id="39" name="Shape 37"/>
          <p:cNvSpPr/>
          <p:nvPr/>
        </p:nvSpPr>
        <p:spPr>
          <a:xfrm>
            <a:off x="8080248" y="4206240"/>
            <a:ext cx="3605784" cy="1188720"/>
          </a:xfrm>
          <a:prstGeom prst="roundRect">
            <a:avLst>
              <a:gd name="adj" fmla="val 6154"/>
            </a:avLst>
          </a:prstGeom>
          <a:solidFill>
            <a:srgbClr val="FAF9FD"/>
          </a:solidFill>
          <a:ln w="6350">
            <a:solidFill>
              <a:srgbClr val="EBE8F0"/>
            </a:solidFill>
            <a:prstDash val="solid"/>
          </a:ln>
        </p:spPr>
      </p:sp>
      <p:sp>
        <p:nvSpPr>
          <p:cNvPr id="40" name="Text 38"/>
          <p:cNvSpPr/>
          <p:nvPr/>
        </p:nvSpPr>
        <p:spPr>
          <a:xfrm>
            <a:off x="8080248" y="4297680"/>
            <a:ext cx="3605784" cy="640080"/>
          </a:xfrm>
          <a:prstGeom prst="rect">
            <a:avLst/>
          </a:prstGeom>
          <a:noFill/>
          <a:ln/>
        </p:spPr>
        <p:txBody>
          <a:bodyPr wrap="square" rtlCol="0" anchor="ctr"/>
          <a:lstStyle/>
          <a:p>
            <a:pPr algn="ctr" indent="0" marL="0">
              <a:buNone/>
            </a:pPr>
            <a:r>
              <a:rPr lang="en-US" sz="5200" b="1" dirty="0">
                <a:solidFill>
                  <a:srgbClr val="1A1A2E"/>
                </a:solidFill>
                <a:latin typeface="Poppins" pitchFamily="34" charset="0"/>
                <a:ea typeface="Poppins" pitchFamily="34" charset="-122"/>
                <a:cs typeface="Poppins" pitchFamily="34" charset="-120"/>
              </a:rPr>
              <a:t>0</a:t>
            </a:r>
            <a:endParaRPr lang="en-US" sz="5200" dirty="0"/>
          </a:p>
        </p:txBody>
      </p:sp>
      <p:sp>
        <p:nvSpPr>
          <p:cNvPr id="41" name="Text 39"/>
          <p:cNvSpPr/>
          <p:nvPr/>
        </p:nvSpPr>
        <p:spPr>
          <a:xfrm>
            <a:off x="8080248" y="4983480"/>
            <a:ext cx="3605784" cy="274320"/>
          </a:xfrm>
          <a:prstGeom prst="rect">
            <a:avLst/>
          </a:prstGeom>
          <a:noFill/>
          <a:ln/>
        </p:spPr>
        <p:txBody>
          <a:bodyPr wrap="square" rtlCol="0" anchor="ctr"/>
          <a:lstStyle/>
          <a:p>
            <a:pPr algn="ctr" indent="0" marL="0">
              <a:buNone/>
            </a:pPr>
            <a:r>
              <a:rPr lang="en-US" sz="1100" dirty="0">
                <a:solidFill>
                  <a:srgbClr val="666666"/>
                </a:solidFill>
                <a:latin typeface="Poppins" pitchFamily="34" charset="0"/>
                <a:ea typeface="Poppins" pitchFamily="34" charset="-122"/>
                <a:cs typeface="Poppins" pitchFamily="34" charset="-120"/>
              </a:rPr>
              <a:t>new hires needed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MVP</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Five features. </a:t>
            </a:r>
            <a:pPr indent="0" marL="0">
              <a:buNone/>
            </a:pPr>
            <a:r>
              <a:rPr lang="en-US" sz="3800" b="1" dirty="0">
                <a:solidFill>
                  <a:srgbClr val="1A1A2E"/>
                </a:solidFill>
                <a:latin typeface="Poppins" pitchFamily="34" charset="0"/>
                <a:ea typeface="Poppins" pitchFamily="34" charset="-122"/>
                <a:cs typeface="Poppins" pitchFamily="34" charset="-120"/>
              </a:rPr>
              <a:t>Sequenced by </a:t>
            </a:r>
            <a:pPr indent="0" marL="0">
              <a:buNone/>
            </a:pPr>
            <a:r>
              <a:rPr lang="en-US" sz="3800" b="1" dirty="0">
                <a:solidFill>
                  <a:srgbClr val="7C3AED"/>
                </a:solidFill>
                <a:latin typeface="Poppins" pitchFamily="34" charset="0"/>
                <a:ea typeface="Poppins" pitchFamily="34" charset="-122"/>
                <a:cs typeface="Poppins" pitchFamily="34" charset="-120"/>
              </a:rPr>
              <a:t>dependency.</a:t>
            </a:r>
            <a:endParaRPr lang="en-US" sz="3800" dirty="0"/>
          </a:p>
        </p:txBody>
      </p:sp>
      <p:sp>
        <p:nvSpPr>
          <p:cNvPr id="4" name="Shape 2"/>
          <p:cNvSpPr/>
          <p:nvPr/>
        </p:nvSpPr>
        <p:spPr>
          <a:xfrm>
            <a:off x="502920" y="1417320"/>
            <a:ext cx="10789920" cy="822960"/>
          </a:xfrm>
          <a:prstGeom prst="rect">
            <a:avLst/>
          </a:prstGeom>
          <a:solidFill>
            <a:srgbClr val="FFFFFF"/>
          </a:solidFill>
          <a:ln/>
        </p:spPr>
      </p:sp>
      <p:sp>
        <p:nvSpPr>
          <p:cNvPr id="5" name="Shape 3"/>
          <p:cNvSpPr/>
          <p:nvPr/>
        </p:nvSpPr>
        <p:spPr>
          <a:xfrm>
            <a:off x="502920" y="2240280"/>
            <a:ext cx="10789920" cy="0"/>
          </a:xfrm>
          <a:prstGeom prst="line">
            <a:avLst/>
          </a:prstGeom>
          <a:noFill/>
          <a:ln w="6350">
            <a:solidFill>
              <a:srgbClr val="EBE8F0"/>
            </a:solidFill>
            <a:prstDash val="solid"/>
          </a:ln>
        </p:spPr>
      </p:sp>
      <p:sp>
        <p:nvSpPr>
          <p:cNvPr id="6" name="Shape 4"/>
          <p:cNvSpPr/>
          <p:nvPr/>
        </p:nvSpPr>
        <p:spPr>
          <a:xfrm>
            <a:off x="640080" y="1645920"/>
            <a:ext cx="365760" cy="365760"/>
          </a:xfrm>
          <a:prstGeom prst="ellipse">
            <a:avLst/>
          </a:prstGeom>
          <a:solidFill>
            <a:srgbClr val="7C3AED"/>
          </a:solidFill>
          <a:ln/>
        </p:spPr>
      </p:sp>
      <p:sp>
        <p:nvSpPr>
          <p:cNvPr id="7" name="Text 5"/>
          <p:cNvSpPr/>
          <p:nvPr/>
        </p:nvSpPr>
        <p:spPr>
          <a:xfrm>
            <a:off x="640080" y="1645920"/>
            <a:ext cx="365760" cy="365760"/>
          </a:xfrm>
          <a:prstGeom prst="rect">
            <a:avLst/>
          </a:prstGeom>
          <a:noFill/>
          <a:ln/>
        </p:spPr>
        <p:txBody>
          <a:bodyPr wrap="square"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1</a:t>
            </a:r>
            <a:endParaRPr lang="en-US" sz="1400" dirty="0"/>
          </a:p>
        </p:txBody>
      </p:sp>
      <p:sp>
        <p:nvSpPr>
          <p:cNvPr id="8" name="Shape 6"/>
          <p:cNvSpPr/>
          <p:nvPr/>
        </p:nvSpPr>
        <p:spPr>
          <a:xfrm>
            <a:off x="1143000" y="1645920"/>
            <a:ext cx="365760" cy="365760"/>
          </a:xfrm>
          <a:prstGeom prst="ellipse">
            <a:avLst/>
          </a:prstGeom>
          <a:solidFill>
            <a:srgbClr val="7C3AED"/>
          </a:solidFill>
          <a:ln/>
        </p:spPr>
      </p:sp>
      <p:sp>
        <p:nvSpPr>
          <p:cNvPr id="9" name="Shape 7"/>
          <p:cNvSpPr/>
          <p:nvPr/>
        </p:nvSpPr>
        <p:spPr>
          <a:xfrm>
            <a:off x="1221273" y="1757477"/>
            <a:ext cx="71323" cy="14265"/>
          </a:xfrm>
          <a:prstGeom prst="rect">
            <a:avLst/>
          </a:prstGeom>
          <a:solidFill>
            <a:srgbClr val="FFFFFF"/>
          </a:solidFill>
          <a:ln/>
        </p:spPr>
      </p:sp>
      <p:sp>
        <p:nvSpPr>
          <p:cNvPr id="10" name="Shape 8"/>
          <p:cNvSpPr/>
          <p:nvPr/>
        </p:nvSpPr>
        <p:spPr>
          <a:xfrm>
            <a:off x="1221273" y="1821668"/>
            <a:ext cx="71323" cy="14265"/>
          </a:xfrm>
          <a:prstGeom prst="rect">
            <a:avLst/>
          </a:prstGeom>
          <a:solidFill>
            <a:srgbClr val="FFFFFF"/>
          </a:solidFill>
          <a:ln/>
        </p:spPr>
      </p:sp>
      <p:sp>
        <p:nvSpPr>
          <p:cNvPr id="11" name="Shape 9"/>
          <p:cNvSpPr/>
          <p:nvPr/>
        </p:nvSpPr>
        <p:spPr>
          <a:xfrm>
            <a:off x="1221273" y="1885859"/>
            <a:ext cx="71323" cy="14265"/>
          </a:xfrm>
          <a:prstGeom prst="rect">
            <a:avLst/>
          </a:prstGeom>
          <a:solidFill>
            <a:srgbClr val="FFFFFF"/>
          </a:solidFill>
          <a:ln/>
        </p:spPr>
      </p:sp>
      <p:sp>
        <p:nvSpPr>
          <p:cNvPr id="12" name="Shape 10"/>
          <p:cNvSpPr/>
          <p:nvPr/>
        </p:nvSpPr>
        <p:spPr>
          <a:xfrm>
            <a:off x="1359164" y="1821668"/>
            <a:ext cx="71323" cy="14265"/>
          </a:xfrm>
          <a:prstGeom prst="rect">
            <a:avLst/>
          </a:prstGeom>
          <a:solidFill>
            <a:srgbClr val="FFFFFF"/>
          </a:solidFill>
          <a:ln/>
        </p:spPr>
      </p:sp>
      <p:sp>
        <p:nvSpPr>
          <p:cNvPr id="13" name="Text 11"/>
          <p:cNvSpPr/>
          <p:nvPr/>
        </p:nvSpPr>
        <p:spPr>
          <a:xfrm>
            <a:off x="1645920" y="1490472"/>
            <a:ext cx="3200400" cy="274320"/>
          </a:xfrm>
          <a:prstGeom prst="rect">
            <a:avLst/>
          </a:prstGeom>
          <a:noFill/>
          <a:ln/>
        </p:spPr>
        <p:txBody>
          <a:bodyPr wrap="square" rtlCol="0" anchor="ctr"/>
          <a:lstStyle/>
          <a:p>
            <a:pPr indent="0" marL="0">
              <a:buNone/>
            </a:pPr>
            <a:r>
              <a:rPr lang="en-US" sz="1400" b="1" dirty="0">
                <a:solidFill>
                  <a:srgbClr val="1A1A2E"/>
                </a:solidFill>
                <a:latin typeface="Poppins" pitchFamily="34" charset="0"/>
                <a:ea typeface="Poppins" pitchFamily="34" charset="-122"/>
                <a:cs typeface="Poppins" pitchFamily="34" charset="-120"/>
              </a:rPr>
              <a:t>Violation-Type Grouping</a:t>
            </a:r>
            <a:endParaRPr lang="en-US" sz="1400" dirty="0"/>
          </a:p>
        </p:txBody>
      </p:sp>
      <p:sp>
        <p:nvSpPr>
          <p:cNvPr id="14" name="Shape 12"/>
          <p:cNvSpPr/>
          <p:nvPr/>
        </p:nvSpPr>
        <p:spPr>
          <a:xfrm>
            <a:off x="4937760" y="1527048"/>
            <a:ext cx="1097280" cy="201168"/>
          </a:xfrm>
          <a:prstGeom prst="roundRect">
            <a:avLst>
              <a:gd name="adj" fmla="val 22727"/>
            </a:avLst>
          </a:prstGeom>
          <a:solidFill>
            <a:srgbClr val="E6F5F0"/>
          </a:solidFill>
          <a:ln/>
        </p:spPr>
      </p:sp>
      <p:sp>
        <p:nvSpPr>
          <p:cNvPr id="15" name="Text 13"/>
          <p:cNvSpPr/>
          <p:nvPr/>
        </p:nvSpPr>
        <p:spPr>
          <a:xfrm>
            <a:off x="4937760" y="1527048"/>
            <a:ext cx="1097280" cy="201168"/>
          </a:xfrm>
          <a:prstGeom prst="rect">
            <a:avLst/>
          </a:prstGeom>
          <a:noFill/>
          <a:ln/>
        </p:spPr>
        <p:txBody>
          <a:bodyPr wrap="square" rtlCol="0" anchor="ctr"/>
          <a:lstStyle/>
          <a:p>
            <a:pPr algn="ctr" indent="0" marL="0">
              <a:buNone/>
            </a:pPr>
            <a:r>
              <a:rPr lang="en-US" sz="800" b="1" dirty="0">
                <a:solidFill>
                  <a:srgbClr val="0D9488"/>
                </a:solidFill>
                <a:latin typeface="Poppins" pitchFamily="34" charset="0"/>
                <a:ea typeface="Poppins" pitchFamily="34" charset="-122"/>
                <a:cs typeface="Poppins" pitchFamily="34" charset="-120"/>
              </a:rPr>
              <a:t>FOUNDATION</a:t>
            </a:r>
            <a:endParaRPr lang="en-US" sz="800" dirty="0"/>
          </a:p>
        </p:txBody>
      </p:sp>
      <p:sp>
        <p:nvSpPr>
          <p:cNvPr id="16" name="Text 14"/>
          <p:cNvSpPr/>
          <p:nvPr/>
        </p:nvSpPr>
        <p:spPr>
          <a:xfrm>
            <a:off x="1645920" y="1783080"/>
            <a:ext cx="9235440" cy="4114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Without this, nothing else delivers full value. Grouping is what makes the evidence pack and checklist meaningful.</a:t>
            </a:r>
            <a:endParaRPr lang="en-US" sz="1100" dirty="0"/>
          </a:p>
        </p:txBody>
      </p:sp>
      <p:sp>
        <p:nvSpPr>
          <p:cNvPr id="17" name="Shape 15"/>
          <p:cNvSpPr/>
          <p:nvPr/>
        </p:nvSpPr>
        <p:spPr>
          <a:xfrm>
            <a:off x="502920" y="2286000"/>
            <a:ext cx="10789920" cy="822960"/>
          </a:xfrm>
          <a:prstGeom prst="rect">
            <a:avLst/>
          </a:prstGeom>
          <a:solidFill>
            <a:srgbClr val="FFFFFF"/>
          </a:solidFill>
          <a:ln/>
        </p:spPr>
      </p:sp>
      <p:sp>
        <p:nvSpPr>
          <p:cNvPr id="18" name="Shape 16"/>
          <p:cNvSpPr/>
          <p:nvPr/>
        </p:nvSpPr>
        <p:spPr>
          <a:xfrm>
            <a:off x="502920" y="3108960"/>
            <a:ext cx="10789920" cy="0"/>
          </a:xfrm>
          <a:prstGeom prst="line">
            <a:avLst/>
          </a:prstGeom>
          <a:noFill/>
          <a:ln w="6350">
            <a:solidFill>
              <a:srgbClr val="EBE8F0"/>
            </a:solidFill>
            <a:prstDash val="solid"/>
          </a:ln>
        </p:spPr>
      </p:sp>
      <p:sp>
        <p:nvSpPr>
          <p:cNvPr id="19" name="Shape 17"/>
          <p:cNvSpPr/>
          <p:nvPr/>
        </p:nvSpPr>
        <p:spPr>
          <a:xfrm>
            <a:off x="640080" y="2514600"/>
            <a:ext cx="365760" cy="365760"/>
          </a:xfrm>
          <a:prstGeom prst="ellipse">
            <a:avLst/>
          </a:prstGeom>
          <a:solidFill>
            <a:srgbClr val="FAF9FD"/>
          </a:solidFill>
          <a:ln/>
        </p:spPr>
      </p:sp>
      <p:sp>
        <p:nvSpPr>
          <p:cNvPr id="20" name="Text 18"/>
          <p:cNvSpPr/>
          <p:nvPr/>
        </p:nvSpPr>
        <p:spPr>
          <a:xfrm>
            <a:off x="640080" y="2514600"/>
            <a:ext cx="365760" cy="365760"/>
          </a:xfrm>
          <a:prstGeom prst="rect">
            <a:avLst/>
          </a:prstGeom>
          <a:noFill/>
          <a:ln/>
        </p:spPr>
        <p:txBody>
          <a:bodyPr wrap="square" rtlCol="0" anchor="ctr"/>
          <a:lstStyle/>
          <a:p>
            <a:pPr algn="ctr" indent="0" marL="0">
              <a:buNone/>
            </a:pPr>
            <a:r>
              <a:rPr lang="en-US" sz="1400" b="1" dirty="0">
                <a:solidFill>
                  <a:srgbClr val="666666"/>
                </a:solidFill>
                <a:latin typeface="Poppins" pitchFamily="34" charset="0"/>
                <a:ea typeface="Poppins" pitchFamily="34" charset="-122"/>
                <a:cs typeface="Poppins" pitchFamily="34" charset="-120"/>
              </a:rPr>
              <a:t>2</a:t>
            </a:r>
            <a:endParaRPr lang="en-US" sz="1400" dirty="0"/>
          </a:p>
        </p:txBody>
      </p:sp>
      <p:sp>
        <p:nvSpPr>
          <p:cNvPr id="21" name="Shape 19"/>
          <p:cNvSpPr/>
          <p:nvPr/>
        </p:nvSpPr>
        <p:spPr>
          <a:xfrm>
            <a:off x="1143000" y="2514600"/>
            <a:ext cx="365760" cy="365760"/>
          </a:xfrm>
          <a:prstGeom prst="ellipse">
            <a:avLst/>
          </a:prstGeom>
          <a:solidFill>
            <a:srgbClr val="0D9488"/>
          </a:solidFill>
          <a:ln/>
        </p:spPr>
      </p:sp>
      <p:sp>
        <p:nvSpPr>
          <p:cNvPr id="22" name="Shape 20"/>
          <p:cNvSpPr/>
          <p:nvPr/>
        </p:nvSpPr>
        <p:spPr>
          <a:xfrm>
            <a:off x="1258580" y="2621402"/>
            <a:ext cx="105339" cy="29261"/>
          </a:xfrm>
          <a:prstGeom prst="rect">
            <a:avLst>
              <a:gd name="adj" fmla="val 31250"/>
            </a:avLst>
          </a:prstGeom>
          <a:solidFill>
            <a:srgbClr val="FFFFFF"/>
          </a:solidFill>
          <a:ln/>
        </p:spPr>
      </p:sp>
      <p:sp>
        <p:nvSpPr>
          <p:cNvPr id="23" name="Shape 21"/>
          <p:cNvSpPr/>
          <p:nvPr/>
        </p:nvSpPr>
        <p:spPr>
          <a:xfrm>
            <a:off x="1267358" y="2650663"/>
            <a:ext cx="105339" cy="29261"/>
          </a:xfrm>
          <a:prstGeom prst="rect">
            <a:avLst>
              <a:gd name="adj" fmla="val 31250"/>
            </a:avLst>
          </a:prstGeom>
          <a:solidFill>
            <a:srgbClr val="FFFFFF"/>
          </a:solidFill>
          <a:ln/>
        </p:spPr>
      </p:sp>
      <p:sp>
        <p:nvSpPr>
          <p:cNvPr id="24" name="Shape 22"/>
          <p:cNvSpPr/>
          <p:nvPr/>
        </p:nvSpPr>
        <p:spPr>
          <a:xfrm>
            <a:off x="1276137" y="2679924"/>
            <a:ext cx="105339" cy="29261"/>
          </a:xfrm>
          <a:prstGeom prst="rect">
            <a:avLst>
              <a:gd name="adj" fmla="val 31250"/>
            </a:avLst>
          </a:prstGeom>
          <a:solidFill>
            <a:srgbClr val="FFFFFF"/>
          </a:solidFill>
          <a:ln/>
        </p:spPr>
      </p:sp>
      <p:sp>
        <p:nvSpPr>
          <p:cNvPr id="25" name="Text 23"/>
          <p:cNvSpPr/>
          <p:nvPr/>
        </p:nvSpPr>
        <p:spPr>
          <a:xfrm>
            <a:off x="1645920" y="2359152"/>
            <a:ext cx="3200400" cy="274320"/>
          </a:xfrm>
          <a:prstGeom prst="rect">
            <a:avLst/>
          </a:prstGeom>
          <a:noFill/>
          <a:ln/>
        </p:spPr>
        <p:txBody>
          <a:bodyPr wrap="square" rtlCol="0" anchor="ctr"/>
          <a:lstStyle/>
          <a:p>
            <a:pPr indent="0" marL="0">
              <a:buNone/>
            </a:pPr>
            <a:r>
              <a:rPr lang="en-US" sz="1400" b="1" dirty="0">
                <a:solidFill>
                  <a:srgbClr val="1A1A2E"/>
                </a:solidFill>
                <a:latin typeface="Poppins" pitchFamily="34" charset="0"/>
                <a:ea typeface="Poppins" pitchFamily="34" charset="-122"/>
                <a:cs typeface="Poppins" pitchFamily="34" charset="-120"/>
              </a:rPr>
              <a:t>Evidence Pack</a:t>
            </a:r>
            <a:endParaRPr lang="en-US" sz="1400" dirty="0"/>
          </a:p>
        </p:txBody>
      </p:sp>
      <p:sp>
        <p:nvSpPr>
          <p:cNvPr id="26" name="Text 24"/>
          <p:cNvSpPr/>
          <p:nvPr/>
        </p:nvSpPr>
        <p:spPr>
          <a:xfrm>
            <a:off x="1645920" y="2651760"/>
            <a:ext cx="9235440" cy="4114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Pre-loads all G2RS + EverC intelligence automatically. Eliminates 3-tool manual lookup.</a:t>
            </a:r>
            <a:endParaRPr lang="en-US" sz="1100" dirty="0"/>
          </a:p>
        </p:txBody>
      </p:sp>
      <p:sp>
        <p:nvSpPr>
          <p:cNvPr id="27" name="Shape 25"/>
          <p:cNvSpPr/>
          <p:nvPr/>
        </p:nvSpPr>
        <p:spPr>
          <a:xfrm>
            <a:off x="502920" y="3154680"/>
            <a:ext cx="10789920" cy="822960"/>
          </a:xfrm>
          <a:prstGeom prst="rect">
            <a:avLst/>
          </a:prstGeom>
          <a:solidFill>
            <a:srgbClr val="FFFFFF"/>
          </a:solidFill>
          <a:ln/>
        </p:spPr>
      </p:sp>
      <p:sp>
        <p:nvSpPr>
          <p:cNvPr id="28" name="Shape 26"/>
          <p:cNvSpPr/>
          <p:nvPr/>
        </p:nvSpPr>
        <p:spPr>
          <a:xfrm>
            <a:off x="502920" y="3977640"/>
            <a:ext cx="10789920" cy="0"/>
          </a:xfrm>
          <a:prstGeom prst="line">
            <a:avLst/>
          </a:prstGeom>
          <a:noFill/>
          <a:ln w="6350">
            <a:solidFill>
              <a:srgbClr val="EBE8F0"/>
            </a:solidFill>
            <a:prstDash val="solid"/>
          </a:ln>
        </p:spPr>
      </p:sp>
      <p:sp>
        <p:nvSpPr>
          <p:cNvPr id="29" name="Shape 27"/>
          <p:cNvSpPr/>
          <p:nvPr/>
        </p:nvSpPr>
        <p:spPr>
          <a:xfrm>
            <a:off x="640080" y="3383280"/>
            <a:ext cx="365760" cy="365760"/>
          </a:xfrm>
          <a:prstGeom prst="ellipse">
            <a:avLst/>
          </a:prstGeom>
          <a:solidFill>
            <a:srgbClr val="FAF9FD"/>
          </a:solidFill>
          <a:ln/>
        </p:spPr>
      </p:sp>
      <p:sp>
        <p:nvSpPr>
          <p:cNvPr id="30" name="Text 28"/>
          <p:cNvSpPr/>
          <p:nvPr/>
        </p:nvSpPr>
        <p:spPr>
          <a:xfrm>
            <a:off x="640080" y="3383280"/>
            <a:ext cx="365760" cy="365760"/>
          </a:xfrm>
          <a:prstGeom prst="rect">
            <a:avLst/>
          </a:prstGeom>
          <a:noFill/>
          <a:ln/>
        </p:spPr>
        <p:txBody>
          <a:bodyPr wrap="square" rtlCol="0" anchor="ctr"/>
          <a:lstStyle/>
          <a:p>
            <a:pPr algn="ctr" indent="0" marL="0">
              <a:buNone/>
            </a:pPr>
            <a:r>
              <a:rPr lang="en-US" sz="1400" b="1" dirty="0">
                <a:solidFill>
                  <a:srgbClr val="666666"/>
                </a:solidFill>
                <a:latin typeface="Poppins" pitchFamily="34" charset="0"/>
                <a:ea typeface="Poppins" pitchFamily="34" charset="-122"/>
                <a:cs typeface="Poppins" pitchFamily="34" charset="-120"/>
              </a:rPr>
              <a:t>3</a:t>
            </a:r>
            <a:endParaRPr lang="en-US" sz="1400" dirty="0"/>
          </a:p>
        </p:txBody>
      </p:sp>
      <p:sp>
        <p:nvSpPr>
          <p:cNvPr id="31" name="Shape 29"/>
          <p:cNvSpPr/>
          <p:nvPr/>
        </p:nvSpPr>
        <p:spPr>
          <a:xfrm>
            <a:off x="1143000" y="3383280"/>
            <a:ext cx="365760" cy="365760"/>
          </a:xfrm>
          <a:prstGeom prst="ellipse">
            <a:avLst/>
          </a:prstGeom>
          <a:solidFill>
            <a:srgbClr val="D97706"/>
          </a:solidFill>
          <a:ln/>
        </p:spPr>
      </p:sp>
      <p:sp>
        <p:nvSpPr>
          <p:cNvPr id="32" name="Shape 30"/>
          <p:cNvSpPr/>
          <p:nvPr/>
        </p:nvSpPr>
        <p:spPr>
          <a:xfrm>
            <a:off x="1252728" y="3507638"/>
            <a:ext cx="146304" cy="102413"/>
          </a:xfrm>
          <a:prstGeom prst="roundRect">
            <a:avLst>
              <a:gd name="adj" fmla="val 17857"/>
            </a:avLst>
          </a:prstGeom>
          <a:solidFill>
            <a:srgbClr val="FFFFFF"/>
          </a:solidFill>
          <a:ln/>
        </p:spPr>
      </p:sp>
      <p:sp>
        <p:nvSpPr>
          <p:cNvPr id="33" name="Shape 31"/>
          <p:cNvSpPr/>
          <p:nvPr/>
        </p:nvSpPr>
        <p:spPr>
          <a:xfrm rot="10800000">
            <a:off x="1303934" y="3606394"/>
            <a:ext cx="36576" cy="25603"/>
          </a:xfrm>
          <a:prstGeom prst="triangle">
            <a:avLst/>
          </a:prstGeom>
          <a:solidFill>
            <a:srgbClr val="FFFFFF"/>
          </a:solidFill>
          <a:ln/>
        </p:spPr>
      </p:sp>
      <p:sp>
        <p:nvSpPr>
          <p:cNvPr id="34" name="Text 32"/>
          <p:cNvSpPr/>
          <p:nvPr/>
        </p:nvSpPr>
        <p:spPr>
          <a:xfrm>
            <a:off x="1645920" y="3227832"/>
            <a:ext cx="3200400" cy="274320"/>
          </a:xfrm>
          <a:prstGeom prst="rect">
            <a:avLst/>
          </a:prstGeom>
          <a:noFill/>
          <a:ln/>
        </p:spPr>
        <p:txBody>
          <a:bodyPr wrap="square" rtlCol="0" anchor="ctr"/>
          <a:lstStyle/>
          <a:p>
            <a:pPr indent="0" marL="0">
              <a:buNone/>
            </a:pPr>
            <a:r>
              <a:rPr lang="en-US" sz="1400" b="1" dirty="0">
                <a:solidFill>
                  <a:srgbClr val="1A1A2E"/>
                </a:solidFill>
                <a:latin typeface="Poppins" pitchFamily="34" charset="0"/>
                <a:ea typeface="Poppins" pitchFamily="34" charset="-122"/>
                <a:cs typeface="Poppins" pitchFamily="34" charset="-120"/>
              </a:rPr>
              <a:t>AI Case Summary</a:t>
            </a:r>
            <a:endParaRPr lang="en-US" sz="1400" dirty="0"/>
          </a:p>
        </p:txBody>
      </p:sp>
      <p:sp>
        <p:nvSpPr>
          <p:cNvPr id="35" name="Text 33"/>
          <p:cNvSpPr/>
          <p:nvPr/>
        </p:nvSpPr>
        <p:spPr>
          <a:xfrm>
            <a:off x="1645920" y="3520440"/>
            <a:ext cx="9235440" cy="4114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Plain language, on-demand, 20 seconds. Analyst edits and signs off. AI is advisory only.</a:t>
            </a:r>
            <a:endParaRPr lang="en-US" sz="1100" dirty="0"/>
          </a:p>
        </p:txBody>
      </p:sp>
      <p:sp>
        <p:nvSpPr>
          <p:cNvPr id="36" name="Shape 34"/>
          <p:cNvSpPr/>
          <p:nvPr/>
        </p:nvSpPr>
        <p:spPr>
          <a:xfrm>
            <a:off x="502920" y="4023360"/>
            <a:ext cx="10789920" cy="822960"/>
          </a:xfrm>
          <a:prstGeom prst="rect">
            <a:avLst/>
          </a:prstGeom>
          <a:solidFill>
            <a:srgbClr val="FFFFFF"/>
          </a:solidFill>
          <a:ln/>
        </p:spPr>
      </p:sp>
      <p:sp>
        <p:nvSpPr>
          <p:cNvPr id="37" name="Shape 35"/>
          <p:cNvSpPr/>
          <p:nvPr/>
        </p:nvSpPr>
        <p:spPr>
          <a:xfrm>
            <a:off x="502920" y="4846320"/>
            <a:ext cx="10789920" cy="0"/>
          </a:xfrm>
          <a:prstGeom prst="line">
            <a:avLst/>
          </a:prstGeom>
          <a:noFill/>
          <a:ln w="6350">
            <a:solidFill>
              <a:srgbClr val="EBE8F0"/>
            </a:solidFill>
            <a:prstDash val="solid"/>
          </a:ln>
        </p:spPr>
      </p:sp>
      <p:sp>
        <p:nvSpPr>
          <p:cNvPr id="38" name="Shape 36"/>
          <p:cNvSpPr/>
          <p:nvPr/>
        </p:nvSpPr>
        <p:spPr>
          <a:xfrm>
            <a:off x="640080" y="4251960"/>
            <a:ext cx="365760" cy="365760"/>
          </a:xfrm>
          <a:prstGeom prst="ellipse">
            <a:avLst/>
          </a:prstGeom>
          <a:solidFill>
            <a:srgbClr val="FAF9FD"/>
          </a:solidFill>
          <a:ln/>
        </p:spPr>
      </p:sp>
      <p:sp>
        <p:nvSpPr>
          <p:cNvPr id="39" name="Text 37"/>
          <p:cNvSpPr/>
          <p:nvPr/>
        </p:nvSpPr>
        <p:spPr>
          <a:xfrm>
            <a:off x="640080" y="4251960"/>
            <a:ext cx="365760" cy="365760"/>
          </a:xfrm>
          <a:prstGeom prst="rect">
            <a:avLst/>
          </a:prstGeom>
          <a:noFill/>
          <a:ln/>
        </p:spPr>
        <p:txBody>
          <a:bodyPr wrap="square" rtlCol="0" anchor="ctr"/>
          <a:lstStyle/>
          <a:p>
            <a:pPr algn="ctr" indent="0" marL="0">
              <a:buNone/>
            </a:pPr>
            <a:r>
              <a:rPr lang="en-US" sz="1400" b="1" dirty="0">
                <a:solidFill>
                  <a:srgbClr val="666666"/>
                </a:solidFill>
                <a:latin typeface="Poppins" pitchFamily="34" charset="0"/>
                <a:ea typeface="Poppins" pitchFamily="34" charset="-122"/>
                <a:cs typeface="Poppins" pitchFamily="34" charset="-120"/>
              </a:rPr>
              <a:t>4</a:t>
            </a:r>
            <a:endParaRPr lang="en-US" sz="1400" dirty="0"/>
          </a:p>
        </p:txBody>
      </p:sp>
      <p:sp>
        <p:nvSpPr>
          <p:cNvPr id="40" name="Shape 38"/>
          <p:cNvSpPr/>
          <p:nvPr/>
        </p:nvSpPr>
        <p:spPr>
          <a:xfrm>
            <a:off x="1143000" y="4251960"/>
            <a:ext cx="365760" cy="365760"/>
          </a:xfrm>
          <a:prstGeom prst="ellipse">
            <a:avLst/>
          </a:prstGeom>
          <a:solidFill>
            <a:srgbClr val="7C3AED"/>
          </a:solidFill>
          <a:ln/>
        </p:spPr>
      </p:sp>
      <p:sp>
        <p:nvSpPr>
          <p:cNvPr id="41" name="Shape 39"/>
          <p:cNvSpPr/>
          <p:nvPr/>
        </p:nvSpPr>
        <p:spPr>
          <a:xfrm>
            <a:off x="1260043" y="4352544"/>
            <a:ext cx="131674" cy="164592"/>
          </a:xfrm>
          <a:prstGeom prst="rect">
            <a:avLst>
              <a:gd name="adj" fmla="val 6944"/>
            </a:avLst>
          </a:prstGeom>
          <a:solidFill>
            <a:srgbClr val="FFFFFF"/>
          </a:solidFill>
          <a:ln/>
        </p:spPr>
      </p:sp>
      <p:sp>
        <p:nvSpPr>
          <p:cNvPr id="42" name="Shape 40"/>
          <p:cNvSpPr/>
          <p:nvPr/>
        </p:nvSpPr>
        <p:spPr>
          <a:xfrm>
            <a:off x="1292962" y="4379976"/>
            <a:ext cx="65837" cy="10973"/>
          </a:xfrm>
          <a:prstGeom prst="rect">
            <a:avLst/>
          </a:prstGeom>
          <a:solidFill>
            <a:srgbClr val="7C3AED"/>
          </a:solidFill>
          <a:ln/>
        </p:spPr>
      </p:sp>
      <p:sp>
        <p:nvSpPr>
          <p:cNvPr id="43" name="Shape 41"/>
          <p:cNvSpPr/>
          <p:nvPr/>
        </p:nvSpPr>
        <p:spPr>
          <a:xfrm>
            <a:off x="1292962" y="4429354"/>
            <a:ext cx="65837" cy="10973"/>
          </a:xfrm>
          <a:prstGeom prst="rect">
            <a:avLst/>
          </a:prstGeom>
          <a:solidFill>
            <a:srgbClr val="7C3AED"/>
          </a:solidFill>
          <a:ln/>
        </p:spPr>
      </p:sp>
      <p:sp>
        <p:nvSpPr>
          <p:cNvPr id="44" name="Shape 42"/>
          <p:cNvSpPr/>
          <p:nvPr/>
        </p:nvSpPr>
        <p:spPr>
          <a:xfrm>
            <a:off x="1292962" y="4478731"/>
            <a:ext cx="65837" cy="10973"/>
          </a:xfrm>
          <a:prstGeom prst="rect">
            <a:avLst/>
          </a:prstGeom>
          <a:solidFill>
            <a:srgbClr val="7C3AED"/>
          </a:solidFill>
          <a:ln/>
        </p:spPr>
      </p:sp>
      <p:sp>
        <p:nvSpPr>
          <p:cNvPr id="45" name="Text 43"/>
          <p:cNvSpPr/>
          <p:nvPr/>
        </p:nvSpPr>
        <p:spPr>
          <a:xfrm>
            <a:off x="1645920" y="4096512"/>
            <a:ext cx="3200400" cy="274320"/>
          </a:xfrm>
          <a:prstGeom prst="rect">
            <a:avLst/>
          </a:prstGeom>
          <a:noFill/>
          <a:ln/>
        </p:spPr>
        <p:txBody>
          <a:bodyPr wrap="square" rtlCol="0" anchor="ctr"/>
          <a:lstStyle/>
          <a:p>
            <a:pPr indent="0" marL="0">
              <a:buNone/>
            </a:pPr>
            <a:r>
              <a:rPr lang="en-US" sz="1400" b="1" dirty="0">
                <a:solidFill>
                  <a:srgbClr val="1A1A2E"/>
                </a:solidFill>
                <a:latin typeface="Poppins" pitchFamily="34" charset="0"/>
                <a:ea typeface="Poppins" pitchFamily="34" charset="-122"/>
                <a:cs typeface="Poppins" pitchFamily="34" charset="-120"/>
              </a:rPr>
              <a:t>Verification Checklist</a:t>
            </a:r>
            <a:endParaRPr lang="en-US" sz="1400" dirty="0"/>
          </a:p>
        </p:txBody>
      </p:sp>
      <p:sp>
        <p:nvSpPr>
          <p:cNvPr id="46" name="Text 44"/>
          <p:cNvSpPr/>
          <p:nvPr/>
        </p:nvSpPr>
        <p:spPr>
          <a:xfrm>
            <a:off x="1645920" y="4389120"/>
            <a:ext cx="9235440" cy="4114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What internal data to check for this violation type. Respects data boundary — guides, never accesses.</a:t>
            </a:r>
            <a:endParaRPr lang="en-US" sz="1100" dirty="0"/>
          </a:p>
        </p:txBody>
      </p:sp>
      <p:sp>
        <p:nvSpPr>
          <p:cNvPr id="47" name="Shape 45"/>
          <p:cNvSpPr/>
          <p:nvPr/>
        </p:nvSpPr>
        <p:spPr>
          <a:xfrm>
            <a:off x="502920" y="4892040"/>
            <a:ext cx="10789920" cy="822960"/>
          </a:xfrm>
          <a:prstGeom prst="rect">
            <a:avLst/>
          </a:prstGeom>
          <a:solidFill>
            <a:srgbClr val="FFFFFF"/>
          </a:solidFill>
          <a:ln/>
        </p:spPr>
      </p:sp>
      <p:sp>
        <p:nvSpPr>
          <p:cNvPr id="48" name="Shape 46"/>
          <p:cNvSpPr/>
          <p:nvPr/>
        </p:nvSpPr>
        <p:spPr>
          <a:xfrm>
            <a:off x="502920" y="5715000"/>
            <a:ext cx="10789920" cy="0"/>
          </a:xfrm>
          <a:prstGeom prst="line">
            <a:avLst/>
          </a:prstGeom>
          <a:noFill/>
          <a:ln w="6350">
            <a:solidFill>
              <a:srgbClr val="EBE8F0"/>
            </a:solidFill>
            <a:prstDash val="solid"/>
          </a:ln>
        </p:spPr>
      </p:sp>
      <p:sp>
        <p:nvSpPr>
          <p:cNvPr id="49" name="Shape 47"/>
          <p:cNvSpPr/>
          <p:nvPr/>
        </p:nvSpPr>
        <p:spPr>
          <a:xfrm>
            <a:off x="640080" y="5120640"/>
            <a:ext cx="365760" cy="365760"/>
          </a:xfrm>
          <a:prstGeom prst="ellipse">
            <a:avLst/>
          </a:prstGeom>
          <a:solidFill>
            <a:srgbClr val="FAF9FD"/>
          </a:solidFill>
          <a:ln/>
        </p:spPr>
      </p:sp>
      <p:sp>
        <p:nvSpPr>
          <p:cNvPr id="50" name="Text 48"/>
          <p:cNvSpPr/>
          <p:nvPr/>
        </p:nvSpPr>
        <p:spPr>
          <a:xfrm>
            <a:off x="640080" y="5120640"/>
            <a:ext cx="365760" cy="365760"/>
          </a:xfrm>
          <a:prstGeom prst="rect">
            <a:avLst/>
          </a:prstGeom>
          <a:noFill/>
          <a:ln/>
        </p:spPr>
        <p:txBody>
          <a:bodyPr wrap="square" rtlCol="0" anchor="ctr"/>
          <a:lstStyle/>
          <a:p>
            <a:pPr algn="ctr" indent="0" marL="0">
              <a:buNone/>
            </a:pPr>
            <a:r>
              <a:rPr lang="en-US" sz="1400" b="1" dirty="0">
                <a:solidFill>
                  <a:srgbClr val="666666"/>
                </a:solidFill>
                <a:latin typeface="Poppins" pitchFamily="34" charset="0"/>
                <a:ea typeface="Poppins" pitchFamily="34" charset="-122"/>
                <a:cs typeface="Poppins" pitchFamily="34" charset="-120"/>
              </a:rPr>
              <a:t>5</a:t>
            </a:r>
            <a:endParaRPr lang="en-US" sz="1400" dirty="0"/>
          </a:p>
        </p:txBody>
      </p:sp>
      <p:sp>
        <p:nvSpPr>
          <p:cNvPr id="51" name="Shape 49"/>
          <p:cNvSpPr/>
          <p:nvPr/>
        </p:nvSpPr>
        <p:spPr>
          <a:xfrm>
            <a:off x="1143000" y="5120640"/>
            <a:ext cx="365760" cy="365760"/>
          </a:xfrm>
          <a:prstGeom prst="ellipse">
            <a:avLst/>
          </a:prstGeom>
          <a:solidFill>
            <a:srgbClr val="DC2626"/>
          </a:solidFill>
          <a:ln/>
        </p:spPr>
      </p:sp>
      <p:sp>
        <p:nvSpPr>
          <p:cNvPr id="52" name="Shape 50"/>
          <p:cNvSpPr/>
          <p:nvPr/>
        </p:nvSpPr>
        <p:spPr>
          <a:xfrm>
            <a:off x="1281989" y="5237683"/>
            <a:ext cx="87782" cy="87782"/>
          </a:xfrm>
          <a:prstGeom prst="rect">
            <a:avLst>
              <a:gd name="adj" fmla="val 10417"/>
            </a:avLst>
          </a:prstGeom>
          <a:solidFill>
            <a:srgbClr val="FFFFFF"/>
          </a:solidFill>
          <a:ln/>
        </p:spPr>
      </p:sp>
      <p:sp>
        <p:nvSpPr>
          <p:cNvPr id="53" name="Shape 51"/>
          <p:cNvSpPr/>
          <p:nvPr/>
        </p:nvSpPr>
        <p:spPr>
          <a:xfrm rot="10800000">
            <a:off x="1281989" y="5322722"/>
            <a:ext cx="87782" cy="43891"/>
          </a:xfrm>
          <a:prstGeom prst="triangle">
            <a:avLst/>
          </a:prstGeom>
          <a:solidFill>
            <a:srgbClr val="FFFFFF"/>
          </a:solidFill>
          <a:ln/>
        </p:spPr>
      </p:sp>
      <p:sp>
        <p:nvSpPr>
          <p:cNvPr id="54" name="Shape 52"/>
          <p:cNvSpPr/>
          <p:nvPr/>
        </p:nvSpPr>
        <p:spPr>
          <a:xfrm>
            <a:off x="1342339" y="5309006"/>
            <a:ext cx="65837" cy="65837"/>
          </a:xfrm>
          <a:prstGeom prst="ellipse">
            <a:avLst/>
          </a:prstGeom>
          <a:solidFill>
            <a:srgbClr val="DC2626"/>
          </a:solidFill>
          <a:ln/>
        </p:spPr>
      </p:sp>
      <p:sp>
        <p:nvSpPr>
          <p:cNvPr id="55" name="Shape 53"/>
          <p:cNvSpPr/>
          <p:nvPr/>
        </p:nvSpPr>
        <p:spPr>
          <a:xfrm>
            <a:off x="1350569" y="5317236"/>
            <a:ext cx="49378" cy="49378"/>
          </a:xfrm>
          <a:prstGeom prst="ellipse">
            <a:avLst/>
          </a:prstGeom>
          <a:solidFill>
            <a:srgbClr val="FFFFFF"/>
          </a:solidFill>
          <a:ln/>
        </p:spPr>
      </p:sp>
      <p:sp>
        <p:nvSpPr>
          <p:cNvPr id="56" name="Text 54"/>
          <p:cNvSpPr/>
          <p:nvPr/>
        </p:nvSpPr>
        <p:spPr>
          <a:xfrm>
            <a:off x="1645920" y="4965192"/>
            <a:ext cx="3200400" cy="274320"/>
          </a:xfrm>
          <a:prstGeom prst="rect">
            <a:avLst/>
          </a:prstGeom>
          <a:noFill/>
          <a:ln/>
        </p:spPr>
        <p:txBody>
          <a:bodyPr wrap="square" rtlCol="0" anchor="ctr"/>
          <a:lstStyle/>
          <a:p>
            <a:pPr indent="0" marL="0">
              <a:buNone/>
            </a:pPr>
            <a:r>
              <a:rPr lang="en-US" sz="1400" b="1" dirty="0">
                <a:solidFill>
                  <a:srgbClr val="1A1A2E"/>
                </a:solidFill>
                <a:latin typeface="Poppins" pitchFamily="34" charset="0"/>
                <a:ea typeface="Poppins" pitchFamily="34" charset="-122"/>
                <a:cs typeface="Poppins" pitchFamily="34" charset="-120"/>
              </a:rPr>
              <a:t>Risk-Tier Routing + Decision</a:t>
            </a:r>
            <a:endParaRPr lang="en-US" sz="1400" dirty="0"/>
          </a:p>
        </p:txBody>
      </p:sp>
      <p:sp>
        <p:nvSpPr>
          <p:cNvPr id="57" name="Text 55"/>
          <p:cNvSpPr/>
          <p:nvPr/>
        </p:nvSpPr>
        <p:spPr>
          <a:xfrm>
            <a:off x="1645920" y="5257800"/>
            <a:ext cx="9235440" cy="411480"/>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Critical/High first. SLA timer visible to analyst. Decision buttons with full audit trail.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CUSTOMER SEGMENTS</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Same platform. </a:t>
            </a:r>
            <a:pPr indent="0" marL="0">
              <a:buNone/>
            </a:pPr>
            <a:r>
              <a:rPr lang="en-US" sz="3800" b="1" dirty="0">
                <a:solidFill>
                  <a:srgbClr val="1A1A2E"/>
                </a:solidFill>
                <a:latin typeface="Poppins" pitchFamily="34" charset="0"/>
                <a:ea typeface="Poppins" pitchFamily="34" charset="-122"/>
                <a:cs typeface="Poppins" pitchFamily="34" charset="-120"/>
              </a:rPr>
              <a:t>Different </a:t>
            </a:r>
            <a:pPr indent="0" marL="0">
              <a:buNone/>
            </a:pPr>
            <a:r>
              <a:rPr lang="en-US" sz="3800" b="1" dirty="0">
                <a:solidFill>
                  <a:srgbClr val="D97706"/>
                </a:solidFill>
                <a:latin typeface="Poppins" pitchFamily="34" charset="0"/>
                <a:ea typeface="Poppins" pitchFamily="34" charset="-122"/>
                <a:cs typeface="Poppins" pitchFamily="34" charset="-120"/>
              </a:rPr>
              <a:t>lever.</a:t>
            </a:r>
            <a:endParaRPr lang="en-US" sz="3800" dirty="0"/>
          </a:p>
        </p:txBody>
      </p:sp>
      <p:sp>
        <p:nvSpPr>
          <p:cNvPr id="4" name="Shape 2"/>
          <p:cNvSpPr/>
          <p:nvPr/>
        </p:nvSpPr>
        <p:spPr>
          <a:xfrm>
            <a:off x="502920" y="1417320"/>
            <a:ext cx="2658618" cy="3657600"/>
          </a:xfrm>
          <a:prstGeom prst="roundRect">
            <a:avLst>
              <a:gd name="adj" fmla="val 2752"/>
            </a:avLst>
          </a:prstGeom>
          <a:solidFill>
            <a:srgbClr val="FFFFFF"/>
          </a:solidFill>
          <a:ln w="6350">
            <a:solidFill>
              <a:srgbClr val="EBE8F0"/>
            </a:solidFill>
            <a:prstDash val="solid"/>
          </a:ln>
        </p:spPr>
      </p:sp>
      <p:sp>
        <p:nvSpPr>
          <p:cNvPr id="5" name="Shape 3"/>
          <p:cNvSpPr/>
          <p:nvPr/>
        </p:nvSpPr>
        <p:spPr>
          <a:xfrm>
            <a:off x="1580769" y="1645920"/>
            <a:ext cx="502920" cy="502920"/>
          </a:xfrm>
          <a:prstGeom prst="ellipse">
            <a:avLst/>
          </a:prstGeom>
          <a:solidFill>
            <a:srgbClr val="7C3AED"/>
          </a:solidFill>
          <a:ln/>
        </p:spPr>
      </p:sp>
      <p:sp>
        <p:nvSpPr>
          <p:cNvPr id="6" name="Shape 4"/>
          <p:cNvSpPr/>
          <p:nvPr/>
        </p:nvSpPr>
        <p:spPr>
          <a:xfrm rot="-1500000">
            <a:off x="1721587" y="1830995"/>
            <a:ext cx="221285" cy="22128"/>
          </a:xfrm>
          <a:prstGeom prst="rect">
            <a:avLst/>
          </a:prstGeom>
          <a:solidFill>
            <a:srgbClr val="FFFFFF"/>
          </a:solidFill>
          <a:ln/>
        </p:spPr>
      </p:sp>
      <p:sp>
        <p:nvSpPr>
          <p:cNvPr id="7" name="Shape 5"/>
          <p:cNvSpPr/>
          <p:nvPr/>
        </p:nvSpPr>
        <p:spPr>
          <a:xfrm>
            <a:off x="1887550" y="1764609"/>
            <a:ext cx="55321" cy="66385"/>
          </a:xfrm>
          <a:prstGeom prst="triangle">
            <a:avLst/>
          </a:prstGeom>
          <a:solidFill>
            <a:srgbClr val="FFFFFF"/>
          </a:solidFill>
          <a:ln/>
        </p:spPr>
      </p:sp>
      <p:sp>
        <p:nvSpPr>
          <p:cNvPr id="8" name="Text 6"/>
          <p:cNvSpPr/>
          <p:nvPr/>
        </p:nvSpPr>
        <p:spPr>
          <a:xfrm>
            <a:off x="640080" y="2331720"/>
            <a:ext cx="2384298" cy="274320"/>
          </a:xfrm>
          <a:prstGeom prst="rect">
            <a:avLst/>
          </a:prstGeom>
          <a:noFill/>
          <a:ln/>
        </p:spPr>
        <p:txBody>
          <a:bodyPr wrap="square" rtlCol="0" anchor="ctr"/>
          <a:lstStyle/>
          <a:p>
            <a:pPr algn="ctr" indent="0" marL="0">
              <a:buNone/>
            </a:pPr>
            <a:r>
              <a:rPr lang="en-US" sz="1400" b="1" dirty="0">
                <a:solidFill>
                  <a:srgbClr val="7C3AED"/>
                </a:solidFill>
                <a:latin typeface="Poppins" pitchFamily="34" charset="0"/>
                <a:ea typeface="Poppins" pitchFamily="34" charset="-122"/>
                <a:cs typeface="Poppins" pitchFamily="34" charset="-120"/>
              </a:rPr>
              <a:t>Growing PayFac</a:t>
            </a:r>
            <a:endParaRPr lang="en-US" sz="1400" dirty="0"/>
          </a:p>
        </p:txBody>
      </p:sp>
      <p:sp>
        <p:nvSpPr>
          <p:cNvPr id="9" name="Text 7"/>
          <p:cNvSpPr/>
          <p:nvPr/>
        </p:nvSpPr>
        <p:spPr>
          <a:xfrm>
            <a:off x="640080" y="2697480"/>
            <a:ext cx="2384298" cy="365760"/>
          </a:xfrm>
          <a:prstGeom prst="rect">
            <a:avLst/>
          </a:prstGeom>
          <a:noFill/>
          <a:ln/>
        </p:spPr>
        <p:txBody>
          <a:bodyPr wrap="square" rtlCol="0" anchor="ctr"/>
          <a:lstStyle/>
          <a:p>
            <a:pPr algn="ctr" indent="0" marL="0">
              <a:buNone/>
            </a:pPr>
            <a:r>
              <a:rPr lang="en-US" sz="1100" dirty="0">
                <a:solidFill>
                  <a:srgbClr val="666666"/>
                </a:solidFill>
                <a:latin typeface="Poppins" pitchFamily="34" charset="0"/>
                <a:ea typeface="Poppins" pitchFamily="34" charset="-122"/>
                <a:cs typeface="Poppins" pitchFamily="34" charset="-120"/>
              </a:rPr>
              <a:t>Alert volume overwhelming</a:t>
            </a:r>
            <a:endParaRPr lang="en-US" sz="1100" dirty="0"/>
          </a:p>
        </p:txBody>
      </p:sp>
      <p:sp>
        <p:nvSpPr>
          <p:cNvPr id="10" name="Text 8"/>
          <p:cNvSpPr/>
          <p:nvPr/>
        </p:nvSpPr>
        <p:spPr>
          <a:xfrm>
            <a:off x="640080" y="3154680"/>
            <a:ext cx="2384298" cy="548640"/>
          </a:xfrm>
          <a:prstGeom prst="rect">
            <a:avLst/>
          </a:prstGeom>
          <a:noFill/>
          <a:ln/>
        </p:spPr>
        <p:txBody>
          <a:bodyPr wrap="square" rtlCol="0" anchor="ctr"/>
          <a:lstStyle/>
          <a:p>
            <a:pPr algn="ctr" indent="0" marL="0">
              <a:buNone/>
            </a:pPr>
            <a:r>
              <a:rPr lang="en-US" sz="1000" dirty="0">
                <a:solidFill>
                  <a:srgbClr val="666666"/>
                </a:solidFill>
                <a:latin typeface="Poppins" pitchFamily="34" charset="0"/>
                <a:ea typeface="Poppins" pitchFamily="34" charset="-122"/>
                <a:cs typeface="Poppins" pitchFamily="34" charset="-120"/>
              </a:rPr>
              <a:t>Lever: </a:t>
            </a:r>
            <a:pPr algn="ctr" indent="0" marL="0">
              <a:buNone/>
            </a:pPr>
            <a:r>
              <a:rPr lang="en-US" sz="1100" b="1" dirty="0">
                <a:solidFill>
                  <a:srgbClr val="1A1A2E"/>
                </a:solidFill>
                <a:latin typeface="Poppins" pitchFamily="34" charset="0"/>
                <a:ea typeface="Poppins" pitchFamily="34" charset="-122"/>
                <a:cs typeface="Poppins" pitchFamily="34" charset="-120"/>
              </a:rPr>
              <a:t>Grouping</a:t>
            </a:r>
            <a:endParaRPr lang="en-US" sz="1000" dirty="0"/>
          </a:p>
        </p:txBody>
      </p:sp>
      <p:sp>
        <p:nvSpPr>
          <p:cNvPr id="11" name="Shape 9"/>
          <p:cNvSpPr/>
          <p:nvPr/>
        </p:nvSpPr>
        <p:spPr>
          <a:xfrm>
            <a:off x="1375029" y="4663440"/>
            <a:ext cx="914400" cy="201168"/>
          </a:xfrm>
          <a:prstGeom prst="roundRect">
            <a:avLst>
              <a:gd name="adj" fmla="val 22727"/>
            </a:avLst>
          </a:prstGeom>
          <a:solidFill>
            <a:srgbClr val="E6F5F0"/>
          </a:solidFill>
          <a:ln/>
        </p:spPr>
      </p:sp>
      <p:sp>
        <p:nvSpPr>
          <p:cNvPr id="12" name="Text 10"/>
          <p:cNvSpPr/>
          <p:nvPr/>
        </p:nvSpPr>
        <p:spPr>
          <a:xfrm>
            <a:off x="1375029" y="4663440"/>
            <a:ext cx="914400" cy="201168"/>
          </a:xfrm>
          <a:prstGeom prst="rect">
            <a:avLst/>
          </a:prstGeom>
          <a:noFill/>
          <a:ln/>
        </p:spPr>
        <p:txBody>
          <a:bodyPr wrap="square" rtlCol="0" anchor="ctr"/>
          <a:lstStyle/>
          <a:p>
            <a:pPr algn="ctr" indent="0" marL="0">
              <a:buNone/>
            </a:pPr>
            <a:r>
              <a:rPr lang="en-US" sz="800" b="1" dirty="0">
                <a:solidFill>
                  <a:srgbClr val="0D9488"/>
                </a:solidFill>
                <a:latin typeface="Poppins" pitchFamily="34" charset="0"/>
                <a:ea typeface="Poppins" pitchFamily="34" charset="-122"/>
                <a:cs typeface="Poppins" pitchFamily="34" charset="-120"/>
              </a:rPr>
              <a:t>MVP</a:t>
            </a:r>
            <a:endParaRPr lang="en-US" sz="800" dirty="0"/>
          </a:p>
        </p:txBody>
      </p:sp>
      <p:sp>
        <p:nvSpPr>
          <p:cNvPr id="13" name="Shape 11"/>
          <p:cNvSpPr/>
          <p:nvPr/>
        </p:nvSpPr>
        <p:spPr>
          <a:xfrm>
            <a:off x="3344418" y="1417320"/>
            <a:ext cx="2658618" cy="3657600"/>
          </a:xfrm>
          <a:prstGeom prst="roundRect">
            <a:avLst>
              <a:gd name="adj" fmla="val 2752"/>
            </a:avLst>
          </a:prstGeom>
          <a:solidFill>
            <a:srgbClr val="FFFFFF"/>
          </a:solidFill>
          <a:ln w="6350">
            <a:solidFill>
              <a:srgbClr val="EBE8F0"/>
            </a:solidFill>
            <a:prstDash val="solid"/>
          </a:ln>
        </p:spPr>
      </p:sp>
      <p:sp>
        <p:nvSpPr>
          <p:cNvPr id="14" name="Shape 12"/>
          <p:cNvSpPr/>
          <p:nvPr/>
        </p:nvSpPr>
        <p:spPr>
          <a:xfrm>
            <a:off x="4422267" y="1645920"/>
            <a:ext cx="502920" cy="502920"/>
          </a:xfrm>
          <a:prstGeom prst="ellipse">
            <a:avLst/>
          </a:prstGeom>
          <a:solidFill>
            <a:srgbClr val="0D9488"/>
          </a:solidFill>
          <a:ln/>
        </p:spPr>
      </p:sp>
      <p:sp>
        <p:nvSpPr>
          <p:cNvPr id="15" name="Shape 13"/>
          <p:cNvSpPr/>
          <p:nvPr/>
        </p:nvSpPr>
        <p:spPr>
          <a:xfrm>
            <a:off x="4610359" y="1812889"/>
            <a:ext cx="126736" cy="168981"/>
          </a:xfrm>
          <a:prstGeom prst="rect">
            <a:avLst>
              <a:gd name="adj" fmla="val 14430"/>
            </a:avLst>
          </a:prstGeom>
          <a:solidFill>
            <a:srgbClr val="FFFFFF"/>
          </a:solidFill>
          <a:ln/>
        </p:spPr>
      </p:sp>
      <p:sp>
        <p:nvSpPr>
          <p:cNvPr id="16" name="Shape 14"/>
          <p:cNvSpPr/>
          <p:nvPr/>
        </p:nvSpPr>
        <p:spPr>
          <a:xfrm rot="10800000">
            <a:off x="4610359" y="1974830"/>
            <a:ext cx="126736" cy="63368"/>
          </a:xfrm>
          <a:prstGeom prst="triangle">
            <a:avLst/>
          </a:prstGeom>
          <a:solidFill>
            <a:srgbClr val="FFFFFF"/>
          </a:solidFill>
          <a:ln/>
        </p:spPr>
      </p:sp>
      <p:sp>
        <p:nvSpPr>
          <p:cNvPr id="17" name="Text 15"/>
          <p:cNvSpPr/>
          <p:nvPr/>
        </p:nvSpPr>
        <p:spPr>
          <a:xfrm>
            <a:off x="3481578" y="2331720"/>
            <a:ext cx="2384298" cy="274320"/>
          </a:xfrm>
          <a:prstGeom prst="rect">
            <a:avLst/>
          </a:prstGeom>
          <a:noFill/>
          <a:ln/>
        </p:spPr>
        <p:txBody>
          <a:bodyPr wrap="square" rtlCol="0" anchor="ctr"/>
          <a:lstStyle/>
          <a:p>
            <a:pPr algn="ctr" indent="0" marL="0">
              <a:buNone/>
            </a:pPr>
            <a:r>
              <a:rPr lang="en-US" sz="1400" b="1" dirty="0">
                <a:solidFill>
                  <a:srgbClr val="0D9488"/>
                </a:solidFill>
                <a:latin typeface="Poppins" pitchFamily="34" charset="0"/>
                <a:ea typeface="Poppins" pitchFamily="34" charset="-122"/>
                <a:cs typeface="Poppins" pitchFamily="34" charset="-120"/>
              </a:rPr>
              <a:t>Established Acquirer</a:t>
            </a:r>
            <a:endParaRPr lang="en-US" sz="1400" dirty="0"/>
          </a:p>
        </p:txBody>
      </p:sp>
      <p:sp>
        <p:nvSpPr>
          <p:cNvPr id="18" name="Text 16"/>
          <p:cNvSpPr/>
          <p:nvPr/>
        </p:nvSpPr>
        <p:spPr>
          <a:xfrm>
            <a:off x="3481578" y="2697480"/>
            <a:ext cx="2384298" cy="365760"/>
          </a:xfrm>
          <a:prstGeom prst="rect">
            <a:avLst/>
          </a:prstGeom>
          <a:noFill/>
          <a:ln/>
        </p:spPr>
        <p:txBody>
          <a:bodyPr wrap="square" rtlCol="0" anchor="ctr"/>
          <a:lstStyle/>
          <a:p>
            <a:pPr algn="ctr" indent="0" marL="0">
              <a:buNone/>
            </a:pPr>
            <a:r>
              <a:rPr lang="en-US" sz="1100" dirty="0">
                <a:solidFill>
                  <a:srgbClr val="666666"/>
                </a:solidFill>
                <a:latin typeface="Poppins" pitchFamily="34" charset="0"/>
                <a:ea typeface="Poppins" pitchFamily="34" charset="-122"/>
                <a:cs typeface="Poppins" pitchFamily="34" charset="-120"/>
              </a:rPr>
              <a:t>SLA breach risk</a:t>
            </a:r>
            <a:endParaRPr lang="en-US" sz="1100" dirty="0"/>
          </a:p>
        </p:txBody>
      </p:sp>
      <p:sp>
        <p:nvSpPr>
          <p:cNvPr id="19" name="Text 17"/>
          <p:cNvSpPr/>
          <p:nvPr/>
        </p:nvSpPr>
        <p:spPr>
          <a:xfrm>
            <a:off x="3481578" y="3154680"/>
            <a:ext cx="2384298" cy="548640"/>
          </a:xfrm>
          <a:prstGeom prst="rect">
            <a:avLst/>
          </a:prstGeom>
          <a:noFill/>
          <a:ln/>
        </p:spPr>
        <p:txBody>
          <a:bodyPr wrap="square" rtlCol="0" anchor="ctr"/>
          <a:lstStyle/>
          <a:p>
            <a:pPr algn="ctr" indent="0" marL="0">
              <a:buNone/>
            </a:pPr>
            <a:r>
              <a:rPr lang="en-US" sz="1000" dirty="0">
                <a:solidFill>
                  <a:srgbClr val="666666"/>
                </a:solidFill>
                <a:latin typeface="Poppins" pitchFamily="34" charset="0"/>
                <a:ea typeface="Poppins" pitchFamily="34" charset="-122"/>
                <a:cs typeface="Poppins" pitchFamily="34" charset="-120"/>
              </a:rPr>
              <a:t>Lever: </a:t>
            </a:r>
            <a:pPr algn="ctr" indent="0" marL="0">
              <a:buNone/>
            </a:pPr>
            <a:r>
              <a:rPr lang="en-US" sz="1100" b="1" dirty="0">
                <a:solidFill>
                  <a:srgbClr val="1A1A2E"/>
                </a:solidFill>
                <a:latin typeface="Poppins" pitchFamily="34" charset="0"/>
                <a:ea typeface="Poppins" pitchFamily="34" charset="-122"/>
                <a:cs typeface="Poppins" pitchFamily="34" charset="-120"/>
              </a:rPr>
              <a:t>Evidence pack + SLA timer</a:t>
            </a:r>
            <a:endParaRPr lang="en-US" sz="1000" dirty="0"/>
          </a:p>
        </p:txBody>
      </p:sp>
      <p:sp>
        <p:nvSpPr>
          <p:cNvPr id="20" name="Shape 18"/>
          <p:cNvSpPr/>
          <p:nvPr/>
        </p:nvSpPr>
        <p:spPr>
          <a:xfrm>
            <a:off x="4216527" y="4663440"/>
            <a:ext cx="914400" cy="201168"/>
          </a:xfrm>
          <a:prstGeom prst="roundRect">
            <a:avLst>
              <a:gd name="adj" fmla="val 22727"/>
            </a:avLst>
          </a:prstGeom>
          <a:solidFill>
            <a:srgbClr val="E6F5F0"/>
          </a:solidFill>
          <a:ln/>
        </p:spPr>
      </p:sp>
      <p:sp>
        <p:nvSpPr>
          <p:cNvPr id="21" name="Text 19"/>
          <p:cNvSpPr/>
          <p:nvPr/>
        </p:nvSpPr>
        <p:spPr>
          <a:xfrm>
            <a:off x="4216527" y="4663440"/>
            <a:ext cx="914400" cy="201168"/>
          </a:xfrm>
          <a:prstGeom prst="rect">
            <a:avLst/>
          </a:prstGeom>
          <a:noFill/>
          <a:ln/>
        </p:spPr>
        <p:txBody>
          <a:bodyPr wrap="square" rtlCol="0" anchor="ctr"/>
          <a:lstStyle/>
          <a:p>
            <a:pPr algn="ctr" indent="0" marL="0">
              <a:buNone/>
            </a:pPr>
            <a:r>
              <a:rPr lang="en-US" sz="800" b="1" dirty="0">
                <a:solidFill>
                  <a:srgbClr val="0D9488"/>
                </a:solidFill>
                <a:latin typeface="Poppins" pitchFamily="34" charset="0"/>
                <a:ea typeface="Poppins" pitchFamily="34" charset="-122"/>
                <a:cs typeface="Poppins" pitchFamily="34" charset="-120"/>
              </a:rPr>
              <a:t>MVP</a:t>
            </a:r>
            <a:endParaRPr lang="en-US" sz="800" dirty="0"/>
          </a:p>
        </p:txBody>
      </p:sp>
      <p:sp>
        <p:nvSpPr>
          <p:cNvPr id="22" name="Shape 20"/>
          <p:cNvSpPr/>
          <p:nvPr/>
        </p:nvSpPr>
        <p:spPr>
          <a:xfrm>
            <a:off x="6185916" y="1417320"/>
            <a:ext cx="2658618" cy="3657600"/>
          </a:xfrm>
          <a:prstGeom prst="roundRect">
            <a:avLst>
              <a:gd name="adj" fmla="val 2752"/>
            </a:avLst>
          </a:prstGeom>
          <a:solidFill>
            <a:srgbClr val="FFFFFF"/>
          </a:solidFill>
          <a:ln w="6350">
            <a:solidFill>
              <a:srgbClr val="EBE8F0"/>
            </a:solidFill>
            <a:prstDash val="solid"/>
          </a:ln>
        </p:spPr>
      </p:sp>
      <p:sp>
        <p:nvSpPr>
          <p:cNvPr id="23" name="Shape 21"/>
          <p:cNvSpPr/>
          <p:nvPr/>
        </p:nvSpPr>
        <p:spPr>
          <a:xfrm>
            <a:off x="7263765" y="1645920"/>
            <a:ext cx="502920" cy="502920"/>
          </a:xfrm>
          <a:prstGeom prst="ellipse">
            <a:avLst/>
          </a:prstGeom>
          <a:solidFill>
            <a:srgbClr val="D97706"/>
          </a:solidFill>
          <a:ln/>
        </p:spPr>
      </p:sp>
      <p:sp>
        <p:nvSpPr>
          <p:cNvPr id="24" name="Text 22"/>
          <p:cNvSpPr/>
          <p:nvPr/>
        </p:nvSpPr>
        <p:spPr>
          <a:xfrm>
            <a:off x="7263765" y="1645920"/>
            <a:ext cx="502920" cy="502920"/>
          </a:xfrm>
          <a:prstGeom prst="rect">
            <a:avLst/>
          </a:prstGeom>
          <a:noFill/>
          <a:ln/>
        </p:spPr>
        <p:txBody>
          <a:bodyPr wrap="square" rtlCol="0" anchor="ctr"/>
          <a:lstStyle/>
          <a:p>
            <a:pPr algn="ctr" indent="0" marL="0">
              <a:buNone/>
            </a:pPr>
            <a:r>
              <a:rPr lang="en-US" sz="1540" b="1" dirty="0">
                <a:solidFill>
                  <a:srgbClr val="FFFFFF"/>
                </a:solidFill>
                <a:latin typeface="Poppins" pitchFamily="34" charset="0"/>
                <a:ea typeface="Poppins" pitchFamily="34" charset="-122"/>
                <a:cs typeface="Poppins" pitchFamily="34" charset="-120"/>
              </a:rPr>
              <a:t>?</a:t>
            </a:r>
            <a:endParaRPr lang="en-US" sz="1540" dirty="0"/>
          </a:p>
        </p:txBody>
      </p:sp>
      <p:sp>
        <p:nvSpPr>
          <p:cNvPr id="25" name="Text 23"/>
          <p:cNvSpPr/>
          <p:nvPr/>
        </p:nvSpPr>
        <p:spPr>
          <a:xfrm>
            <a:off x="6323076" y="2331720"/>
            <a:ext cx="2384298" cy="274320"/>
          </a:xfrm>
          <a:prstGeom prst="rect">
            <a:avLst/>
          </a:prstGeom>
          <a:noFill/>
          <a:ln/>
        </p:spPr>
        <p:txBody>
          <a:bodyPr wrap="square" rtlCol="0" anchor="ctr"/>
          <a:lstStyle/>
          <a:p>
            <a:pPr algn="ctr" indent="0" marL="0">
              <a:buNone/>
            </a:pPr>
            <a:r>
              <a:rPr lang="en-US" sz="1400" b="1" dirty="0">
                <a:solidFill>
                  <a:srgbClr val="D97706"/>
                </a:solidFill>
                <a:latin typeface="Poppins" pitchFamily="34" charset="0"/>
                <a:ea typeface="Poppins" pitchFamily="34" charset="-122"/>
                <a:cs typeface="Poppins" pitchFamily="34" charset="-120"/>
              </a:rPr>
              <a:t>Risk-Averse Prospect</a:t>
            </a:r>
            <a:endParaRPr lang="en-US" sz="1400" dirty="0"/>
          </a:p>
        </p:txBody>
      </p:sp>
      <p:sp>
        <p:nvSpPr>
          <p:cNvPr id="26" name="Text 24"/>
          <p:cNvSpPr/>
          <p:nvPr/>
        </p:nvSpPr>
        <p:spPr>
          <a:xfrm>
            <a:off x="6323076" y="2697480"/>
            <a:ext cx="2384298" cy="365760"/>
          </a:xfrm>
          <a:prstGeom prst="rect">
            <a:avLst/>
          </a:prstGeom>
          <a:noFill/>
          <a:ln/>
        </p:spPr>
        <p:txBody>
          <a:bodyPr wrap="square" rtlCol="0" anchor="ctr"/>
          <a:lstStyle/>
          <a:p>
            <a:pPr algn="ctr" indent="0" marL="0">
              <a:buNone/>
            </a:pPr>
            <a:r>
              <a:rPr lang="en-US" sz="1100" dirty="0">
                <a:solidFill>
                  <a:srgbClr val="666666"/>
                </a:solidFill>
                <a:latin typeface="Poppins" pitchFamily="34" charset="0"/>
                <a:ea typeface="Poppins" pitchFamily="34" charset="-122"/>
                <a:cs typeface="Poppins" pitchFamily="34" charset="-120"/>
              </a:rPr>
              <a:t>Fear of adoption</a:t>
            </a:r>
            <a:endParaRPr lang="en-US" sz="1100" dirty="0"/>
          </a:p>
        </p:txBody>
      </p:sp>
      <p:sp>
        <p:nvSpPr>
          <p:cNvPr id="27" name="Text 25"/>
          <p:cNvSpPr/>
          <p:nvPr/>
        </p:nvSpPr>
        <p:spPr>
          <a:xfrm>
            <a:off x="6323076" y="3154680"/>
            <a:ext cx="2384298" cy="548640"/>
          </a:xfrm>
          <a:prstGeom prst="rect">
            <a:avLst/>
          </a:prstGeom>
          <a:noFill/>
          <a:ln/>
        </p:spPr>
        <p:txBody>
          <a:bodyPr wrap="square" rtlCol="0" anchor="ctr"/>
          <a:lstStyle/>
          <a:p>
            <a:pPr algn="ctr" indent="0" marL="0">
              <a:buNone/>
            </a:pPr>
            <a:r>
              <a:rPr lang="en-US" sz="1000" dirty="0">
                <a:solidFill>
                  <a:srgbClr val="666666"/>
                </a:solidFill>
                <a:latin typeface="Poppins" pitchFamily="34" charset="0"/>
                <a:ea typeface="Poppins" pitchFamily="34" charset="-122"/>
                <a:cs typeface="Poppins" pitchFamily="34" charset="-120"/>
              </a:rPr>
              <a:t>Lever: </a:t>
            </a:r>
            <a:pPr algn="ctr" indent="0" marL="0">
              <a:buNone/>
            </a:pPr>
            <a:r>
              <a:rPr lang="en-US" sz="1100" b="1" dirty="0">
                <a:solidFill>
                  <a:srgbClr val="1A1A2E"/>
                </a:solidFill>
                <a:latin typeface="Poppins" pitchFamily="34" charset="0"/>
                <a:ea typeface="Poppins" pitchFamily="34" charset="-122"/>
                <a:cs typeface="Poppins" pitchFamily="34" charset="-120"/>
              </a:rPr>
              <a:t>Structured workflow reduces uncertainty</a:t>
            </a:r>
            <a:endParaRPr lang="en-US" sz="1000" dirty="0"/>
          </a:p>
        </p:txBody>
      </p:sp>
      <p:sp>
        <p:nvSpPr>
          <p:cNvPr id="28" name="Shape 26"/>
          <p:cNvSpPr/>
          <p:nvPr/>
        </p:nvSpPr>
        <p:spPr>
          <a:xfrm>
            <a:off x="7058025" y="4663440"/>
            <a:ext cx="914400" cy="201168"/>
          </a:xfrm>
          <a:prstGeom prst="roundRect">
            <a:avLst>
              <a:gd name="adj" fmla="val 22727"/>
            </a:avLst>
          </a:prstGeom>
          <a:solidFill>
            <a:srgbClr val="FEF3C7"/>
          </a:solidFill>
          <a:ln/>
        </p:spPr>
      </p:sp>
      <p:sp>
        <p:nvSpPr>
          <p:cNvPr id="29" name="Text 27"/>
          <p:cNvSpPr/>
          <p:nvPr/>
        </p:nvSpPr>
        <p:spPr>
          <a:xfrm>
            <a:off x="7058025" y="4663440"/>
            <a:ext cx="914400" cy="201168"/>
          </a:xfrm>
          <a:prstGeom prst="rect">
            <a:avLst/>
          </a:prstGeom>
          <a:noFill/>
          <a:ln/>
        </p:spPr>
        <p:txBody>
          <a:bodyPr wrap="square" rtlCol="0" anchor="ctr"/>
          <a:lstStyle/>
          <a:p>
            <a:pPr algn="ctr" indent="0" marL="0">
              <a:buNone/>
            </a:pPr>
            <a:r>
              <a:rPr lang="en-US" sz="800" b="1" dirty="0">
                <a:solidFill>
                  <a:srgbClr val="D97706"/>
                </a:solidFill>
                <a:latin typeface="Poppins" pitchFamily="34" charset="0"/>
                <a:ea typeface="Poppins" pitchFamily="34" charset="-122"/>
                <a:cs typeface="Poppins" pitchFamily="34" charset="-120"/>
              </a:rPr>
              <a:t>PHASE 2</a:t>
            </a:r>
            <a:endParaRPr lang="en-US" sz="800" dirty="0"/>
          </a:p>
        </p:txBody>
      </p:sp>
      <p:sp>
        <p:nvSpPr>
          <p:cNvPr id="30" name="Shape 28"/>
          <p:cNvSpPr/>
          <p:nvPr/>
        </p:nvSpPr>
        <p:spPr>
          <a:xfrm>
            <a:off x="9027414" y="1417320"/>
            <a:ext cx="2658618" cy="3657600"/>
          </a:xfrm>
          <a:prstGeom prst="roundRect">
            <a:avLst>
              <a:gd name="adj" fmla="val 2752"/>
            </a:avLst>
          </a:prstGeom>
          <a:solidFill>
            <a:srgbClr val="FFFFFF"/>
          </a:solidFill>
          <a:ln w="6350">
            <a:solidFill>
              <a:srgbClr val="EBE8F0"/>
            </a:solidFill>
            <a:prstDash val="solid"/>
          </a:ln>
        </p:spPr>
      </p:sp>
      <p:sp>
        <p:nvSpPr>
          <p:cNvPr id="31" name="Shape 29"/>
          <p:cNvSpPr/>
          <p:nvPr/>
        </p:nvSpPr>
        <p:spPr>
          <a:xfrm>
            <a:off x="10105263" y="1645920"/>
            <a:ext cx="502920" cy="502920"/>
          </a:xfrm>
          <a:prstGeom prst="ellipse">
            <a:avLst/>
          </a:prstGeom>
          <a:solidFill>
            <a:srgbClr val="7C3AED"/>
          </a:solidFill>
          <a:ln/>
        </p:spPr>
      </p:sp>
      <p:sp>
        <p:nvSpPr>
          <p:cNvPr id="32" name="Shape 30"/>
          <p:cNvSpPr/>
          <p:nvPr/>
        </p:nvSpPr>
        <p:spPr>
          <a:xfrm>
            <a:off x="10266197" y="1806854"/>
            <a:ext cx="50292" cy="50292"/>
          </a:xfrm>
          <a:prstGeom prst="rect">
            <a:avLst/>
          </a:prstGeom>
          <a:solidFill>
            <a:srgbClr val="FFFFFF"/>
          </a:solidFill>
          <a:ln/>
        </p:spPr>
      </p:sp>
      <p:sp>
        <p:nvSpPr>
          <p:cNvPr id="33" name="Shape 31"/>
          <p:cNvSpPr/>
          <p:nvPr/>
        </p:nvSpPr>
        <p:spPr>
          <a:xfrm>
            <a:off x="10331577" y="1806854"/>
            <a:ext cx="50292" cy="50292"/>
          </a:xfrm>
          <a:prstGeom prst="rect">
            <a:avLst/>
          </a:prstGeom>
          <a:solidFill>
            <a:srgbClr val="FFFFFF"/>
          </a:solidFill>
          <a:ln/>
        </p:spPr>
      </p:sp>
      <p:sp>
        <p:nvSpPr>
          <p:cNvPr id="34" name="Shape 32"/>
          <p:cNvSpPr/>
          <p:nvPr/>
        </p:nvSpPr>
        <p:spPr>
          <a:xfrm>
            <a:off x="10396957" y="1806854"/>
            <a:ext cx="50292" cy="50292"/>
          </a:xfrm>
          <a:prstGeom prst="rect">
            <a:avLst/>
          </a:prstGeom>
          <a:solidFill>
            <a:srgbClr val="FFFFFF"/>
          </a:solidFill>
          <a:ln/>
        </p:spPr>
      </p:sp>
      <p:sp>
        <p:nvSpPr>
          <p:cNvPr id="35" name="Shape 33"/>
          <p:cNvSpPr/>
          <p:nvPr/>
        </p:nvSpPr>
        <p:spPr>
          <a:xfrm>
            <a:off x="10266197" y="1872234"/>
            <a:ext cx="50292" cy="50292"/>
          </a:xfrm>
          <a:prstGeom prst="rect">
            <a:avLst/>
          </a:prstGeom>
          <a:solidFill>
            <a:srgbClr val="FFFFFF"/>
          </a:solidFill>
          <a:ln/>
        </p:spPr>
      </p:sp>
      <p:sp>
        <p:nvSpPr>
          <p:cNvPr id="36" name="Shape 34"/>
          <p:cNvSpPr/>
          <p:nvPr/>
        </p:nvSpPr>
        <p:spPr>
          <a:xfrm>
            <a:off x="10331577" y="1872234"/>
            <a:ext cx="50292" cy="50292"/>
          </a:xfrm>
          <a:prstGeom prst="rect">
            <a:avLst/>
          </a:prstGeom>
          <a:solidFill>
            <a:srgbClr val="FFFFFF"/>
          </a:solidFill>
          <a:ln/>
        </p:spPr>
      </p:sp>
      <p:sp>
        <p:nvSpPr>
          <p:cNvPr id="37" name="Shape 35"/>
          <p:cNvSpPr/>
          <p:nvPr/>
        </p:nvSpPr>
        <p:spPr>
          <a:xfrm>
            <a:off x="10396957" y="1872234"/>
            <a:ext cx="50292" cy="50292"/>
          </a:xfrm>
          <a:prstGeom prst="rect">
            <a:avLst/>
          </a:prstGeom>
          <a:solidFill>
            <a:srgbClr val="FFFFFF"/>
          </a:solidFill>
          <a:ln/>
        </p:spPr>
      </p:sp>
      <p:sp>
        <p:nvSpPr>
          <p:cNvPr id="38" name="Shape 36"/>
          <p:cNvSpPr/>
          <p:nvPr/>
        </p:nvSpPr>
        <p:spPr>
          <a:xfrm>
            <a:off x="10266197" y="1937614"/>
            <a:ext cx="50292" cy="50292"/>
          </a:xfrm>
          <a:prstGeom prst="rect">
            <a:avLst/>
          </a:prstGeom>
          <a:solidFill>
            <a:srgbClr val="FFFFFF"/>
          </a:solidFill>
          <a:ln/>
        </p:spPr>
      </p:sp>
      <p:sp>
        <p:nvSpPr>
          <p:cNvPr id="39" name="Shape 37"/>
          <p:cNvSpPr/>
          <p:nvPr/>
        </p:nvSpPr>
        <p:spPr>
          <a:xfrm>
            <a:off x="10331577" y="1937614"/>
            <a:ext cx="50292" cy="50292"/>
          </a:xfrm>
          <a:prstGeom prst="rect">
            <a:avLst/>
          </a:prstGeom>
          <a:solidFill>
            <a:srgbClr val="FFFFFF"/>
          </a:solidFill>
          <a:ln/>
        </p:spPr>
      </p:sp>
      <p:sp>
        <p:nvSpPr>
          <p:cNvPr id="40" name="Shape 38"/>
          <p:cNvSpPr/>
          <p:nvPr/>
        </p:nvSpPr>
        <p:spPr>
          <a:xfrm>
            <a:off x="10396957" y="1937614"/>
            <a:ext cx="50292" cy="50292"/>
          </a:xfrm>
          <a:prstGeom prst="rect">
            <a:avLst/>
          </a:prstGeom>
          <a:solidFill>
            <a:srgbClr val="FFFFFF"/>
          </a:solidFill>
          <a:ln/>
        </p:spPr>
      </p:sp>
      <p:sp>
        <p:nvSpPr>
          <p:cNvPr id="41" name="Text 39"/>
          <p:cNvSpPr/>
          <p:nvPr/>
        </p:nvSpPr>
        <p:spPr>
          <a:xfrm>
            <a:off x="9164574" y="2331720"/>
            <a:ext cx="2384298" cy="274320"/>
          </a:xfrm>
          <a:prstGeom prst="rect">
            <a:avLst/>
          </a:prstGeom>
          <a:noFill/>
          <a:ln/>
        </p:spPr>
        <p:txBody>
          <a:bodyPr wrap="square" rtlCol="0" anchor="ctr"/>
          <a:lstStyle/>
          <a:p>
            <a:pPr algn="ctr" indent="0" marL="0">
              <a:buNone/>
            </a:pPr>
            <a:r>
              <a:rPr lang="en-US" sz="1400" b="1" dirty="0">
                <a:solidFill>
                  <a:srgbClr val="7C3AED"/>
                </a:solidFill>
                <a:latin typeface="Poppins" pitchFamily="34" charset="0"/>
                <a:ea typeface="Poppins" pitchFamily="34" charset="-122"/>
                <a:cs typeface="Poppins" pitchFamily="34" charset="-120"/>
              </a:rPr>
              <a:t>Marketplace</a:t>
            </a:r>
            <a:endParaRPr lang="en-US" sz="1400" dirty="0"/>
          </a:p>
        </p:txBody>
      </p:sp>
      <p:sp>
        <p:nvSpPr>
          <p:cNvPr id="42" name="Text 40"/>
          <p:cNvSpPr/>
          <p:nvPr/>
        </p:nvSpPr>
        <p:spPr>
          <a:xfrm>
            <a:off x="9164574" y="2697480"/>
            <a:ext cx="2384298" cy="365760"/>
          </a:xfrm>
          <a:prstGeom prst="rect">
            <a:avLst/>
          </a:prstGeom>
          <a:noFill/>
          <a:ln/>
        </p:spPr>
        <p:txBody>
          <a:bodyPr wrap="square" rtlCol="0" anchor="ctr"/>
          <a:lstStyle/>
          <a:p>
            <a:pPr algn="ctr" indent="0" marL="0">
              <a:buNone/>
            </a:pPr>
            <a:r>
              <a:rPr lang="en-US" sz="1100" dirty="0">
                <a:solidFill>
                  <a:srgbClr val="666666"/>
                </a:solidFill>
                <a:latin typeface="Poppins" pitchFamily="34" charset="0"/>
                <a:ea typeface="Poppins" pitchFamily="34" charset="-122"/>
                <a:cs typeface="Poppins" pitchFamily="34" charset="-120"/>
              </a:rPr>
              <a:t>Millions of sellers</a:t>
            </a:r>
            <a:endParaRPr lang="en-US" sz="1100" dirty="0"/>
          </a:p>
        </p:txBody>
      </p:sp>
      <p:sp>
        <p:nvSpPr>
          <p:cNvPr id="43" name="Text 41"/>
          <p:cNvSpPr/>
          <p:nvPr/>
        </p:nvSpPr>
        <p:spPr>
          <a:xfrm>
            <a:off x="9164574" y="3154680"/>
            <a:ext cx="2384298" cy="548640"/>
          </a:xfrm>
          <a:prstGeom prst="rect">
            <a:avLst/>
          </a:prstGeom>
          <a:noFill/>
          <a:ln/>
        </p:spPr>
        <p:txBody>
          <a:bodyPr wrap="square" rtlCol="0" anchor="ctr"/>
          <a:lstStyle/>
          <a:p>
            <a:pPr algn="ctr" indent="0" marL="0">
              <a:buNone/>
            </a:pPr>
            <a:r>
              <a:rPr lang="en-US" sz="1000" dirty="0">
                <a:solidFill>
                  <a:srgbClr val="666666"/>
                </a:solidFill>
                <a:latin typeface="Poppins" pitchFamily="34" charset="0"/>
                <a:ea typeface="Poppins" pitchFamily="34" charset="-122"/>
                <a:cs typeface="Poppins" pitchFamily="34" charset="-120"/>
              </a:rPr>
              <a:t>Lever: </a:t>
            </a:r>
            <a:pPr algn="ctr" indent="0" marL="0">
              <a:buNone/>
            </a:pPr>
            <a:r>
              <a:rPr lang="en-US" sz="1100" b="1" dirty="0">
                <a:solidFill>
                  <a:srgbClr val="1A1A2E"/>
                </a:solidFill>
                <a:latin typeface="Poppins" pitchFamily="34" charset="0"/>
                <a:ea typeface="Poppins" pitchFamily="34" charset="-122"/>
                <a:cs typeface="Poppins" pitchFamily="34" charset="-120"/>
              </a:rPr>
              <a:t>Full automation layer</a:t>
            </a:r>
            <a:endParaRPr lang="en-US" sz="1000" dirty="0"/>
          </a:p>
        </p:txBody>
      </p:sp>
      <p:sp>
        <p:nvSpPr>
          <p:cNvPr id="44" name="Shape 42"/>
          <p:cNvSpPr/>
          <p:nvPr/>
        </p:nvSpPr>
        <p:spPr>
          <a:xfrm>
            <a:off x="9899523" y="4663440"/>
            <a:ext cx="914400" cy="201168"/>
          </a:xfrm>
          <a:prstGeom prst="roundRect">
            <a:avLst>
              <a:gd name="adj" fmla="val 22727"/>
            </a:avLst>
          </a:prstGeom>
          <a:solidFill>
            <a:srgbClr val="EBE8F0"/>
          </a:solidFill>
          <a:ln/>
        </p:spPr>
      </p:sp>
      <p:sp>
        <p:nvSpPr>
          <p:cNvPr id="45" name="Text 43"/>
          <p:cNvSpPr/>
          <p:nvPr/>
        </p:nvSpPr>
        <p:spPr>
          <a:xfrm>
            <a:off x="9899523" y="4663440"/>
            <a:ext cx="914400" cy="201168"/>
          </a:xfrm>
          <a:prstGeom prst="rect">
            <a:avLst/>
          </a:prstGeom>
          <a:noFill/>
          <a:ln/>
        </p:spPr>
        <p:txBody>
          <a:bodyPr wrap="square" rtlCol="0" anchor="ctr"/>
          <a:lstStyle/>
          <a:p>
            <a:pPr algn="ctr" indent="0" marL="0">
              <a:buNone/>
            </a:pPr>
            <a:r>
              <a:rPr lang="en-US" sz="800" b="1" dirty="0">
                <a:solidFill>
                  <a:srgbClr val="7C3AED"/>
                </a:solidFill>
                <a:latin typeface="Poppins" pitchFamily="34" charset="0"/>
                <a:ea typeface="Poppins" pitchFamily="34" charset="-122"/>
                <a:cs typeface="Poppins" pitchFamily="34" charset="-120"/>
              </a:rPr>
              <a:t>PHASE 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EXECUTION</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Four phases. </a:t>
            </a:r>
            <a:pPr indent="0" marL="0">
              <a:buNone/>
            </a:pPr>
            <a:r>
              <a:rPr lang="en-US" sz="3800" b="1" dirty="0">
                <a:solidFill>
                  <a:srgbClr val="1A1A2E"/>
                </a:solidFill>
                <a:latin typeface="Poppins" pitchFamily="34" charset="0"/>
                <a:ea typeface="Poppins" pitchFamily="34" charset="-122"/>
                <a:cs typeface="Poppins" pitchFamily="34" charset="-120"/>
              </a:rPr>
              <a:t>Gated by signal</a:t>
            </a:r>
            <a:pPr indent="0" marL="0">
              <a:buNone/>
            </a:pPr>
            <a:r>
              <a:rPr lang="en-US" sz="3800" b="1" dirty="0">
                <a:solidFill>
                  <a:srgbClr val="7C3AED"/>
                </a:solidFill>
                <a:latin typeface="Poppins" pitchFamily="34" charset="0"/>
                <a:ea typeface="Poppins" pitchFamily="34" charset="-122"/>
                <a:cs typeface="Poppins" pitchFamily="34" charset="-120"/>
              </a:rPr>
              <a:t> — not date.</a:t>
            </a:r>
            <a:endParaRPr lang="en-US" sz="3800" dirty="0"/>
          </a:p>
        </p:txBody>
      </p:sp>
      <p:sp>
        <p:nvSpPr>
          <p:cNvPr id="4" name="Shape 2"/>
          <p:cNvSpPr/>
          <p:nvPr/>
        </p:nvSpPr>
        <p:spPr>
          <a:xfrm>
            <a:off x="502920" y="1417320"/>
            <a:ext cx="2658618" cy="4114800"/>
          </a:xfrm>
          <a:prstGeom prst="roundRect">
            <a:avLst>
              <a:gd name="adj" fmla="val 2752"/>
            </a:avLst>
          </a:prstGeom>
          <a:solidFill>
            <a:srgbClr val="FFFFFF"/>
          </a:solidFill>
          <a:ln w="6350">
            <a:solidFill>
              <a:srgbClr val="EBE8F0"/>
            </a:solidFill>
            <a:prstDash val="solid"/>
          </a:ln>
        </p:spPr>
      </p:sp>
      <p:sp>
        <p:nvSpPr>
          <p:cNvPr id="5" name="Shape 3"/>
          <p:cNvSpPr/>
          <p:nvPr/>
        </p:nvSpPr>
        <p:spPr>
          <a:xfrm>
            <a:off x="502920" y="1417320"/>
            <a:ext cx="2658618" cy="137160"/>
          </a:xfrm>
          <a:prstGeom prst="rect">
            <a:avLst/>
          </a:prstGeom>
          <a:solidFill>
            <a:srgbClr val="EBE8F0"/>
          </a:solidFill>
          <a:ln/>
        </p:spPr>
      </p:sp>
      <p:sp>
        <p:nvSpPr>
          <p:cNvPr id="6" name="Text 4"/>
          <p:cNvSpPr/>
          <p:nvPr/>
        </p:nvSpPr>
        <p:spPr>
          <a:xfrm>
            <a:off x="640080" y="1691640"/>
            <a:ext cx="2384298" cy="182880"/>
          </a:xfrm>
          <a:prstGeom prst="rect">
            <a:avLst/>
          </a:prstGeom>
          <a:noFill/>
          <a:ln/>
        </p:spPr>
        <p:txBody>
          <a:bodyPr wrap="square" rtlCol="0" anchor="ctr"/>
          <a:lstStyle/>
          <a:p>
            <a:pPr indent="0" marL="0">
              <a:buNone/>
            </a:pPr>
            <a:r>
              <a:rPr lang="en-US" sz="900" b="1" dirty="0">
                <a:solidFill>
                  <a:srgbClr val="666666"/>
                </a:solidFill>
                <a:latin typeface="Poppins" pitchFamily="34" charset="0"/>
                <a:ea typeface="Poppins" pitchFamily="34" charset="-122"/>
                <a:cs typeface="Poppins" pitchFamily="34" charset="-120"/>
              </a:rPr>
              <a:t>PHASE 0</a:t>
            </a:r>
            <a:endParaRPr lang="en-US" sz="900" dirty="0"/>
          </a:p>
        </p:txBody>
      </p:sp>
      <p:sp>
        <p:nvSpPr>
          <p:cNvPr id="7" name="Text 5"/>
          <p:cNvSpPr/>
          <p:nvPr/>
        </p:nvSpPr>
        <p:spPr>
          <a:xfrm>
            <a:off x="640080" y="1920240"/>
            <a:ext cx="2384298" cy="320040"/>
          </a:xfrm>
          <a:prstGeom prst="rect">
            <a:avLst/>
          </a:prstGeom>
          <a:noFill/>
          <a:ln/>
        </p:spPr>
        <p:txBody>
          <a:bodyPr wrap="square" rtlCol="0" anchor="ctr"/>
          <a:lstStyle/>
          <a:p>
            <a:pPr indent="0" marL="0">
              <a:buNone/>
            </a:pPr>
            <a:r>
              <a:rPr lang="en-US" sz="1600" b="1" dirty="0">
                <a:solidFill>
                  <a:srgbClr val="1A1A2E"/>
                </a:solidFill>
                <a:latin typeface="Poppins" pitchFamily="34" charset="0"/>
                <a:ea typeface="Poppins" pitchFamily="34" charset="-122"/>
                <a:cs typeface="Poppins" pitchFamily="34" charset="-120"/>
              </a:rPr>
              <a:t>Discover</a:t>
            </a:r>
            <a:endParaRPr lang="en-US" sz="1600" dirty="0"/>
          </a:p>
        </p:txBody>
      </p:sp>
      <p:sp>
        <p:nvSpPr>
          <p:cNvPr id="8" name="Text 6"/>
          <p:cNvSpPr/>
          <p:nvPr/>
        </p:nvSpPr>
        <p:spPr>
          <a:xfrm>
            <a:off x="640080" y="2240280"/>
            <a:ext cx="2384298" cy="201168"/>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4–6 weeks</a:t>
            </a:r>
            <a:endParaRPr lang="en-US" sz="1100" dirty="0"/>
          </a:p>
        </p:txBody>
      </p:sp>
      <p:sp>
        <p:nvSpPr>
          <p:cNvPr id="9" name="Text 7"/>
          <p:cNvSpPr/>
          <p:nvPr/>
        </p:nvSpPr>
        <p:spPr>
          <a:xfrm>
            <a:off x="640080" y="2514600"/>
            <a:ext cx="2384298" cy="1463040"/>
          </a:xfrm>
          <a:prstGeom prst="rect">
            <a:avLst/>
          </a:prstGeom>
          <a:noFill/>
          <a:ln/>
        </p:spPr>
        <p:txBody>
          <a:bodyPr wrap="square" rtlCol="0" anchor="t"/>
          <a:lstStyle/>
          <a:p>
            <a:pPr indent="0" marL="0">
              <a:lnSpc>
                <a:spcPct val="150000"/>
              </a:lnSpc>
              <a:buNone/>
            </a:pPr>
            <a:r>
              <a:rPr lang="en-US" sz="1100" dirty="0">
                <a:solidFill>
                  <a:srgbClr val="666666"/>
                </a:solidFill>
                <a:latin typeface="Poppins" pitchFamily="34" charset="0"/>
                <a:ea typeface="Poppins" pitchFamily="34" charset="-122"/>
                <a:cs typeface="Poppins" pitchFamily="34" charset="-120"/>
              </a:rPr>
              <a:t>Shadow analysts, capture baseline metrics, confirm investigation time per violation type, commit 2–3 design partners</a:t>
            </a:r>
            <a:endParaRPr lang="en-US" sz="1100" dirty="0"/>
          </a:p>
        </p:txBody>
      </p:sp>
      <p:sp>
        <p:nvSpPr>
          <p:cNvPr id="10" name="Shape 8"/>
          <p:cNvSpPr/>
          <p:nvPr/>
        </p:nvSpPr>
        <p:spPr>
          <a:xfrm>
            <a:off x="512064" y="4754880"/>
            <a:ext cx="2640330" cy="685800"/>
          </a:xfrm>
          <a:prstGeom prst="rect">
            <a:avLst/>
          </a:prstGeom>
          <a:solidFill>
            <a:srgbClr val="FAF9FD"/>
          </a:solidFill>
          <a:ln/>
        </p:spPr>
      </p:sp>
      <p:sp>
        <p:nvSpPr>
          <p:cNvPr id="11" name="Text 9"/>
          <p:cNvSpPr/>
          <p:nvPr/>
        </p:nvSpPr>
        <p:spPr>
          <a:xfrm>
            <a:off x="640080" y="4800600"/>
            <a:ext cx="2384298" cy="594360"/>
          </a:xfrm>
          <a:prstGeom prst="rect">
            <a:avLst/>
          </a:prstGeom>
          <a:noFill/>
          <a:ln/>
        </p:spPr>
        <p:txBody>
          <a:bodyPr wrap="square" rtlCol="0" anchor="t"/>
          <a:lstStyle/>
          <a:p>
            <a:pPr indent="0" marL="0">
              <a:buNone/>
            </a:pPr>
            <a:r>
              <a:rPr lang="en-US" sz="1000" b="1" dirty="0">
                <a:solidFill>
                  <a:srgbClr val="7C3AED"/>
                </a:solidFill>
                <a:latin typeface="Poppins" pitchFamily="34" charset="0"/>
                <a:ea typeface="Poppins" pitchFamily="34" charset="-122"/>
                <a:cs typeface="Poppins" pitchFamily="34" charset="-120"/>
              </a:rPr>
              <a:t>Gate: </a:t>
            </a:r>
            <a:pPr indent="0" marL="0">
              <a:buNone/>
            </a:pPr>
            <a:r>
              <a:rPr lang="en-US" sz="1000" i="1" dirty="0">
                <a:solidFill>
                  <a:srgbClr val="666666"/>
                </a:solidFill>
                <a:latin typeface="Poppins" pitchFamily="34" charset="0"/>
                <a:ea typeface="Poppins" pitchFamily="34" charset="-122"/>
                <a:cs typeface="Poppins" pitchFamily="34" charset="-120"/>
              </a:rPr>
              <a:t>Partners committed + baselines captured</a:t>
            </a:r>
            <a:endParaRPr lang="en-US" sz="1000" dirty="0"/>
          </a:p>
        </p:txBody>
      </p:sp>
      <p:sp>
        <p:nvSpPr>
          <p:cNvPr id="12" name="Shape 10"/>
          <p:cNvSpPr/>
          <p:nvPr/>
        </p:nvSpPr>
        <p:spPr>
          <a:xfrm>
            <a:off x="3344418" y="1417320"/>
            <a:ext cx="2658618" cy="4114800"/>
          </a:xfrm>
          <a:prstGeom prst="roundRect">
            <a:avLst>
              <a:gd name="adj" fmla="val 2752"/>
            </a:avLst>
          </a:prstGeom>
          <a:solidFill>
            <a:srgbClr val="FFFFFF"/>
          </a:solidFill>
          <a:ln w="6350">
            <a:solidFill>
              <a:srgbClr val="EBE8F0"/>
            </a:solidFill>
            <a:prstDash val="solid"/>
          </a:ln>
        </p:spPr>
      </p:sp>
      <p:sp>
        <p:nvSpPr>
          <p:cNvPr id="13" name="Shape 11"/>
          <p:cNvSpPr/>
          <p:nvPr/>
        </p:nvSpPr>
        <p:spPr>
          <a:xfrm>
            <a:off x="3344418" y="1417320"/>
            <a:ext cx="2658618" cy="137160"/>
          </a:xfrm>
          <a:prstGeom prst="rect">
            <a:avLst/>
          </a:prstGeom>
          <a:solidFill>
            <a:srgbClr val="EBE8F0"/>
          </a:solidFill>
          <a:ln/>
        </p:spPr>
      </p:sp>
      <p:sp>
        <p:nvSpPr>
          <p:cNvPr id="14" name="Text 12"/>
          <p:cNvSpPr/>
          <p:nvPr/>
        </p:nvSpPr>
        <p:spPr>
          <a:xfrm>
            <a:off x="3481578" y="1691640"/>
            <a:ext cx="2384298" cy="182880"/>
          </a:xfrm>
          <a:prstGeom prst="rect">
            <a:avLst/>
          </a:prstGeom>
          <a:noFill/>
          <a:ln/>
        </p:spPr>
        <p:txBody>
          <a:bodyPr wrap="square" rtlCol="0" anchor="ctr"/>
          <a:lstStyle/>
          <a:p>
            <a:pPr indent="0" marL="0">
              <a:buNone/>
            </a:pPr>
            <a:r>
              <a:rPr lang="en-US" sz="900" b="1" dirty="0">
                <a:solidFill>
                  <a:srgbClr val="666666"/>
                </a:solidFill>
                <a:latin typeface="Poppins" pitchFamily="34" charset="0"/>
                <a:ea typeface="Poppins" pitchFamily="34" charset="-122"/>
                <a:cs typeface="Poppins" pitchFamily="34" charset="-120"/>
              </a:rPr>
              <a:t>PHASE 1</a:t>
            </a:r>
            <a:endParaRPr lang="en-US" sz="900" dirty="0"/>
          </a:p>
        </p:txBody>
      </p:sp>
      <p:sp>
        <p:nvSpPr>
          <p:cNvPr id="15" name="Text 13"/>
          <p:cNvSpPr/>
          <p:nvPr/>
        </p:nvSpPr>
        <p:spPr>
          <a:xfrm>
            <a:off x="3481578" y="1920240"/>
            <a:ext cx="2384298" cy="320040"/>
          </a:xfrm>
          <a:prstGeom prst="rect">
            <a:avLst/>
          </a:prstGeom>
          <a:noFill/>
          <a:ln/>
        </p:spPr>
        <p:txBody>
          <a:bodyPr wrap="square" rtlCol="0" anchor="ctr"/>
          <a:lstStyle/>
          <a:p>
            <a:pPr indent="0" marL="0">
              <a:buNone/>
            </a:pPr>
            <a:r>
              <a:rPr lang="en-US" sz="1600" b="1" dirty="0">
                <a:solidFill>
                  <a:srgbClr val="1A1A2E"/>
                </a:solidFill>
                <a:latin typeface="Poppins" pitchFamily="34" charset="0"/>
                <a:ea typeface="Poppins" pitchFamily="34" charset="-122"/>
                <a:cs typeface="Poppins" pitchFamily="34" charset="-120"/>
              </a:rPr>
              <a:t>MVP</a:t>
            </a:r>
            <a:endParaRPr lang="en-US" sz="1600" dirty="0"/>
          </a:p>
        </p:txBody>
      </p:sp>
      <p:sp>
        <p:nvSpPr>
          <p:cNvPr id="16" name="Text 14"/>
          <p:cNvSpPr/>
          <p:nvPr/>
        </p:nvSpPr>
        <p:spPr>
          <a:xfrm>
            <a:off x="3481578" y="2240280"/>
            <a:ext cx="2384298" cy="201168"/>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3–4 months</a:t>
            </a:r>
            <a:endParaRPr lang="en-US" sz="1100" dirty="0"/>
          </a:p>
        </p:txBody>
      </p:sp>
      <p:sp>
        <p:nvSpPr>
          <p:cNvPr id="17" name="Text 15"/>
          <p:cNvSpPr/>
          <p:nvPr/>
        </p:nvSpPr>
        <p:spPr>
          <a:xfrm>
            <a:off x="3481578" y="2514600"/>
            <a:ext cx="2384298" cy="1463040"/>
          </a:xfrm>
          <a:prstGeom prst="rect">
            <a:avLst/>
          </a:prstGeom>
          <a:noFill/>
          <a:ln/>
        </p:spPr>
        <p:txBody>
          <a:bodyPr wrap="square" rtlCol="0" anchor="t"/>
          <a:lstStyle/>
          <a:p>
            <a:pPr indent="0" marL="0">
              <a:lnSpc>
                <a:spcPct val="150000"/>
              </a:lnSpc>
              <a:buNone/>
            </a:pPr>
            <a:r>
              <a:rPr lang="en-US" sz="1100" dirty="0">
                <a:solidFill>
                  <a:srgbClr val="666666"/>
                </a:solidFill>
                <a:latin typeface="Poppins" pitchFamily="34" charset="0"/>
                <a:ea typeface="Poppins" pitchFamily="34" charset="-122"/>
                <a:cs typeface="Poppins" pitchFamily="34" charset="-120"/>
              </a:rPr>
              <a:t>5 core features, design partners only. Prove grouping reduces investigation time.</a:t>
            </a:r>
            <a:endParaRPr lang="en-US" sz="1100" dirty="0"/>
          </a:p>
        </p:txBody>
      </p:sp>
      <p:sp>
        <p:nvSpPr>
          <p:cNvPr id="18" name="Shape 16"/>
          <p:cNvSpPr/>
          <p:nvPr/>
        </p:nvSpPr>
        <p:spPr>
          <a:xfrm>
            <a:off x="3353562" y="4754880"/>
            <a:ext cx="2640330" cy="685800"/>
          </a:xfrm>
          <a:prstGeom prst="rect">
            <a:avLst/>
          </a:prstGeom>
          <a:solidFill>
            <a:srgbClr val="FAF9FD"/>
          </a:solidFill>
          <a:ln/>
        </p:spPr>
      </p:sp>
      <p:sp>
        <p:nvSpPr>
          <p:cNvPr id="19" name="Text 17"/>
          <p:cNvSpPr/>
          <p:nvPr/>
        </p:nvSpPr>
        <p:spPr>
          <a:xfrm>
            <a:off x="3481578" y="4800600"/>
            <a:ext cx="2384298" cy="594360"/>
          </a:xfrm>
          <a:prstGeom prst="rect">
            <a:avLst/>
          </a:prstGeom>
          <a:noFill/>
          <a:ln/>
        </p:spPr>
        <p:txBody>
          <a:bodyPr wrap="square" rtlCol="0" anchor="t"/>
          <a:lstStyle/>
          <a:p>
            <a:pPr indent="0" marL="0">
              <a:buNone/>
            </a:pPr>
            <a:r>
              <a:rPr lang="en-US" sz="1000" b="1" dirty="0">
                <a:solidFill>
                  <a:srgbClr val="7C3AED"/>
                </a:solidFill>
                <a:latin typeface="Poppins" pitchFamily="34" charset="0"/>
                <a:ea typeface="Poppins" pitchFamily="34" charset="-122"/>
                <a:cs typeface="Poppins" pitchFamily="34" charset="-120"/>
              </a:rPr>
              <a:t>Gate: </a:t>
            </a:r>
            <a:pPr indent="0" marL="0">
              <a:buNone/>
            </a:pPr>
            <a:r>
              <a:rPr lang="en-US" sz="1000" i="1" dirty="0">
                <a:solidFill>
                  <a:srgbClr val="666666"/>
                </a:solidFill>
                <a:latin typeface="Poppins" pitchFamily="34" charset="0"/>
                <a:ea typeface="Poppins" pitchFamily="34" charset="-122"/>
                <a:cs typeface="Poppins" pitchFamily="34" charset="-120"/>
              </a:rPr>
              <a:t>Measurable time reduction confirmed</a:t>
            </a:r>
            <a:endParaRPr lang="en-US" sz="1000" dirty="0"/>
          </a:p>
        </p:txBody>
      </p:sp>
      <p:sp>
        <p:nvSpPr>
          <p:cNvPr id="20" name="Shape 18"/>
          <p:cNvSpPr/>
          <p:nvPr/>
        </p:nvSpPr>
        <p:spPr>
          <a:xfrm>
            <a:off x="6185916" y="1417320"/>
            <a:ext cx="2658618" cy="4114800"/>
          </a:xfrm>
          <a:prstGeom prst="roundRect">
            <a:avLst>
              <a:gd name="adj" fmla="val 2752"/>
            </a:avLst>
          </a:prstGeom>
          <a:solidFill>
            <a:srgbClr val="FFFFFF"/>
          </a:solidFill>
          <a:ln w="6350">
            <a:solidFill>
              <a:srgbClr val="EBE8F0"/>
            </a:solidFill>
            <a:prstDash val="solid"/>
          </a:ln>
        </p:spPr>
      </p:sp>
      <p:sp>
        <p:nvSpPr>
          <p:cNvPr id="21" name="Shape 19"/>
          <p:cNvSpPr/>
          <p:nvPr/>
        </p:nvSpPr>
        <p:spPr>
          <a:xfrm>
            <a:off x="6185916" y="1417320"/>
            <a:ext cx="2658618" cy="137160"/>
          </a:xfrm>
          <a:prstGeom prst="rect">
            <a:avLst/>
          </a:prstGeom>
          <a:solidFill>
            <a:srgbClr val="E6F5F0"/>
          </a:solidFill>
          <a:ln/>
        </p:spPr>
      </p:sp>
      <p:sp>
        <p:nvSpPr>
          <p:cNvPr id="22" name="Text 20"/>
          <p:cNvSpPr/>
          <p:nvPr/>
        </p:nvSpPr>
        <p:spPr>
          <a:xfrm>
            <a:off x="6323076" y="1691640"/>
            <a:ext cx="2384298" cy="182880"/>
          </a:xfrm>
          <a:prstGeom prst="rect">
            <a:avLst/>
          </a:prstGeom>
          <a:noFill/>
          <a:ln/>
        </p:spPr>
        <p:txBody>
          <a:bodyPr wrap="square" rtlCol="0" anchor="ctr"/>
          <a:lstStyle/>
          <a:p>
            <a:pPr indent="0" marL="0">
              <a:buNone/>
            </a:pPr>
            <a:r>
              <a:rPr lang="en-US" sz="900" b="1" dirty="0">
                <a:solidFill>
                  <a:srgbClr val="666666"/>
                </a:solidFill>
                <a:latin typeface="Poppins" pitchFamily="34" charset="0"/>
                <a:ea typeface="Poppins" pitchFamily="34" charset="-122"/>
                <a:cs typeface="Poppins" pitchFamily="34" charset="-120"/>
              </a:rPr>
              <a:t>PHASE 2</a:t>
            </a:r>
            <a:endParaRPr lang="en-US" sz="900" dirty="0"/>
          </a:p>
        </p:txBody>
      </p:sp>
      <p:sp>
        <p:nvSpPr>
          <p:cNvPr id="23" name="Text 21"/>
          <p:cNvSpPr/>
          <p:nvPr/>
        </p:nvSpPr>
        <p:spPr>
          <a:xfrm>
            <a:off x="6323076" y="1920240"/>
            <a:ext cx="2384298" cy="320040"/>
          </a:xfrm>
          <a:prstGeom prst="rect">
            <a:avLst/>
          </a:prstGeom>
          <a:noFill/>
          <a:ln/>
        </p:spPr>
        <p:txBody>
          <a:bodyPr wrap="square" rtlCol="0" anchor="ctr"/>
          <a:lstStyle/>
          <a:p>
            <a:pPr indent="0" marL="0">
              <a:buNone/>
            </a:pPr>
            <a:r>
              <a:rPr lang="en-US" sz="1600" b="1" dirty="0">
                <a:solidFill>
                  <a:srgbClr val="1A1A2E"/>
                </a:solidFill>
                <a:latin typeface="Poppins" pitchFamily="34" charset="0"/>
                <a:ea typeface="Poppins" pitchFamily="34" charset="-122"/>
                <a:cs typeface="Poppins" pitchFamily="34" charset="-120"/>
              </a:rPr>
              <a:t>Deepen</a:t>
            </a:r>
            <a:endParaRPr lang="en-US" sz="1600" dirty="0"/>
          </a:p>
        </p:txBody>
      </p:sp>
      <p:sp>
        <p:nvSpPr>
          <p:cNvPr id="24" name="Text 22"/>
          <p:cNvSpPr/>
          <p:nvPr/>
        </p:nvSpPr>
        <p:spPr>
          <a:xfrm>
            <a:off x="6323076" y="2240280"/>
            <a:ext cx="2384298" cy="201168"/>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4–6 months</a:t>
            </a:r>
            <a:endParaRPr lang="en-US" sz="1100" dirty="0"/>
          </a:p>
        </p:txBody>
      </p:sp>
      <p:sp>
        <p:nvSpPr>
          <p:cNvPr id="25" name="Text 23"/>
          <p:cNvSpPr/>
          <p:nvPr/>
        </p:nvSpPr>
        <p:spPr>
          <a:xfrm>
            <a:off x="6323076" y="2514600"/>
            <a:ext cx="2384298" cy="1463040"/>
          </a:xfrm>
          <a:prstGeom prst="rect">
            <a:avLst/>
          </a:prstGeom>
          <a:noFill/>
          <a:ln/>
        </p:spPr>
        <p:txBody>
          <a:bodyPr wrap="square" rtlCol="0" anchor="t"/>
          <a:lstStyle/>
          <a:p>
            <a:pPr indent="0" marL="0">
              <a:lnSpc>
                <a:spcPct val="150000"/>
              </a:lnSpc>
              <a:buNone/>
            </a:pPr>
            <a:r>
              <a:rPr lang="en-US" sz="1100" dirty="0">
                <a:solidFill>
                  <a:srgbClr val="666666"/>
                </a:solidFill>
                <a:latin typeface="Poppins" pitchFamily="34" charset="0"/>
                <a:ea typeface="Poppins" pitchFamily="34" charset="-122"/>
                <a:cs typeface="Poppins" pitchFamily="34" charset="-120"/>
              </a:rPr>
              <a:t>AI insights, remediation workflow, feedback loop, broader rollout</a:t>
            </a:r>
            <a:endParaRPr lang="en-US" sz="1100" dirty="0"/>
          </a:p>
        </p:txBody>
      </p:sp>
      <p:sp>
        <p:nvSpPr>
          <p:cNvPr id="26" name="Shape 24"/>
          <p:cNvSpPr/>
          <p:nvPr/>
        </p:nvSpPr>
        <p:spPr>
          <a:xfrm>
            <a:off x="6195060" y="4754880"/>
            <a:ext cx="2640330" cy="685800"/>
          </a:xfrm>
          <a:prstGeom prst="rect">
            <a:avLst/>
          </a:prstGeom>
          <a:solidFill>
            <a:srgbClr val="FAF9FD"/>
          </a:solidFill>
          <a:ln/>
        </p:spPr>
      </p:sp>
      <p:sp>
        <p:nvSpPr>
          <p:cNvPr id="27" name="Text 25"/>
          <p:cNvSpPr/>
          <p:nvPr/>
        </p:nvSpPr>
        <p:spPr>
          <a:xfrm>
            <a:off x="6323076" y="4800600"/>
            <a:ext cx="2384298" cy="594360"/>
          </a:xfrm>
          <a:prstGeom prst="rect">
            <a:avLst/>
          </a:prstGeom>
          <a:noFill/>
          <a:ln/>
        </p:spPr>
        <p:txBody>
          <a:bodyPr wrap="square" rtlCol="0" anchor="t"/>
          <a:lstStyle/>
          <a:p>
            <a:pPr indent="0" marL="0">
              <a:buNone/>
            </a:pPr>
            <a:r>
              <a:rPr lang="en-US" sz="1000" b="1" dirty="0">
                <a:solidFill>
                  <a:srgbClr val="7C3AED"/>
                </a:solidFill>
                <a:latin typeface="Poppins" pitchFamily="34" charset="0"/>
                <a:ea typeface="Poppins" pitchFamily="34" charset="-122"/>
                <a:cs typeface="Poppins" pitchFamily="34" charset="-120"/>
              </a:rPr>
              <a:t>Gate: </a:t>
            </a:r>
            <a:pPr indent="0" marL="0">
              <a:buNone/>
            </a:pPr>
            <a:r>
              <a:rPr lang="en-US" sz="1000" i="1" dirty="0">
                <a:solidFill>
                  <a:srgbClr val="666666"/>
                </a:solidFill>
                <a:latin typeface="Poppins" pitchFamily="34" charset="0"/>
                <a:ea typeface="Poppins" pitchFamily="34" charset="-122"/>
                <a:cs typeface="Poppins" pitchFamily="34" charset="-120"/>
              </a:rPr>
              <a:t>Screening requests rising per customer</a:t>
            </a:r>
            <a:endParaRPr lang="en-US" sz="1000" dirty="0"/>
          </a:p>
        </p:txBody>
      </p:sp>
      <p:sp>
        <p:nvSpPr>
          <p:cNvPr id="28" name="Shape 26"/>
          <p:cNvSpPr/>
          <p:nvPr/>
        </p:nvSpPr>
        <p:spPr>
          <a:xfrm>
            <a:off x="9027414" y="1417320"/>
            <a:ext cx="2658618" cy="4114800"/>
          </a:xfrm>
          <a:prstGeom prst="roundRect">
            <a:avLst>
              <a:gd name="adj" fmla="val 2752"/>
            </a:avLst>
          </a:prstGeom>
          <a:solidFill>
            <a:srgbClr val="FFFFFF"/>
          </a:solidFill>
          <a:ln w="6350">
            <a:solidFill>
              <a:srgbClr val="EBE8F0"/>
            </a:solidFill>
            <a:prstDash val="solid"/>
          </a:ln>
        </p:spPr>
      </p:sp>
      <p:sp>
        <p:nvSpPr>
          <p:cNvPr id="29" name="Shape 27"/>
          <p:cNvSpPr/>
          <p:nvPr/>
        </p:nvSpPr>
        <p:spPr>
          <a:xfrm>
            <a:off x="9027414" y="1417320"/>
            <a:ext cx="2658618" cy="137160"/>
          </a:xfrm>
          <a:prstGeom prst="rect">
            <a:avLst/>
          </a:prstGeom>
          <a:solidFill>
            <a:srgbClr val="0D9488"/>
          </a:solidFill>
          <a:ln/>
        </p:spPr>
      </p:sp>
      <p:sp>
        <p:nvSpPr>
          <p:cNvPr id="30" name="Text 28"/>
          <p:cNvSpPr/>
          <p:nvPr/>
        </p:nvSpPr>
        <p:spPr>
          <a:xfrm>
            <a:off x="9164574" y="1691640"/>
            <a:ext cx="2384298" cy="182880"/>
          </a:xfrm>
          <a:prstGeom prst="rect">
            <a:avLst/>
          </a:prstGeom>
          <a:noFill/>
          <a:ln/>
        </p:spPr>
        <p:txBody>
          <a:bodyPr wrap="square" rtlCol="0" anchor="ctr"/>
          <a:lstStyle/>
          <a:p>
            <a:pPr indent="0" marL="0">
              <a:buNone/>
            </a:pPr>
            <a:r>
              <a:rPr lang="en-US" sz="900" b="1" dirty="0">
                <a:solidFill>
                  <a:srgbClr val="666666"/>
                </a:solidFill>
                <a:latin typeface="Poppins" pitchFamily="34" charset="0"/>
                <a:ea typeface="Poppins" pitchFamily="34" charset="-122"/>
                <a:cs typeface="Poppins" pitchFamily="34" charset="-120"/>
              </a:rPr>
              <a:t>PHASE 3</a:t>
            </a:r>
            <a:endParaRPr lang="en-US" sz="900" dirty="0"/>
          </a:p>
        </p:txBody>
      </p:sp>
      <p:sp>
        <p:nvSpPr>
          <p:cNvPr id="31" name="Text 29"/>
          <p:cNvSpPr/>
          <p:nvPr/>
        </p:nvSpPr>
        <p:spPr>
          <a:xfrm>
            <a:off x="9164574" y="1920240"/>
            <a:ext cx="2384298" cy="320040"/>
          </a:xfrm>
          <a:prstGeom prst="rect">
            <a:avLst/>
          </a:prstGeom>
          <a:noFill/>
          <a:ln/>
        </p:spPr>
        <p:txBody>
          <a:bodyPr wrap="square" rtlCol="0" anchor="ctr"/>
          <a:lstStyle/>
          <a:p>
            <a:pPr indent="0" marL="0">
              <a:buNone/>
            </a:pPr>
            <a:r>
              <a:rPr lang="en-US" sz="1600" b="1" dirty="0">
                <a:solidFill>
                  <a:srgbClr val="1A1A2E"/>
                </a:solidFill>
                <a:latin typeface="Poppins" pitchFamily="34" charset="0"/>
                <a:ea typeface="Poppins" pitchFamily="34" charset="-122"/>
                <a:cs typeface="Poppins" pitchFamily="34" charset="-120"/>
              </a:rPr>
              <a:t>Scale</a:t>
            </a:r>
            <a:endParaRPr lang="en-US" sz="1600" dirty="0"/>
          </a:p>
        </p:txBody>
      </p:sp>
      <p:sp>
        <p:nvSpPr>
          <p:cNvPr id="32" name="Text 30"/>
          <p:cNvSpPr/>
          <p:nvPr/>
        </p:nvSpPr>
        <p:spPr>
          <a:xfrm>
            <a:off x="9164574" y="2240280"/>
            <a:ext cx="2384298" cy="201168"/>
          </a:xfrm>
          <a:prstGeom prst="rect">
            <a:avLst/>
          </a:prstGeom>
          <a:noFill/>
          <a:ln/>
        </p:spPr>
        <p:txBody>
          <a:bodyPr wrap="square" rtlCol="0" anchor="ctr"/>
          <a:lstStyle/>
          <a:p>
            <a:pPr indent="0" marL="0">
              <a:buNone/>
            </a:pPr>
            <a:r>
              <a:rPr lang="en-US" sz="1100" dirty="0">
                <a:solidFill>
                  <a:srgbClr val="666666"/>
                </a:solidFill>
                <a:latin typeface="Poppins" pitchFamily="34" charset="0"/>
                <a:ea typeface="Poppins" pitchFamily="34" charset="-122"/>
                <a:cs typeface="Poppins" pitchFamily="34" charset="-120"/>
              </a:rPr>
              <a:t>Ongoing</a:t>
            </a:r>
            <a:endParaRPr lang="en-US" sz="1100" dirty="0"/>
          </a:p>
        </p:txBody>
      </p:sp>
      <p:sp>
        <p:nvSpPr>
          <p:cNvPr id="33" name="Text 31"/>
          <p:cNvSpPr/>
          <p:nvPr/>
        </p:nvSpPr>
        <p:spPr>
          <a:xfrm>
            <a:off x="9164574" y="2514600"/>
            <a:ext cx="2384298" cy="1463040"/>
          </a:xfrm>
          <a:prstGeom prst="rect">
            <a:avLst/>
          </a:prstGeom>
          <a:noFill/>
          <a:ln/>
        </p:spPr>
        <p:txBody>
          <a:bodyPr wrap="square" rtlCol="0" anchor="t"/>
          <a:lstStyle/>
          <a:p>
            <a:pPr indent="0" marL="0">
              <a:lnSpc>
                <a:spcPct val="150000"/>
              </a:lnSpc>
              <a:buNone/>
            </a:pPr>
            <a:r>
              <a:rPr lang="en-US" sz="1100" dirty="0">
                <a:solidFill>
                  <a:srgbClr val="666666"/>
                </a:solidFill>
                <a:latin typeface="Poppins" pitchFamily="34" charset="0"/>
                <a:ea typeface="Poppins" pitchFamily="34" charset="-122"/>
                <a:cs typeface="Poppins" pitchFamily="34" charset="-120"/>
              </a:rPr>
              <a:t>Full rollout, distinct pricing tier, compounding feedback loop</a:t>
            </a:r>
            <a:endParaRPr lang="en-US" sz="1100" dirty="0"/>
          </a:p>
        </p:txBody>
      </p:sp>
      <p:sp>
        <p:nvSpPr>
          <p:cNvPr id="34" name="Shape 32"/>
          <p:cNvSpPr/>
          <p:nvPr/>
        </p:nvSpPr>
        <p:spPr>
          <a:xfrm>
            <a:off x="9036558" y="4754880"/>
            <a:ext cx="2640330" cy="685800"/>
          </a:xfrm>
          <a:prstGeom prst="rect">
            <a:avLst/>
          </a:prstGeom>
          <a:solidFill>
            <a:srgbClr val="FAF9FD"/>
          </a:solidFill>
          <a:ln/>
        </p:spPr>
      </p:sp>
      <p:sp>
        <p:nvSpPr>
          <p:cNvPr id="35" name="Text 33"/>
          <p:cNvSpPr/>
          <p:nvPr/>
        </p:nvSpPr>
        <p:spPr>
          <a:xfrm>
            <a:off x="9164574" y="4800600"/>
            <a:ext cx="2384298" cy="594360"/>
          </a:xfrm>
          <a:prstGeom prst="rect">
            <a:avLst/>
          </a:prstGeom>
          <a:noFill/>
          <a:ln/>
        </p:spPr>
        <p:txBody>
          <a:bodyPr wrap="square" rtlCol="0" anchor="t"/>
          <a:lstStyle/>
          <a:p>
            <a:pPr indent="0" marL="0">
              <a:buNone/>
            </a:pPr>
            <a:r>
              <a:rPr lang="en-US" sz="1000" b="1" dirty="0">
                <a:solidFill>
                  <a:srgbClr val="7C3AED"/>
                </a:solidFill>
                <a:latin typeface="Poppins" pitchFamily="34" charset="0"/>
                <a:ea typeface="Poppins" pitchFamily="34" charset="-122"/>
                <a:cs typeface="Poppins" pitchFamily="34" charset="-120"/>
              </a:rPr>
              <a:t>Gate: </a:t>
            </a:r>
            <a:pPr indent="0" marL="0">
              <a:buNone/>
            </a:pPr>
            <a:r>
              <a:rPr lang="en-US" sz="1000" i="1" dirty="0">
                <a:solidFill>
                  <a:srgbClr val="666666"/>
                </a:solidFill>
                <a:latin typeface="Poppins" pitchFamily="34" charset="0"/>
                <a:ea typeface="Poppins" pitchFamily="34" charset="-122"/>
                <a:cs typeface="Poppins" pitchFamily="34" charset="-120"/>
              </a:rPr>
              <a:t>Portfolio expansion confirmed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RESOURCES &amp; EFFORT</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What the build requires. </a:t>
            </a:r>
            <a:pPr indent="0" marL="0">
              <a:buNone/>
            </a:pPr>
            <a:r>
              <a:rPr lang="en-US" sz="3800" b="1" dirty="0">
                <a:solidFill>
                  <a:srgbClr val="0D9488"/>
                </a:solidFill>
                <a:latin typeface="Poppins" pitchFamily="34" charset="0"/>
                <a:ea typeface="Poppins" pitchFamily="34" charset="-122"/>
                <a:cs typeface="Poppins" pitchFamily="34" charset="-120"/>
              </a:rPr>
              <a:t>Phased, lean, right-sized.</a:t>
            </a:r>
            <a:endParaRPr lang="en-US" sz="3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0789920" cy="914400"/>
        </p:xfrm>
        <a:graphic>
          <a:graphicData uri="http://schemas.openxmlformats.org/drawingml/2006/table">
            <a:tbl>
              <a:tblPr/>
              <a:tblGrid>
                <a:gridCol w="2560320"/>
                <a:gridCol w="1828800"/>
                <a:gridCol w="1828800"/>
                <a:gridCol w="2286000"/>
                <a:gridCol w="2286000"/>
              </a:tblGrid>
              <a:tr h="384048">
                <a:tc>
                  <a:txBody>
                    <a:bodyPr/>
                    <a:lstStyle/>
                    <a:p>
                      <a:pPr algn="l" indent="0" marL="0">
                        <a:buNone/>
                      </a:pPr>
                      <a:r>
                        <a:rPr lang="en-US" sz="1000" b="1" dirty="0">
                          <a:solidFill>
                            <a:srgbClr val="FFFFFF"/>
                          </a:solidFill>
                          <a:latin typeface="Poppins" pitchFamily="34" charset="0"/>
                          <a:ea typeface="Poppins" pitchFamily="34" charset="-122"/>
                          <a:cs typeface="Poppins" pitchFamily="34" charset="-120"/>
                        </a:rPr>
                        <a:t>Role</a:t>
                      </a:r>
                      <a:endParaRPr lang="en-US" sz="10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1A1A2E"/>
                    </a:solidFill>
                  </a:tcPr>
                </a:tc>
                <a:tc>
                  <a:txBody>
                    <a:bodyPr/>
                    <a:lstStyle/>
                    <a:p>
                      <a:pPr algn="ctr" indent="0" marL="0">
                        <a:buNone/>
                      </a:pPr>
                      <a:r>
                        <a:rPr lang="en-US" sz="1000" b="1" dirty="0">
                          <a:solidFill>
                            <a:srgbClr val="FFFFFF"/>
                          </a:solidFill>
                          <a:latin typeface="Poppins" pitchFamily="34" charset="0"/>
                          <a:ea typeface="Poppins" pitchFamily="34" charset="-122"/>
                          <a:cs typeface="Poppins" pitchFamily="34" charset="-120"/>
                        </a:rPr>
                        <a:t>Phase 0</a:t>
                      </a:r>
                      <a:endParaRPr lang="en-US" sz="1000" dirty="0">
                        <a:latin typeface="Poppins" charset="0"/>
                        <a:ea typeface="Poppins" charset="0"/>
                        <a:cs typeface="Poppins" charset="0"/>
                      </a:endParaRPr>
                    </a:p>
                    <a:p>
                      <a:pPr algn="ctr" indent="0" marL="0">
                        <a:buNone/>
                      </a:pPr>
                      <a:r>
                        <a:rPr lang="en-US" sz="1000" b="1" dirty="0">
                          <a:solidFill>
                            <a:srgbClr val="FFFFFF"/>
                          </a:solidFill>
                          <a:latin typeface="Poppins" pitchFamily="34" charset="0"/>
                          <a:ea typeface="Poppins" pitchFamily="34" charset="-122"/>
                          <a:cs typeface="Poppins" pitchFamily="34" charset="-120"/>
                        </a:rPr>
                        <a:t>(4–6 wk)</a:t>
                      </a:r>
                      <a:endParaRPr lang="en-US" sz="10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1A1A2E"/>
                    </a:solidFill>
                  </a:tcPr>
                </a:tc>
                <a:tc>
                  <a:txBody>
                    <a:bodyPr/>
                    <a:lstStyle/>
                    <a:p>
                      <a:pPr algn="ctr" indent="0" marL="0">
                        <a:buNone/>
                      </a:pPr>
                      <a:r>
                        <a:rPr lang="en-US" sz="1000" b="1" dirty="0">
                          <a:solidFill>
                            <a:srgbClr val="FFFFFF"/>
                          </a:solidFill>
                          <a:latin typeface="Poppins" pitchFamily="34" charset="0"/>
                          <a:ea typeface="Poppins" pitchFamily="34" charset="-122"/>
                          <a:cs typeface="Poppins" pitchFamily="34" charset="-120"/>
                        </a:rPr>
                        <a:t>Phase 1 MVP</a:t>
                      </a:r>
                      <a:endParaRPr lang="en-US" sz="1000" dirty="0">
                        <a:latin typeface="Poppins" charset="0"/>
                        <a:ea typeface="Poppins" charset="0"/>
                        <a:cs typeface="Poppins" charset="0"/>
                      </a:endParaRPr>
                    </a:p>
                    <a:p>
                      <a:pPr algn="ctr" indent="0" marL="0">
                        <a:buNone/>
                      </a:pPr>
                      <a:r>
                        <a:rPr lang="en-US" sz="1000" b="1" dirty="0">
                          <a:solidFill>
                            <a:srgbClr val="FFFFFF"/>
                          </a:solidFill>
                          <a:latin typeface="Poppins" pitchFamily="34" charset="0"/>
                          <a:ea typeface="Poppins" pitchFamily="34" charset="-122"/>
                          <a:cs typeface="Poppins" pitchFamily="34" charset="-120"/>
                        </a:rPr>
                        <a:t>(3–4 mo)</a:t>
                      </a:r>
                      <a:endParaRPr lang="en-US" sz="10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1A1A2E"/>
                    </a:solidFill>
                  </a:tcPr>
                </a:tc>
                <a:tc>
                  <a:txBody>
                    <a:bodyPr/>
                    <a:lstStyle/>
                    <a:p>
                      <a:pPr algn="ctr" indent="0" marL="0">
                        <a:buNone/>
                      </a:pPr>
                      <a:r>
                        <a:rPr lang="en-US" sz="1000" b="1" dirty="0">
                          <a:solidFill>
                            <a:srgbClr val="FFFFFF"/>
                          </a:solidFill>
                          <a:latin typeface="Poppins" pitchFamily="34" charset="0"/>
                          <a:ea typeface="Poppins" pitchFamily="34" charset="-122"/>
                          <a:cs typeface="Poppins" pitchFamily="34" charset="-120"/>
                        </a:rPr>
                        <a:t>Phase 2 Deepen</a:t>
                      </a:r>
                      <a:endParaRPr lang="en-US" sz="1000" dirty="0">
                        <a:latin typeface="Poppins" charset="0"/>
                        <a:ea typeface="Poppins" charset="0"/>
                        <a:cs typeface="Poppins" charset="0"/>
                      </a:endParaRPr>
                    </a:p>
                    <a:p>
                      <a:pPr algn="ctr" indent="0" marL="0">
                        <a:buNone/>
                      </a:pPr>
                      <a:r>
                        <a:rPr lang="en-US" sz="1000" b="1" dirty="0">
                          <a:solidFill>
                            <a:srgbClr val="FFFFFF"/>
                          </a:solidFill>
                          <a:latin typeface="Poppins" pitchFamily="34" charset="0"/>
                          <a:ea typeface="Poppins" pitchFamily="34" charset="-122"/>
                          <a:cs typeface="Poppins" pitchFamily="34" charset="-120"/>
                        </a:rPr>
                        <a:t>(4–6 mo)</a:t>
                      </a:r>
                      <a:endParaRPr lang="en-US" sz="10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1A1A2E"/>
                    </a:solidFill>
                  </a:tcPr>
                </a:tc>
                <a:tc>
                  <a:txBody>
                    <a:bodyPr/>
                    <a:lstStyle/>
                    <a:p>
                      <a:pPr algn="ctr" indent="0" marL="0">
                        <a:buNone/>
                      </a:pPr>
                      <a:r>
                        <a:rPr lang="en-US" sz="1000" b="1" dirty="0">
                          <a:solidFill>
                            <a:srgbClr val="FFFFFF"/>
                          </a:solidFill>
                          <a:latin typeface="Poppins" pitchFamily="34" charset="0"/>
                          <a:ea typeface="Poppins" pitchFamily="34" charset="-122"/>
                          <a:cs typeface="Poppins" pitchFamily="34" charset="-120"/>
                        </a:rPr>
                        <a:t>Phase 3 Scale</a:t>
                      </a:r>
                      <a:endParaRPr lang="en-US" sz="1000" dirty="0">
                        <a:latin typeface="Poppins" charset="0"/>
                        <a:ea typeface="Poppins" charset="0"/>
                        <a:cs typeface="Poppins" charset="0"/>
                      </a:endParaRPr>
                    </a:p>
                    <a:p>
                      <a:pPr algn="ctr" indent="0" marL="0">
                        <a:buNone/>
                      </a:pPr>
                      <a:r>
                        <a:rPr lang="en-US" sz="1000" b="1" dirty="0">
                          <a:solidFill>
                            <a:srgbClr val="FFFFFF"/>
                          </a:solidFill>
                          <a:latin typeface="Poppins" pitchFamily="34" charset="0"/>
                          <a:ea typeface="Poppins" pitchFamily="34" charset="-122"/>
                          <a:cs typeface="Poppins" pitchFamily="34" charset="-120"/>
                        </a:rPr>
                        <a:t>(ongoing)</a:t>
                      </a:r>
                      <a:endParaRPr lang="en-US" sz="10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1A1A2E"/>
                    </a:solidFill>
                  </a:tcPr>
                </a:tc>
              </a:tr>
              <a:tr h="329184">
                <a:tc>
                  <a:txBody>
                    <a:bodyPr/>
                    <a:lstStyle/>
                    <a:p>
                      <a:pPr algn="l" indent="0" marL="0">
                        <a:buNone/>
                      </a:pPr>
                      <a:r>
                        <a:rPr lang="en-US" sz="1100" dirty="0">
                          <a:solidFill>
                            <a:srgbClr val="1A1A2E"/>
                          </a:solidFill>
                          <a:latin typeface="Poppins" pitchFamily="34" charset="0"/>
                          <a:ea typeface="Poppins" pitchFamily="34" charset="-122"/>
                          <a:cs typeface="Poppins" pitchFamily="34" charset="-120"/>
                        </a:rPr>
                        <a:t>Product Manager</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1 (full)</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1 (full)</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1 (full)</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1 (full)</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r>
              <a:tr h="329184">
                <a:tc>
                  <a:txBody>
                    <a:bodyPr/>
                    <a:lstStyle/>
                    <a:p>
                      <a:pPr algn="l" indent="0" marL="0">
                        <a:buNone/>
                      </a:pPr>
                      <a:r>
                        <a:rPr lang="en-US" sz="1100" dirty="0">
                          <a:solidFill>
                            <a:srgbClr val="1A1A2E"/>
                          </a:solidFill>
                          <a:latin typeface="Poppins" pitchFamily="34" charset="0"/>
                          <a:ea typeface="Poppins" pitchFamily="34" charset="-122"/>
                          <a:cs typeface="Poppins" pitchFamily="34" charset="-120"/>
                        </a:rPr>
                        <a:t>UX Designer</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0.5</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0.5</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1 (full)</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0.5</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A1A2E"/>
                          </a:solidFill>
                          <a:latin typeface="Poppins" pitchFamily="34" charset="0"/>
                          <a:ea typeface="Poppins" pitchFamily="34" charset="-122"/>
                          <a:cs typeface="Poppins" pitchFamily="34" charset="-120"/>
                        </a:rPr>
                        <a:t>Backend Engineers</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4–5</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5–6</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4–5</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r>
              <a:tr h="329184">
                <a:tc>
                  <a:txBody>
                    <a:bodyPr/>
                    <a:lstStyle/>
                    <a:p>
                      <a:pPr algn="l" indent="0" marL="0">
                        <a:buNone/>
                      </a:pPr>
                      <a:r>
                        <a:rPr lang="en-US" sz="1100" dirty="0">
                          <a:solidFill>
                            <a:srgbClr val="1A1A2E"/>
                          </a:solidFill>
                          <a:latin typeface="Poppins" pitchFamily="34" charset="0"/>
                          <a:ea typeface="Poppins" pitchFamily="34" charset="-122"/>
                          <a:cs typeface="Poppins" pitchFamily="34" charset="-120"/>
                        </a:rPr>
                        <a:t>Frontend Engineers</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2</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2–3</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2</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A1A2E"/>
                          </a:solidFill>
                          <a:latin typeface="Poppins" pitchFamily="34" charset="0"/>
                          <a:ea typeface="Poppins" pitchFamily="34" charset="-122"/>
                          <a:cs typeface="Poppins" pitchFamily="34" charset="-120"/>
                        </a:rPr>
                        <a:t>Data / ML Engineer</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1–2</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2</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1–2</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r>
              <a:tr h="329184">
                <a:tc>
                  <a:txBody>
                    <a:bodyPr/>
                    <a:lstStyle/>
                    <a:p>
                      <a:pPr algn="l" indent="0" marL="0">
                        <a:buNone/>
                      </a:pPr>
                      <a:r>
                        <a:rPr lang="en-US" sz="1100" dirty="0">
                          <a:solidFill>
                            <a:srgbClr val="1A1A2E"/>
                          </a:solidFill>
                          <a:latin typeface="Poppins" pitchFamily="34" charset="0"/>
                          <a:ea typeface="Poppins" pitchFamily="34" charset="-122"/>
                          <a:cs typeface="Poppins" pitchFamily="34" charset="-120"/>
                        </a:rPr>
                        <a:t>QA Engineer</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1</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1</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1</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A1A2E"/>
                          </a:solidFill>
                          <a:latin typeface="Poppins" pitchFamily="34" charset="0"/>
                          <a:ea typeface="Poppins" pitchFamily="34" charset="-122"/>
                          <a:cs typeface="Poppins" pitchFamily="34" charset="-120"/>
                        </a:rPr>
                        <a:t>Solutions Engineer</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0.5 (shared)</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0.5 (shared)</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0.5 (shared)</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A1A2E"/>
                          </a:solidFill>
                          <a:latin typeface="Poppins" pitchFamily="34" charset="0"/>
                          <a:ea typeface="Poppins" pitchFamily="34" charset="-122"/>
                          <a:cs typeface="Poppins" pitchFamily="34" charset="-120"/>
                        </a:rPr>
                        <a:t>0.5 (shared)</a:t>
                      </a:r>
                      <a:endParaRPr lang="en-US" sz="1100" dirty="0">
                        <a:latin typeface="Poppins" charset="0"/>
                        <a:ea typeface="Poppins" charset="0"/>
                        <a:cs typeface="Poppins" charset="0"/>
                      </a:endParaRPr>
                    </a:p>
                  </a:txBody>
                  <a:tcPr marL="91440" marR="91440" marT="45720" marB="45720" anchor="ctr">
                    <a:lnL w="6350" cap="flat" cmpd="sng" algn="ctr">
                      <a:solidFill>
                        <a:srgbClr val="EBE8F0"/>
                      </a:solidFill>
                      <a:prstDash val="solid"/>
                      <a:round/>
                      <a:headEnd type="none" w="med" len="med"/>
                      <a:tailEnd type="none" w="med" len="med"/>
                    </a:lnL>
                    <a:lnR w="6350" cap="flat" cmpd="sng" algn="ctr">
                      <a:solidFill>
                        <a:srgbClr val="EBE8F0"/>
                      </a:solidFill>
                      <a:prstDash val="solid"/>
                      <a:round/>
                      <a:headEnd type="none" w="med" len="med"/>
                      <a:tailEnd type="none" w="med" len="med"/>
                    </a:lnR>
                    <a:lnT w="6350" cap="flat" cmpd="sng" algn="ctr">
                      <a:solidFill>
                        <a:srgbClr val="EBE8F0"/>
                      </a:solidFill>
                      <a:prstDash val="solid"/>
                      <a:round/>
                      <a:headEnd type="none" w="med" len="med"/>
                      <a:tailEnd type="none" w="med" len="med"/>
                    </a:lnT>
                    <a:lnB w="6350" cap="flat" cmpd="sng" algn="ctr">
                      <a:solidFill>
                        <a:srgbClr val="EBE8F0"/>
                      </a:solidFill>
                      <a:prstDash val="solid"/>
                      <a:round/>
                      <a:headEnd type="none" w="med" len="med"/>
                      <a:tailEnd type="none" w="med" len="med"/>
                    </a:lnB>
                    <a:solidFill>
                      <a:srgbClr val="FAF9FD"/>
                    </a:solidFill>
                  </a:tcPr>
                </a:tc>
              </a:tr>
            </a:tbl>
          </a:graphicData>
        </a:graphic>
      </p:graphicFrame>
      <p:sp>
        <p:nvSpPr>
          <p:cNvPr id="5" name="Shape 2"/>
          <p:cNvSpPr/>
          <p:nvPr/>
        </p:nvSpPr>
        <p:spPr>
          <a:xfrm>
            <a:off x="502920" y="4297680"/>
            <a:ext cx="2658618" cy="777240"/>
          </a:xfrm>
          <a:prstGeom prst="roundRect">
            <a:avLst>
              <a:gd name="adj" fmla="val 9412"/>
            </a:avLst>
          </a:prstGeom>
          <a:solidFill>
            <a:srgbClr val="FAF9FD"/>
          </a:solidFill>
          <a:ln w="6350">
            <a:solidFill>
              <a:srgbClr val="EBE8F0"/>
            </a:solidFill>
            <a:prstDash val="solid"/>
          </a:ln>
        </p:spPr>
      </p:sp>
      <p:sp>
        <p:nvSpPr>
          <p:cNvPr id="6" name="Text 3"/>
          <p:cNvSpPr/>
          <p:nvPr/>
        </p:nvSpPr>
        <p:spPr>
          <a:xfrm>
            <a:off x="502920" y="4343400"/>
            <a:ext cx="2658618" cy="411480"/>
          </a:xfrm>
          <a:prstGeom prst="rect">
            <a:avLst/>
          </a:prstGeom>
          <a:noFill/>
          <a:ln/>
        </p:spPr>
        <p:txBody>
          <a:bodyPr wrap="square" rtlCol="0" anchor="ctr"/>
          <a:lstStyle/>
          <a:p>
            <a:pPr algn="ctr" indent="0" marL="0">
              <a:buNone/>
            </a:pPr>
            <a:r>
              <a:rPr lang="en-US" sz="2800" b="1" dirty="0">
                <a:solidFill>
                  <a:srgbClr val="666666"/>
                </a:solidFill>
                <a:latin typeface="Poppins" pitchFamily="34" charset="0"/>
                <a:ea typeface="Poppins" pitchFamily="34" charset="-122"/>
                <a:cs typeface="Poppins" pitchFamily="34" charset="-120"/>
              </a:rPr>
              <a:t>~0.5 FTE</a:t>
            </a:r>
            <a:endParaRPr lang="en-US" sz="2800" dirty="0"/>
          </a:p>
        </p:txBody>
      </p:sp>
      <p:sp>
        <p:nvSpPr>
          <p:cNvPr id="7" name="Text 4"/>
          <p:cNvSpPr/>
          <p:nvPr/>
        </p:nvSpPr>
        <p:spPr>
          <a:xfrm>
            <a:off x="502920" y="4754880"/>
            <a:ext cx="2658618" cy="256032"/>
          </a:xfrm>
          <a:prstGeom prst="rect">
            <a:avLst/>
          </a:prstGeom>
          <a:noFill/>
          <a:ln/>
        </p:spPr>
        <p:txBody>
          <a:bodyPr wrap="square" rtlCol="0" anchor="ctr"/>
          <a:lstStyle/>
          <a:p>
            <a:pPr algn="ctr" indent="0" marL="0">
              <a:buNone/>
            </a:pPr>
            <a:r>
              <a:rPr lang="en-US" sz="1000" dirty="0">
                <a:solidFill>
                  <a:srgbClr val="666666"/>
                </a:solidFill>
                <a:latin typeface="Poppins" pitchFamily="34" charset="0"/>
                <a:ea typeface="Poppins" pitchFamily="34" charset="-122"/>
                <a:cs typeface="Poppins" pitchFamily="34" charset="-120"/>
              </a:rPr>
              <a:t>Phase 0 · discovery only</a:t>
            </a:r>
            <a:endParaRPr lang="en-US" sz="1000" dirty="0"/>
          </a:p>
        </p:txBody>
      </p:sp>
      <p:sp>
        <p:nvSpPr>
          <p:cNvPr id="8" name="Shape 5"/>
          <p:cNvSpPr/>
          <p:nvPr/>
        </p:nvSpPr>
        <p:spPr>
          <a:xfrm>
            <a:off x="3344418" y="4297680"/>
            <a:ext cx="2658618" cy="777240"/>
          </a:xfrm>
          <a:prstGeom prst="roundRect">
            <a:avLst>
              <a:gd name="adj" fmla="val 9412"/>
            </a:avLst>
          </a:prstGeom>
          <a:solidFill>
            <a:srgbClr val="EBE8F0"/>
          </a:solidFill>
          <a:ln w="6350">
            <a:solidFill>
              <a:srgbClr val="EBE8F0"/>
            </a:solidFill>
            <a:prstDash val="solid"/>
          </a:ln>
        </p:spPr>
      </p:sp>
      <p:sp>
        <p:nvSpPr>
          <p:cNvPr id="9" name="Text 6"/>
          <p:cNvSpPr/>
          <p:nvPr/>
        </p:nvSpPr>
        <p:spPr>
          <a:xfrm>
            <a:off x="3344418" y="4343400"/>
            <a:ext cx="2658618" cy="411480"/>
          </a:xfrm>
          <a:prstGeom prst="rect">
            <a:avLst/>
          </a:prstGeom>
          <a:noFill/>
          <a:ln/>
        </p:spPr>
        <p:txBody>
          <a:bodyPr wrap="square" rtlCol="0" anchor="ctr"/>
          <a:lstStyle/>
          <a:p>
            <a:pPr algn="ctr" indent="0" marL="0">
              <a:buNone/>
            </a:pPr>
            <a:r>
              <a:rPr lang="en-US" sz="2800" b="1" dirty="0">
                <a:solidFill>
                  <a:srgbClr val="7C3AED"/>
                </a:solidFill>
                <a:latin typeface="Poppins" pitchFamily="34" charset="0"/>
                <a:ea typeface="Poppins" pitchFamily="34" charset="-122"/>
                <a:cs typeface="Poppins" pitchFamily="34" charset="-120"/>
              </a:rPr>
              <a:t>~8–9 FTE</a:t>
            </a:r>
            <a:endParaRPr lang="en-US" sz="2800" dirty="0"/>
          </a:p>
        </p:txBody>
      </p:sp>
      <p:sp>
        <p:nvSpPr>
          <p:cNvPr id="10" name="Text 7"/>
          <p:cNvSpPr/>
          <p:nvPr/>
        </p:nvSpPr>
        <p:spPr>
          <a:xfrm>
            <a:off x="3344418" y="4754880"/>
            <a:ext cx="2658618" cy="256032"/>
          </a:xfrm>
          <a:prstGeom prst="rect">
            <a:avLst/>
          </a:prstGeom>
          <a:noFill/>
          <a:ln/>
        </p:spPr>
        <p:txBody>
          <a:bodyPr wrap="square" rtlCol="0" anchor="ctr"/>
          <a:lstStyle/>
          <a:p>
            <a:pPr algn="ctr" indent="0" marL="0">
              <a:buNone/>
            </a:pPr>
            <a:r>
              <a:rPr lang="en-US" sz="1000" dirty="0">
                <a:solidFill>
                  <a:srgbClr val="666666"/>
                </a:solidFill>
                <a:latin typeface="Poppins" pitchFamily="34" charset="0"/>
                <a:ea typeface="Poppins" pitchFamily="34" charset="-122"/>
                <a:cs typeface="Poppins" pitchFamily="34" charset="-120"/>
              </a:rPr>
              <a:t>Phase 1 · design partners</a:t>
            </a:r>
            <a:endParaRPr lang="en-US" sz="1000" dirty="0"/>
          </a:p>
        </p:txBody>
      </p:sp>
      <p:sp>
        <p:nvSpPr>
          <p:cNvPr id="11" name="Shape 8"/>
          <p:cNvSpPr/>
          <p:nvPr/>
        </p:nvSpPr>
        <p:spPr>
          <a:xfrm>
            <a:off x="6185916" y="4297680"/>
            <a:ext cx="2658618" cy="777240"/>
          </a:xfrm>
          <a:prstGeom prst="roundRect">
            <a:avLst>
              <a:gd name="adj" fmla="val 9412"/>
            </a:avLst>
          </a:prstGeom>
          <a:solidFill>
            <a:srgbClr val="E6F5F0"/>
          </a:solidFill>
          <a:ln w="6350">
            <a:solidFill>
              <a:srgbClr val="EBE8F0"/>
            </a:solidFill>
            <a:prstDash val="solid"/>
          </a:ln>
        </p:spPr>
      </p:sp>
      <p:sp>
        <p:nvSpPr>
          <p:cNvPr id="12" name="Text 9"/>
          <p:cNvSpPr/>
          <p:nvPr/>
        </p:nvSpPr>
        <p:spPr>
          <a:xfrm>
            <a:off x="6185916" y="4343400"/>
            <a:ext cx="2658618" cy="411480"/>
          </a:xfrm>
          <a:prstGeom prst="rect">
            <a:avLst/>
          </a:prstGeom>
          <a:noFill/>
          <a:ln/>
        </p:spPr>
        <p:txBody>
          <a:bodyPr wrap="square" rtlCol="0" anchor="ctr"/>
          <a:lstStyle/>
          <a:p>
            <a:pPr algn="ctr" indent="0" marL="0">
              <a:buNone/>
            </a:pPr>
            <a:r>
              <a:rPr lang="en-US" sz="2800" b="1" dirty="0">
                <a:solidFill>
                  <a:srgbClr val="0D9488"/>
                </a:solidFill>
                <a:latin typeface="Poppins" pitchFamily="34" charset="0"/>
                <a:ea typeface="Poppins" pitchFamily="34" charset="-122"/>
                <a:cs typeface="Poppins" pitchFamily="34" charset="-120"/>
              </a:rPr>
              <a:t>~10–11 FTE</a:t>
            </a:r>
            <a:endParaRPr lang="en-US" sz="2800" dirty="0"/>
          </a:p>
        </p:txBody>
      </p:sp>
      <p:sp>
        <p:nvSpPr>
          <p:cNvPr id="13" name="Text 10"/>
          <p:cNvSpPr/>
          <p:nvPr/>
        </p:nvSpPr>
        <p:spPr>
          <a:xfrm>
            <a:off x="6185916" y="4754880"/>
            <a:ext cx="2658618" cy="256032"/>
          </a:xfrm>
          <a:prstGeom prst="rect">
            <a:avLst/>
          </a:prstGeom>
          <a:noFill/>
          <a:ln/>
        </p:spPr>
        <p:txBody>
          <a:bodyPr wrap="square" rtlCol="0" anchor="ctr"/>
          <a:lstStyle/>
          <a:p>
            <a:pPr algn="ctr" indent="0" marL="0">
              <a:buNone/>
            </a:pPr>
            <a:r>
              <a:rPr lang="en-US" sz="1000" dirty="0">
                <a:solidFill>
                  <a:srgbClr val="666666"/>
                </a:solidFill>
                <a:latin typeface="Poppins" pitchFamily="34" charset="0"/>
                <a:ea typeface="Poppins" pitchFamily="34" charset="-122"/>
                <a:cs typeface="Poppins" pitchFamily="34" charset="-120"/>
              </a:rPr>
              <a:t>Phase 2 · GA prep</a:t>
            </a:r>
            <a:endParaRPr lang="en-US" sz="1000" dirty="0"/>
          </a:p>
        </p:txBody>
      </p:sp>
      <p:sp>
        <p:nvSpPr>
          <p:cNvPr id="14" name="Shape 11"/>
          <p:cNvSpPr/>
          <p:nvPr/>
        </p:nvSpPr>
        <p:spPr>
          <a:xfrm>
            <a:off x="9027414" y="4297680"/>
            <a:ext cx="2658618" cy="777240"/>
          </a:xfrm>
          <a:prstGeom prst="roundRect">
            <a:avLst>
              <a:gd name="adj" fmla="val 9412"/>
            </a:avLst>
          </a:prstGeom>
          <a:solidFill>
            <a:srgbClr val="FAF9FD"/>
          </a:solidFill>
          <a:ln w="6350">
            <a:solidFill>
              <a:srgbClr val="EBE8F0"/>
            </a:solidFill>
            <a:prstDash val="solid"/>
          </a:ln>
        </p:spPr>
      </p:sp>
      <p:sp>
        <p:nvSpPr>
          <p:cNvPr id="15" name="Text 12"/>
          <p:cNvSpPr/>
          <p:nvPr/>
        </p:nvSpPr>
        <p:spPr>
          <a:xfrm>
            <a:off x="9027414" y="4343400"/>
            <a:ext cx="2658618" cy="411480"/>
          </a:xfrm>
          <a:prstGeom prst="rect">
            <a:avLst/>
          </a:prstGeom>
          <a:noFill/>
          <a:ln/>
        </p:spPr>
        <p:txBody>
          <a:bodyPr wrap="square" rtlCol="0" anchor="ctr"/>
          <a:lstStyle/>
          <a:p>
            <a:pPr algn="ctr" indent="0" marL="0">
              <a:buNone/>
            </a:pPr>
            <a:r>
              <a:rPr lang="en-US" sz="2800" b="1" dirty="0">
                <a:solidFill>
                  <a:srgbClr val="666666"/>
                </a:solidFill>
                <a:latin typeface="Poppins" pitchFamily="34" charset="0"/>
                <a:ea typeface="Poppins" pitchFamily="34" charset="-122"/>
                <a:cs typeface="Poppins" pitchFamily="34" charset="-120"/>
              </a:rPr>
              <a:t>~8–9 FTE</a:t>
            </a:r>
            <a:endParaRPr lang="en-US" sz="2800" dirty="0"/>
          </a:p>
        </p:txBody>
      </p:sp>
      <p:sp>
        <p:nvSpPr>
          <p:cNvPr id="16" name="Text 13"/>
          <p:cNvSpPr/>
          <p:nvPr/>
        </p:nvSpPr>
        <p:spPr>
          <a:xfrm>
            <a:off x="9027414" y="4754880"/>
            <a:ext cx="2658618" cy="256032"/>
          </a:xfrm>
          <a:prstGeom prst="rect">
            <a:avLst/>
          </a:prstGeom>
          <a:noFill/>
          <a:ln/>
        </p:spPr>
        <p:txBody>
          <a:bodyPr wrap="square" rtlCol="0" anchor="ctr"/>
          <a:lstStyle/>
          <a:p>
            <a:pPr algn="ctr" indent="0" marL="0">
              <a:buNone/>
            </a:pPr>
            <a:r>
              <a:rPr lang="en-US" sz="1000" dirty="0">
                <a:solidFill>
                  <a:srgbClr val="666666"/>
                </a:solidFill>
                <a:latin typeface="Poppins" pitchFamily="34" charset="0"/>
                <a:ea typeface="Poppins" pitchFamily="34" charset="-122"/>
                <a:cs typeface="Poppins" pitchFamily="34" charset="-120"/>
              </a:rPr>
              <a:t>Phase 3 · steady state</a:t>
            </a:r>
            <a:endParaRPr lang="en-US" sz="1000" dirty="0"/>
          </a:p>
        </p:txBody>
      </p:sp>
      <p:sp>
        <p:nvSpPr>
          <p:cNvPr id="17" name="Text 14"/>
          <p:cNvSpPr/>
          <p:nvPr/>
        </p:nvSpPr>
        <p:spPr>
          <a:xfrm>
            <a:off x="502920" y="5212080"/>
            <a:ext cx="11183112" cy="228600"/>
          </a:xfrm>
          <a:prstGeom prst="rect">
            <a:avLst/>
          </a:prstGeom>
          <a:noFill/>
          <a:ln/>
        </p:spPr>
        <p:txBody>
          <a:bodyPr wrap="square" rtlCol="0" anchor="ctr"/>
          <a:lstStyle/>
          <a:p>
            <a:pPr indent="0" marL="0">
              <a:buNone/>
            </a:pPr>
            <a:r>
              <a:rPr lang="en-US" sz="1000" i="1" dirty="0">
                <a:solidFill>
                  <a:srgbClr val="666666"/>
                </a:solidFill>
                <a:latin typeface="Poppins" pitchFamily="34" charset="0"/>
                <a:ea typeface="Poppins" pitchFamily="34" charset="-122"/>
                <a:cs typeface="Poppins" pitchFamily="34" charset="-120"/>
              </a:rPr>
              <a:t>FTE estimates include fractional shared roles. Team scales down in Scale phase as automation and tooling mature.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02920" y="347472"/>
            <a:ext cx="5486400" cy="201168"/>
          </a:xfrm>
          <a:prstGeom prst="rect">
            <a:avLst/>
          </a:prstGeom>
          <a:noFill/>
          <a:ln/>
        </p:spPr>
        <p:txBody>
          <a:bodyPr wrap="square" rtlCol="0" anchor="t"/>
          <a:lstStyle/>
          <a:p>
            <a:pPr indent="0" marL="0">
              <a:buNone/>
            </a:pPr>
            <a:r>
              <a:rPr lang="en-US" sz="900" b="1" spc="200" kern="0" dirty="0">
                <a:solidFill>
                  <a:srgbClr val="7C3AED"/>
                </a:solidFill>
                <a:latin typeface="Poppins" pitchFamily="34" charset="0"/>
                <a:ea typeface="Poppins" pitchFamily="34" charset="-122"/>
                <a:cs typeface="Poppins" pitchFamily="34" charset="-120"/>
              </a:rPr>
              <a:t>METRICS</a:t>
            </a:r>
            <a:endParaRPr lang="en-US" sz="900" dirty="0"/>
          </a:p>
        </p:txBody>
      </p:sp>
      <p:sp>
        <p:nvSpPr>
          <p:cNvPr id="3" name="Text 1"/>
          <p:cNvSpPr/>
          <p:nvPr/>
        </p:nvSpPr>
        <p:spPr>
          <a:xfrm>
            <a:off x="502920" y="566928"/>
            <a:ext cx="11183112" cy="640080"/>
          </a:xfrm>
          <a:prstGeom prst="rect">
            <a:avLst/>
          </a:prstGeom>
          <a:noFill/>
          <a:ln/>
        </p:spPr>
        <p:txBody>
          <a:bodyPr wrap="square" rtlCol="0" anchor="t"/>
          <a:lstStyle/>
          <a:p>
            <a:pPr indent="0" marL="0">
              <a:buNone/>
            </a:pPr>
            <a:r>
              <a:rPr lang="en-US" sz="3800" b="1" dirty="0">
                <a:solidFill>
                  <a:srgbClr val="1A1A2E"/>
                </a:solidFill>
                <a:latin typeface="Poppins" pitchFamily="34" charset="0"/>
                <a:ea typeface="Poppins" pitchFamily="34" charset="-122"/>
                <a:cs typeface="Poppins" pitchFamily="34" charset="-120"/>
              </a:rPr>
              <a:t>One north star. One guardrail. </a:t>
            </a:r>
            <a:pPr indent="0" marL="0">
              <a:buNone/>
            </a:pPr>
            <a:r>
              <a:rPr lang="en-US" sz="3800" b="1" dirty="0">
                <a:solidFill>
                  <a:srgbClr val="0D9488"/>
                </a:solidFill>
                <a:latin typeface="Poppins" pitchFamily="34" charset="0"/>
                <a:ea typeface="Poppins" pitchFamily="34" charset="-122"/>
                <a:cs typeface="Poppins" pitchFamily="34" charset="-120"/>
              </a:rPr>
              <a:t>One growth signal.</a:t>
            </a:r>
            <a:endParaRPr lang="en-US" sz="3800" dirty="0"/>
          </a:p>
        </p:txBody>
      </p:sp>
      <p:sp>
        <p:nvSpPr>
          <p:cNvPr id="4" name="Shape 2"/>
          <p:cNvSpPr/>
          <p:nvPr/>
        </p:nvSpPr>
        <p:spPr>
          <a:xfrm>
            <a:off x="502920" y="1417320"/>
            <a:ext cx="3605784" cy="4389120"/>
          </a:xfrm>
          <a:prstGeom prst="roundRect">
            <a:avLst>
              <a:gd name="adj" fmla="val 2029"/>
            </a:avLst>
          </a:prstGeom>
          <a:solidFill>
            <a:srgbClr val="FFFFFF"/>
          </a:solidFill>
          <a:ln w="6350">
            <a:solidFill>
              <a:srgbClr val="EBE8F0"/>
            </a:solidFill>
            <a:prstDash val="solid"/>
          </a:ln>
        </p:spPr>
      </p:sp>
      <p:sp>
        <p:nvSpPr>
          <p:cNvPr id="5" name="Shape 3"/>
          <p:cNvSpPr/>
          <p:nvPr/>
        </p:nvSpPr>
        <p:spPr>
          <a:xfrm>
            <a:off x="2054352" y="1600200"/>
            <a:ext cx="502920" cy="502920"/>
          </a:xfrm>
          <a:prstGeom prst="ellipse">
            <a:avLst/>
          </a:prstGeom>
          <a:solidFill>
            <a:srgbClr val="7C3AED"/>
          </a:solidFill>
          <a:ln/>
        </p:spPr>
      </p:sp>
      <p:sp>
        <p:nvSpPr>
          <p:cNvPr id="6" name="Shape 4"/>
          <p:cNvSpPr/>
          <p:nvPr/>
        </p:nvSpPr>
        <p:spPr>
          <a:xfrm>
            <a:off x="2205228" y="1751076"/>
            <a:ext cx="201168" cy="201168"/>
          </a:xfrm>
          <a:prstGeom prst="ellipse">
            <a:avLst/>
          </a:prstGeom>
          <a:solidFill>
            <a:srgbClr val="FFFFFF"/>
          </a:solidFill>
          <a:ln/>
        </p:spPr>
      </p:sp>
      <p:sp>
        <p:nvSpPr>
          <p:cNvPr id="7" name="Shape 5"/>
          <p:cNvSpPr/>
          <p:nvPr/>
        </p:nvSpPr>
        <p:spPr>
          <a:xfrm>
            <a:off x="2292096" y="1771193"/>
            <a:ext cx="27432" cy="85496"/>
          </a:xfrm>
          <a:prstGeom prst="rect">
            <a:avLst/>
          </a:prstGeom>
          <a:solidFill>
            <a:srgbClr val="7C3AED"/>
          </a:solidFill>
          <a:ln/>
        </p:spPr>
      </p:sp>
      <p:sp>
        <p:nvSpPr>
          <p:cNvPr id="8" name="Shape 6"/>
          <p:cNvSpPr/>
          <p:nvPr/>
        </p:nvSpPr>
        <p:spPr>
          <a:xfrm>
            <a:off x="2305812" y="1837944"/>
            <a:ext cx="60350" cy="27432"/>
          </a:xfrm>
          <a:prstGeom prst="rect">
            <a:avLst/>
          </a:prstGeom>
          <a:solidFill>
            <a:srgbClr val="7C3AED"/>
          </a:solidFill>
          <a:ln/>
        </p:spPr>
      </p:sp>
      <p:sp>
        <p:nvSpPr>
          <p:cNvPr id="9" name="Text 7"/>
          <p:cNvSpPr/>
          <p:nvPr/>
        </p:nvSpPr>
        <p:spPr>
          <a:xfrm>
            <a:off x="685800" y="2240280"/>
            <a:ext cx="3240024" cy="182880"/>
          </a:xfrm>
          <a:prstGeom prst="rect">
            <a:avLst/>
          </a:prstGeom>
          <a:noFill/>
          <a:ln/>
        </p:spPr>
        <p:txBody>
          <a:bodyPr wrap="square" rtlCol="0" anchor="ctr"/>
          <a:lstStyle/>
          <a:p>
            <a:pPr algn="ctr" indent="0" marL="0">
              <a:buNone/>
            </a:pPr>
            <a:r>
              <a:rPr lang="en-US" sz="900" b="1" dirty="0">
                <a:solidFill>
                  <a:srgbClr val="7C3AED"/>
                </a:solidFill>
                <a:latin typeface="Poppins" pitchFamily="34" charset="0"/>
                <a:ea typeface="Poppins" pitchFamily="34" charset="-122"/>
                <a:cs typeface="Poppins" pitchFamily="34" charset="-120"/>
              </a:rPr>
              <a:t>NORTH STAR</a:t>
            </a:r>
            <a:endParaRPr lang="en-US" sz="900" dirty="0"/>
          </a:p>
        </p:txBody>
      </p:sp>
      <p:sp>
        <p:nvSpPr>
          <p:cNvPr id="10" name="Text 8"/>
          <p:cNvSpPr/>
          <p:nvPr/>
        </p:nvSpPr>
        <p:spPr>
          <a:xfrm>
            <a:off x="685800" y="2468880"/>
            <a:ext cx="3240024" cy="320040"/>
          </a:xfrm>
          <a:prstGeom prst="rect">
            <a:avLst/>
          </a:prstGeom>
          <a:noFill/>
          <a:ln/>
        </p:spPr>
        <p:txBody>
          <a:bodyPr wrap="square" rtlCol="0" anchor="ctr"/>
          <a:lstStyle/>
          <a:p>
            <a:pPr algn="ctr" indent="0" marL="0">
              <a:buNone/>
            </a:pPr>
            <a:r>
              <a:rPr lang="en-US" sz="1600" b="1" dirty="0">
                <a:solidFill>
                  <a:srgbClr val="1A1A2E"/>
                </a:solidFill>
                <a:latin typeface="Poppins" pitchFamily="34" charset="0"/>
                <a:ea typeface="Poppins" pitchFamily="34" charset="-122"/>
                <a:cs typeface="Poppins" pitchFamily="34" charset="-120"/>
              </a:rPr>
              <a:t>Alerts per analyst / week</a:t>
            </a:r>
            <a:endParaRPr lang="en-US" sz="1600" dirty="0"/>
          </a:p>
        </p:txBody>
      </p:sp>
      <p:sp>
        <p:nvSpPr>
          <p:cNvPr id="11" name="Text 9"/>
          <p:cNvSpPr/>
          <p:nvPr/>
        </p:nvSpPr>
        <p:spPr>
          <a:xfrm>
            <a:off x="685800" y="2834640"/>
            <a:ext cx="3240024" cy="640080"/>
          </a:xfrm>
          <a:prstGeom prst="rect">
            <a:avLst/>
          </a:prstGeom>
          <a:noFill/>
          <a:ln/>
        </p:spPr>
        <p:txBody>
          <a:bodyPr wrap="square" rtlCol="0" anchor="ctr"/>
          <a:lstStyle/>
          <a:p>
            <a:pPr algn="ctr" indent="0" marL="0">
              <a:lnSpc>
                <a:spcPct val="150000"/>
              </a:lnSpc>
              <a:buNone/>
            </a:pPr>
            <a:r>
              <a:rPr lang="en-US" sz="1100" dirty="0">
                <a:solidFill>
                  <a:srgbClr val="666666"/>
                </a:solidFill>
                <a:latin typeface="Poppins" pitchFamily="34" charset="0"/>
                <a:ea typeface="Poppins" pitchFamily="34" charset="-122"/>
                <a:cs typeface="Poppins" pitchFamily="34" charset="-120"/>
              </a:rPr>
              <a:t>Direct expression of 'more with less.' If this moves, the Co-Pilot is working.</a:t>
            </a:r>
            <a:endParaRPr lang="en-US" sz="1100" dirty="0"/>
          </a:p>
        </p:txBody>
      </p:sp>
      <p:sp>
        <p:nvSpPr>
          <p:cNvPr id="12" name="Shape 10"/>
          <p:cNvSpPr/>
          <p:nvPr/>
        </p:nvSpPr>
        <p:spPr>
          <a:xfrm>
            <a:off x="777240" y="3566160"/>
            <a:ext cx="3057144" cy="0"/>
          </a:xfrm>
          <a:prstGeom prst="line">
            <a:avLst/>
          </a:prstGeom>
          <a:noFill/>
          <a:ln w="6350">
            <a:solidFill>
              <a:srgbClr val="EBE8F0"/>
            </a:solidFill>
            <a:prstDash val="solid"/>
          </a:ln>
        </p:spPr>
      </p:sp>
      <p:sp>
        <p:nvSpPr>
          <p:cNvPr id="13" name="Text 11"/>
          <p:cNvSpPr/>
          <p:nvPr/>
        </p:nvSpPr>
        <p:spPr>
          <a:xfrm>
            <a:off x="685800" y="3657600"/>
            <a:ext cx="3240024" cy="548640"/>
          </a:xfrm>
          <a:prstGeom prst="rect">
            <a:avLst/>
          </a:prstGeom>
          <a:noFill/>
          <a:ln/>
        </p:spPr>
        <p:txBody>
          <a:bodyPr wrap="square" rtlCol="0" anchor="t"/>
          <a:lstStyle/>
          <a:p>
            <a:pPr indent="0" marL="0">
              <a:buNone/>
            </a:pPr>
            <a:r>
              <a:rPr lang="en-US" sz="1000" b="1" dirty="0">
                <a:solidFill>
                  <a:srgbClr val="666666"/>
                </a:solidFill>
                <a:latin typeface="Poppins" pitchFamily="34" charset="0"/>
                <a:ea typeface="Poppins" pitchFamily="34" charset="-122"/>
                <a:cs typeface="Poppins" pitchFamily="34" charset="-120"/>
              </a:rPr>
              <a:t>How measured: </a:t>
            </a:r>
            <a:pPr indent="0" marL="0">
              <a:buNone/>
            </a:pPr>
            <a:r>
              <a:rPr lang="en-US" sz="1000" dirty="0">
                <a:solidFill>
                  <a:srgbClr val="666666"/>
                </a:solidFill>
                <a:latin typeface="Poppins" pitchFamily="34" charset="0"/>
                <a:ea typeface="Poppins" pitchFamily="34" charset="-122"/>
                <a:cs typeface="Poppins" pitchFamily="34" charset="-120"/>
              </a:rPr>
              <a:t>Case open → decision timestamp, tracked per analyst in G2RS</a:t>
            </a:r>
            <a:endParaRPr lang="en-US" sz="1000" dirty="0"/>
          </a:p>
        </p:txBody>
      </p:sp>
      <p:sp>
        <p:nvSpPr>
          <p:cNvPr id="14" name="Text 12"/>
          <p:cNvSpPr/>
          <p:nvPr/>
        </p:nvSpPr>
        <p:spPr>
          <a:xfrm>
            <a:off x="685800" y="4297680"/>
            <a:ext cx="3240024" cy="320040"/>
          </a:xfrm>
          <a:prstGeom prst="rect">
            <a:avLst/>
          </a:prstGeom>
          <a:noFill/>
          <a:ln/>
        </p:spPr>
        <p:txBody>
          <a:bodyPr wrap="square" rtlCol="0" anchor="t"/>
          <a:lstStyle/>
          <a:p>
            <a:pPr indent="0" marL="0">
              <a:buNone/>
            </a:pPr>
            <a:r>
              <a:rPr lang="en-US" sz="1000" dirty="0">
                <a:solidFill>
                  <a:srgbClr val="666666"/>
                </a:solidFill>
                <a:latin typeface="Poppins" pitchFamily="34" charset="0"/>
                <a:ea typeface="Poppins" pitchFamily="34" charset="-122"/>
                <a:cs typeface="Poppins" pitchFamily="34" charset="-120"/>
              </a:rPr>
              <a:t>Baseline: </a:t>
            </a:r>
            <a:pPr indent="0" marL="0">
              <a:buNone/>
            </a:pPr>
            <a:r>
              <a:rPr lang="en-US" sz="1000" dirty="0">
                <a:solidFill>
                  <a:srgbClr val="1A1A2E"/>
                </a:solidFill>
                <a:latin typeface="Poppins" pitchFamily="34" charset="0"/>
                <a:ea typeface="Poppins" pitchFamily="34" charset="-122"/>
                <a:cs typeface="Poppins" pitchFamily="34" charset="-120"/>
              </a:rPr>
              <a:t>~15–20 alerts/week (Phase 0)</a:t>
            </a:r>
            <a:endParaRPr lang="en-US" sz="1000" dirty="0"/>
          </a:p>
        </p:txBody>
      </p:sp>
      <p:sp>
        <p:nvSpPr>
          <p:cNvPr id="15" name="Text 13"/>
          <p:cNvSpPr/>
          <p:nvPr/>
        </p:nvSpPr>
        <p:spPr>
          <a:xfrm>
            <a:off x="685800" y="4617720"/>
            <a:ext cx="3240024" cy="320040"/>
          </a:xfrm>
          <a:prstGeom prst="rect">
            <a:avLst/>
          </a:prstGeom>
          <a:noFill/>
          <a:ln/>
        </p:spPr>
        <p:txBody>
          <a:bodyPr wrap="square" rtlCol="0" anchor="t"/>
          <a:lstStyle/>
          <a:p>
            <a:pPr indent="0" marL="0">
              <a:buNone/>
            </a:pPr>
            <a:r>
              <a:rPr lang="en-US" sz="1000" dirty="0">
                <a:solidFill>
                  <a:srgbClr val="666666"/>
                </a:solidFill>
                <a:latin typeface="Poppins" pitchFamily="34" charset="0"/>
                <a:ea typeface="Poppins" pitchFamily="34" charset="-122"/>
                <a:cs typeface="Poppins" pitchFamily="34" charset="-120"/>
              </a:rPr>
              <a:t>Target: </a:t>
            </a:r>
            <a:pPr indent="0" marL="0">
              <a:buNone/>
            </a:pPr>
            <a:r>
              <a:rPr lang="en-US" sz="1000" b="1" dirty="0">
                <a:solidFill>
                  <a:srgbClr val="0D9488"/>
                </a:solidFill>
                <a:latin typeface="Poppins" pitchFamily="34" charset="0"/>
                <a:ea typeface="Poppins" pitchFamily="34" charset="-122"/>
                <a:cs typeface="Poppins" pitchFamily="34" charset="-120"/>
              </a:rPr>
              <a:t>&gt;40 alerts/week (Phase 1 exit)</a:t>
            </a:r>
            <a:endParaRPr lang="en-US" sz="1000" dirty="0"/>
          </a:p>
        </p:txBody>
      </p:sp>
      <p:sp>
        <p:nvSpPr>
          <p:cNvPr id="16" name="Shape 14"/>
          <p:cNvSpPr/>
          <p:nvPr/>
        </p:nvSpPr>
        <p:spPr>
          <a:xfrm>
            <a:off x="502920" y="5751576"/>
            <a:ext cx="3605784" cy="54864"/>
          </a:xfrm>
          <a:prstGeom prst="rect">
            <a:avLst/>
          </a:prstGeom>
          <a:solidFill>
            <a:srgbClr val="7C3AED"/>
          </a:solidFill>
          <a:ln/>
        </p:spPr>
      </p:sp>
      <p:sp>
        <p:nvSpPr>
          <p:cNvPr id="17" name="Shape 15"/>
          <p:cNvSpPr/>
          <p:nvPr/>
        </p:nvSpPr>
        <p:spPr>
          <a:xfrm>
            <a:off x="4291584" y="1417320"/>
            <a:ext cx="3605784" cy="4389120"/>
          </a:xfrm>
          <a:prstGeom prst="roundRect">
            <a:avLst>
              <a:gd name="adj" fmla="val 2029"/>
            </a:avLst>
          </a:prstGeom>
          <a:solidFill>
            <a:srgbClr val="FFFFFF"/>
          </a:solidFill>
          <a:ln w="6350">
            <a:solidFill>
              <a:srgbClr val="EBE8F0"/>
            </a:solidFill>
            <a:prstDash val="solid"/>
          </a:ln>
        </p:spPr>
      </p:sp>
      <p:sp>
        <p:nvSpPr>
          <p:cNvPr id="18" name="Shape 16"/>
          <p:cNvSpPr/>
          <p:nvPr/>
        </p:nvSpPr>
        <p:spPr>
          <a:xfrm>
            <a:off x="5843016" y="1600200"/>
            <a:ext cx="502920" cy="502920"/>
          </a:xfrm>
          <a:prstGeom prst="ellipse">
            <a:avLst/>
          </a:prstGeom>
          <a:solidFill>
            <a:srgbClr val="D97706"/>
          </a:solidFill>
          <a:ln/>
        </p:spPr>
      </p:sp>
      <p:sp>
        <p:nvSpPr>
          <p:cNvPr id="19" name="Shape 17"/>
          <p:cNvSpPr/>
          <p:nvPr/>
        </p:nvSpPr>
        <p:spPr>
          <a:xfrm>
            <a:off x="6031108" y="1767169"/>
            <a:ext cx="126736" cy="168981"/>
          </a:xfrm>
          <a:prstGeom prst="rect">
            <a:avLst>
              <a:gd name="adj" fmla="val 14430"/>
            </a:avLst>
          </a:prstGeom>
          <a:solidFill>
            <a:srgbClr val="FFFFFF"/>
          </a:solidFill>
          <a:ln/>
        </p:spPr>
      </p:sp>
      <p:sp>
        <p:nvSpPr>
          <p:cNvPr id="20" name="Shape 18"/>
          <p:cNvSpPr/>
          <p:nvPr/>
        </p:nvSpPr>
        <p:spPr>
          <a:xfrm rot="10800000">
            <a:off x="6031108" y="1929110"/>
            <a:ext cx="126736" cy="63368"/>
          </a:xfrm>
          <a:prstGeom prst="triangle">
            <a:avLst/>
          </a:prstGeom>
          <a:solidFill>
            <a:srgbClr val="FFFFFF"/>
          </a:solidFill>
          <a:ln/>
        </p:spPr>
      </p:sp>
      <p:sp>
        <p:nvSpPr>
          <p:cNvPr id="21" name="Text 19"/>
          <p:cNvSpPr/>
          <p:nvPr/>
        </p:nvSpPr>
        <p:spPr>
          <a:xfrm>
            <a:off x="4474464" y="2240280"/>
            <a:ext cx="3240024" cy="182880"/>
          </a:xfrm>
          <a:prstGeom prst="rect">
            <a:avLst/>
          </a:prstGeom>
          <a:noFill/>
          <a:ln/>
        </p:spPr>
        <p:txBody>
          <a:bodyPr wrap="square" rtlCol="0" anchor="ctr"/>
          <a:lstStyle/>
          <a:p>
            <a:pPr algn="ctr" indent="0" marL="0">
              <a:buNone/>
            </a:pPr>
            <a:r>
              <a:rPr lang="en-US" sz="900" b="1" dirty="0">
                <a:solidFill>
                  <a:srgbClr val="D97706"/>
                </a:solidFill>
                <a:latin typeface="Poppins" pitchFamily="34" charset="0"/>
                <a:ea typeface="Poppins" pitchFamily="34" charset="-122"/>
                <a:cs typeface="Poppins" pitchFamily="34" charset="-120"/>
              </a:rPr>
              <a:t>GUARDRAIL</a:t>
            </a:r>
            <a:endParaRPr lang="en-US" sz="900" dirty="0"/>
          </a:p>
        </p:txBody>
      </p:sp>
      <p:sp>
        <p:nvSpPr>
          <p:cNvPr id="22" name="Text 20"/>
          <p:cNvSpPr/>
          <p:nvPr/>
        </p:nvSpPr>
        <p:spPr>
          <a:xfrm>
            <a:off x="4474464" y="2468880"/>
            <a:ext cx="3240024" cy="320040"/>
          </a:xfrm>
          <a:prstGeom prst="rect">
            <a:avLst/>
          </a:prstGeom>
          <a:noFill/>
          <a:ln/>
        </p:spPr>
        <p:txBody>
          <a:bodyPr wrap="square" rtlCol="0" anchor="ctr"/>
          <a:lstStyle/>
          <a:p>
            <a:pPr algn="ctr" indent="0" marL="0">
              <a:buNone/>
            </a:pPr>
            <a:r>
              <a:rPr lang="en-US" sz="1600" b="1" dirty="0">
                <a:solidFill>
                  <a:srgbClr val="1A1A2E"/>
                </a:solidFill>
                <a:latin typeface="Poppins" pitchFamily="34" charset="0"/>
                <a:ea typeface="Poppins" pitchFamily="34" charset="-122"/>
                <a:cs typeface="Poppins" pitchFamily="34" charset="-120"/>
              </a:rPr>
              <a:t>Decision time by tier</a:t>
            </a:r>
            <a:endParaRPr lang="en-US" sz="1600" dirty="0"/>
          </a:p>
        </p:txBody>
      </p:sp>
      <p:sp>
        <p:nvSpPr>
          <p:cNvPr id="23" name="Text 21"/>
          <p:cNvSpPr/>
          <p:nvPr/>
        </p:nvSpPr>
        <p:spPr>
          <a:xfrm>
            <a:off x="4474464" y="2834640"/>
            <a:ext cx="3240024" cy="640080"/>
          </a:xfrm>
          <a:prstGeom prst="rect">
            <a:avLst/>
          </a:prstGeom>
          <a:noFill/>
          <a:ln/>
        </p:spPr>
        <p:txBody>
          <a:bodyPr wrap="square" rtlCol="0" anchor="ctr"/>
          <a:lstStyle/>
          <a:p>
            <a:pPr algn="ctr" indent="0" marL="0">
              <a:lnSpc>
                <a:spcPct val="150000"/>
              </a:lnSpc>
              <a:buNone/>
            </a:pPr>
            <a:r>
              <a:rPr lang="en-US" sz="1100" dirty="0">
                <a:solidFill>
                  <a:srgbClr val="666666"/>
                </a:solidFill>
                <a:latin typeface="Poppins" pitchFamily="34" charset="0"/>
                <a:ea typeface="Poppins" pitchFamily="34" charset="-122"/>
                <a:cs typeface="Poppins" pitchFamily="34" charset="-120"/>
              </a:rPr>
              <a:t>Speed gains must not come at the cost of SLA discipline or decision quality.</a:t>
            </a:r>
            <a:endParaRPr lang="en-US" sz="1100" dirty="0"/>
          </a:p>
        </p:txBody>
      </p:sp>
      <p:sp>
        <p:nvSpPr>
          <p:cNvPr id="24" name="Shape 22"/>
          <p:cNvSpPr/>
          <p:nvPr/>
        </p:nvSpPr>
        <p:spPr>
          <a:xfrm>
            <a:off x="4565904" y="3566160"/>
            <a:ext cx="3057144" cy="0"/>
          </a:xfrm>
          <a:prstGeom prst="line">
            <a:avLst/>
          </a:prstGeom>
          <a:noFill/>
          <a:ln w="6350">
            <a:solidFill>
              <a:srgbClr val="EBE8F0"/>
            </a:solidFill>
            <a:prstDash val="solid"/>
          </a:ln>
        </p:spPr>
      </p:sp>
      <p:sp>
        <p:nvSpPr>
          <p:cNvPr id="25" name="Text 23"/>
          <p:cNvSpPr/>
          <p:nvPr/>
        </p:nvSpPr>
        <p:spPr>
          <a:xfrm>
            <a:off x="4474464" y="3657600"/>
            <a:ext cx="3240024" cy="548640"/>
          </a:xfrm>
          <a:prstGeom prst="rect">
            <a:avLst/>
          </a:prstGeom>
          <a:noFill/>
          <a:ln/>
        </p:spPr>
        <p:txBody>
          <a:bodyPr wrap="square" rtlCol="0" anchor="t"/>
          <a:lstStyle/>
          <a:p>
            <a:pPr indent="0" marL="0">
              <a:buNone/>
            </a:pPr>
            <a:r>
              <a:rPr lang="en-US" sz="1000" b="1" dirty="0">
                <a:solidFill>
                  <a:srgbClr val="666666"/>
                </a:solidFill>
                <a:latin typeface="Poppins" pitchFamily="34" charset="0"/>
                <a:ea typeface="Poppins" pitchFamily="34" charset="-122"/>
                <a:cs typeface="Poppins" pitchFamily="34" charset="-120"/>
              </a:rPr>
              <a:t>How measured: </a:t>
            </a:r>
            <a:pPr indent="0" marL="0">
              <a:buNone/>
            </a:pPr>
            <a:r>
              <a:rPr lang="en-US" sz="1000" dirty="0">
                <a:solidFill>
                  <a:srgbClr val="666666"/>
                </a:solidFill>
                <a:latin typeface="Poppins" pitchFamily="34" charset="0"/>
                <a:ea typeface="Poppins" pitchFamily="34" charset="-122"/>
                <a:cs typeface="Poppins" pitchFamily="34" charset="-120"/>
              </a:rPr>
              <a:t>Both timestamps owned by G2RS — no dependency on customer systems</a:t>
            </a:r>
            <a:endParaRPr lang="en-US" sz="1000" dirty="0"/>
          </a:p>
        </p:txBody>
      </p:sp>
      <p:sp>
        <p:nvSpPr>
          <p:cNvPr id="26" name="Text 24"/>
          <p:cNvSpPr/>
          <p:nvPr/>
        </p:nvSpPr>
        <p:spPr>
          <a:xfrm>
            <a:off x="4474464" y="4297680"/>
            <a:ext cx="3240024" cy="320040"/>
          </a:xfrm>
          <a:prstGeom prst="rect">
            <a:avLst/>
          </a:prstGeom>
          <a:noFill/>
          <a:ln/>
        </p:spPr>
        <p:txBody>
          <a:bodyPr wrap="square" rtlCol="0" anchor="t"/>
          <a:lstStyle/>
          <a:p>
            <a:pPr indent="0" marL="0">
              <a:buNone/>
            </a:pPr>
            <a:r>
              <a:rPr lang="en-US" sz="1000" dirty="0">
                <a:solidFill>
                  <a:srgbClr val="666666"/>
                </a:solidFill>
                <a:latin typeface="Poppins" pitchFamily="34" charset="0"/>
                <a:ea typeface="Poppins" pitchFamily="34" charset="-122"/>
                <a:cs typeface="Poppins" pitchFamily="34" charset="-120"/>
              </a:rPr>
              <a:t>Baseline: </a:t>
            </a:r>
            <a:pPr indent="0" marL="0">
              <a:buNone/>
            </a:pPr>
            <a:r>
              <a:rPr lang="en-US" sz="1000" dirty="0">
                <a:solidFill>
                  <a:srgbClr val="1A1A2E"/>
                </a:solidFill>
                <a:latin typeface="Poppins" pitchFamily="34" charset="0"/>
                <a:ea typeface="Poppins" pitchFamily="34" charset="-122"/>
                <a:cs typeface="Poppins" pitchFamily="34" charset="-120"/>
              </a:rPr>
              <a:t>Critical &lt;24h, High &lt;48h (Ishai confirmed)</a:t>
            </a:r>
            <a:endParaRPr lang="en-US" sz="1000" dirty="0"/>
          </a:p>
        </p:txBody>
      </p:sp>
      <p:sp>
        <p:nvSpPr>
          <p:cNvPr id="27" name="Text 25"/>
          <p:cNvSpPr/>
          <p:nvPr/>
        </p:nvSpPr>
        <p:spPr>
          <a:xfrm>
            <a:off x="4474464" y="4617720"/>
            <a:ext cx="3240024" cy="320040"/>
          </a:xfrm>
          <a:prstGeom prst="rect">
            <a:avLst/>
          </a:prstGeom>
          <a:noFill/>
          <a:ln/>
        </p:spPr>
        <p:txBody>
          <a:bodyPr wrap="square" rtlCol="0" anchor="t"/>
          <a:lstStyle/>
          <a:p>
            <a:pPr indent="0" marL="0">
              <a:buNone/>
            </a:pPr>
            <a:r>
              <a:rPr lang="en-US" sz="1000" dirty="0">
                <a:solidFill>
                  <a:srgbClr val="666666"/>
                </a:solidFill>
                <a:latin typeface="Poppins" pitchFamily="34" charset="0"/>
                <a:ea typeface="Poppins" pitchFamily="34" charset="-122"/>
                <a:cs typeface="Poppins" pitchFamily="34" charset="-120"/>
              </a:rPr>
              <a:t>Target: </a:t>
            </a:r>
            <a:pPr indent="0" marL="0">
              <a:buNone/>
            </a:pPr>
            <a:r>
              <a:rPr lang="en-US" sz="1000" b="1" dirty="0">
                <a:solidFill>
                  <a:srgbClr val="0D9488"/>
                </a:solidFill>
                <a:latin typeface="Poppins" pitchFamily="34" charset="0"/>
                <a:ea typeface="Poppins" pitchFamily="34" charset="-122"/>
                <a:cs typeface="Poppins" pitchFamily="34" charset="-120"/>
              </a:rPr>
              <a:t>SLA breach rate &lt;5%</a:t>
            </a:r>
            <a:endParaRPr lang="en-US" sz="1000" dirty="0"/>
          </a:p>
        </p:txBody>
      </p:sp>
      <p:sp>
        <p:nvSpPr>
          <p:cNvPr id="28" name="Shape 26"/>
          <p:cNvSpPr/>
          <p:nvPr/>
        </p:nvSpPr>
        <p:spPr>
          <a:xfrm>
            <a:off x="4291584" y="5751576"/>
            <a:ext cx="3605784" cy="54864"/>
          </a:xfrm>
          <a:prstGeom prst="rect">
            <a:avLst/>
          </a:prstGeom>
          <a:solidFill>
            <a:srgbClr val="D97706"/>
          </a:solidFill>
          <a:ln/>
        </p:spPr>
      </p:sp>
      <p:sp>
        <p:nvSpPr>
          <p:cNvPr id="29" name="Shape 27"/>
          <p:cNvSpPr/>
          <p:nvPr/>
        </p:nvSpPr>
        <p:spPr>
          <a:xfrm>
            <a:off x="8080248" y="1417320"/>
            <a:ext cx="3605784" cy="4389120"/>
          </a:xfrm>
          <a:prstGeom prst="roundRect">
            <a:avLst>
              <a:gd name="adj" fmla="val 2029"/>
            </a:avLst>
          </a:prstGeom>
          <a:solidFill>
            <a:srgbClr val="FFFFFF"/>
          </a:solidFill>
          <a:ln w="6350">
            <a:solidFill>
              <a:srgbClr val="EBE8F0"/>
            </a:solidFill>
            <a:prstDash val="solid"/>
          </a:ln>
        </p:spPr>
      </p:sp>
      <p:sp>
        <p:nvSpPr>
          <p:cNvPr id="30" name="Shape 28"/>
          <p:cNvSpPr/>
          <p:nvPr/>
        </p:nvSpPr>
        <p:spPr>
          <a:xfrm>
            <a:off x="9631680" y="1600200"/>
            <a:ext cx="502920" cy="502920"/>
          </a:xfrm>
          <a:prstGeom prst="ellipse">
            <a:avLst/>
          </a:prstGeom>
          <a:solidFill>
            <a:srgbClr val="0D9488"/>
          </a:solidFill>
          <a:ln/>
        </p:spPr>
      </p:sp>
      <p:sp>
        <p:nvSpPr>
          <p:cNvPr id="31" name="Shape 29"/>
          <p:cNvSpPr/>
          <p:nvPr/>
        </p:nvSpPr>
        <p:spPr>
          <a:xfrm rot="-1500000">
            <a:off x="9772498" y="1785275"/>
            <a:ext cx="221285" cy="22128"/>
          </a:xfrm>
          <a:prstGeom prst="rect">
            <a:avLst/>
          </a:prstGeom>
          <a:solidFill>
            <a:srgbClr val="FFFFFF"/>
          </a:solidFill>
          <a:ln/>
        </p:spPr>
      </p:sp>
      <p:sp>
        <p:nvSpPr>
          <p:cNvPr id="32" name="Shape 30"/>
          <p:cNvSpPr/>
          <p:nvPr/>
        </p:nvSpPr>
        <p:spPr>
          <a:xfrm>
            <a:off x="9938461" y="1718889"/>
            <a:ext cx="55321" cy="66385"/>
          </a:xfrm>
          <a:prstGeom prst="triangle">
            <a:avLst/>
          </a:prstGeom>
          <a:solidFill>
            <a:srgbClr val="FFFFFF"/>
          </a:solidFill>
          <a:ln/>
        </p:spPr>
      </p:sp>
      <p:sp>
        <p:nvSpPr>
          <p:cNvPr id="33" name="Text 31"/>
          <p:cNvSpPr/>
          <p:nvPr/>
        </p:nvSpPr>
        <p:spPr>
          <a:xfrm>
            <a:off x="8263128" y="2240280"/>
            <a:ext cx="3240024" cy="182880"/>
          </a:xfrm>
          <a:prstGeom prst="rect">
            <a:avLst/>
          </a:prstGeom>
          <a:noFill/>
          <a:ln/>
        </p:spPr>
        <p:txBody>
          <a:bodyPr wrap="square" rtlCol="0" anchor="ctr"/>
          <a:lstStyle/>
          <a:p>
            <a:pPr algn="ctr" indent="0" marL="0">
              <a:buNone/>
            </a:pPr>
            <a:r>
              <a:rPr lang="en-US" sz="900" b="1" dirty="0">
                <a:solidFill>
                  <a:srgbClr val="0D9488"/>
                </a:solidFill>
                <a:latin typeface="Poppins" pitchFamily="34" charset="0"/>
                <a:ea typeface="Poppins" pitchFamily="34" charset="-122"/>
                <a:cs typeface="Poppins" pitchFamily="34" charset="-120"/>
              </a:rPr>
              <a:t>GROWTH SIGNAL</a:t>
            </a:r>
            <a:endParaRPr lang="en-US" sz="900" dirty="0"/>
          </a:p>
        </p:txBody>
      </p:sp>
      <p:sp>
        <p:nvSpPr>
          <p:cNvPr id="34" name="Text 32"/>
          <p:cNvSpPr/>
          <p:nvPr/>
        </p:nvSpPr>
        <p:spPr>
          <a:xfrm>
            <a:off x="8263128" y="2468880"/>
            <a:ext cx="3240024" cy="320040"/>
          </a:xfrm>
          <a:prstGeom prst="rect">
            <a:avLst/>
          </a:prstGeom>
          <a:noFill/>
          <a:ln/>
        </p:spPr>
        <p:txBody>
          <a:bodyPr wrap="square" rtlCol="0" anchor="ctr"/>
          <a:lstStyle/>
          <a:p>
            <a:pPr algn="ctr" indent="0" marL="0">
              <a:buNone/>
            </a:pPr>
            <a:r>
              <a:rPr lang="en-US" sz="1600" b="1" dirty="0">
                <a:solidFill>
                  <a:srgbClr val="1A1A2E"/>
                </a:solidFill>
                <a:latin typeface="Poppins" pitchFamily="34" charset="0"/>
                <a:ea typeface="Poppins" pitchFamily="34" charset="-122"/>
                <a:cs typeface="Poppins" pitchFamily="34" charset="-120"/>
              </a:rPr>
              <a:t>Screening requests ↑</a:t>
            </a:r>
            <a:endParaRPr lang="en-US" sz="1600" dirty="0"/>
          </a:p>
        </p:txBody>
      </p:sp>
      <p:sp>
        <p:nvSpPr>
          <p:cNvPr id="35" name="Text 33"/>
          <p:cNvSpPr/>
          <p:nvPr/>
        </p:nvSpPr>
        <p:spPr>
          <a:xfrm>
            <a:off x="8263128" y="2834640"/>
            <a:ext cx="3240024" cy="640080"/>
          </a:xfrm>
          <a:prstGeom prst="rect">
            <a:avLst/>
          </a:prstGeom>
          <a:noFill/>
          <a:ln/>
        </p:spPr>
        <p:txBody>
          <a:bodyPr wrap="square" rtlCol="0" anchor="ctr"/>
          <a:lstStyle/>
          <a:p>
            <a:pPr algn="ctr" indent="0" marL="0">
              <a:lnSpc>
                <a:spcPct val="150000"/>
              </a:lnSpc>
              <a:buNone/>
            </a:pPr>
            <a:r>
              <a:rPr lang="en-US" sz="1100" dirty="0">
                <a:solidFill>
                  <a:srgbClr val="666666"/>
                </a:solidFill>
                <a:latin typeface="Poppins" pitchFamily="34" charset="0"/>
                <a:ea typeface="Poppins" pitchFamily="34" charset="-122"/>
                <a:cs typeface="Poppins" pitchFamily="34" charset="-120"/>
              </a:rPr>
              <a:t>If customers self-limited before, this rises as Co-Pilot gives them confidence.</a:t>
            </a:r>
            <a:endParaRPr lang="en-US" sz="1100" dirty="0"/>
          </a:p>
        </p:txBody>
      </p:sp>
      <p:sp>
        <p:nvSpPr>
          <p:cNvPr id="36" name="Shape 34"/>
          <p:cNvSpPr/>
          <p:nvPr/>
        </p:nvSpPr>
        <p:spPr>
          <a:xfrm>
            <a:off x="8354568" y="3566160"/>
            <a:ext cx="3057144" cy="0"/>
          </a:xfrm>
          <a:prstGeom prst="line">
            <a:avLst/>
          </a:prstGeom>
          <a:noFill/>
          <a:ln w="6350">
            <a:solidFill>
              <a:srgbClr val="EBE8F0"/>
            </a:solidFill>
            <a:prstDash val="solid"/>
          </a:ln>
        </p:spPr>
      </p:sp>
      <p:sp>
        <p:nvSpPr>
          <p:cNvPr id="37" name="Text 35"/>
          <p:cNvSpPr/>
          <p:nvPr/>
        </p:nvSpPr>
        <p:spPr>
          <a:xfrm>
            <a:off x="8263128" y="3657600"/>
            <a:ext cx="3240024" cy="548640"/>
          </a:xfrm>
          <a:prstGeom prst="rect">
            <a:avLst/>
          </a:prstGeom>
          <a:noFill/>
          <a:ln/>
        </p:spPr>
        <p:txBody>
          <a:bodyPr wrap="square" rtlCol="0" anchor="t"/>
          <a:lstStyle/>
          <a:p>
            <a:pPr indent="0" marL="0">
              <a:buNone/>
            </a:pPr>
            <a:r>
              <a:rPr lang="en-US" sz="1000" b="1" dirty="0">
                <a:solidFill>
                  <a:srgbClr val="666666"/>
                </a:solidFill>
                <a:latin typeface="Poppins" pitchFamily="34" charset="0"/>
                <a:ea typeface="Poppins" pitchFamily="34" charset="-122"/>
                <a:cs typeface="Poppins" pitchFamily="34" charset="-120"/>
              </a:rPr>
              <a:t>How measured: </a:t>
            </a:r>
            <a:pPr indent="0" marL="0">
              <a:buNone/>
            </a:pPr>
            <a:r>
              <a:rPr lang="en-US" sz="1000" dirty="0">
                <a:solidFill>
                  <a:srgbClr val="666666"/>
                </a:solidFill>
                <a:latin typeface="Poppins" pitchFamily="34" charset="0"/>
                <a:ea typeface="Poppins" pitchFamily="34" charset="-122"/>
                <a:cs typeface="Poppins" pitchFamily="34" charset="-120"/>
              </a:rPr>
              <a:t>G2RS API call volume, baseline established in Phase 0</a:t>
            </a:r>
            <a:endParaRPr lang="en-US" sz="1000" dirty="0"/>
          </a:p>
        </p:txBody>
      </p:sp>
      <p:sp>
        <p:nvSpPr>
          <p:cNvPr id="38" name="Text 36"/>
          <p:cNvSpPr/>
          <p:nvPr/>
        </p:nvSpPr>
        <p:spPr>
          <a:xfrm>
            <a:off x="8263128" y="4297680"/>
            <a:ext cx="3240024" cy="320040"/>
          </a:xfrm>
          <a:prstGeom prst="rect">
            <a:avLst/>
          </a:prstGeom>
          <a:noFill/>
          <a:ln/>
        </p:spPr>
        <p:txBody>
          <a:bodyPr wrap="square" rtlCol="0" anchor="t"/>
          <a:lstStyle/>
          <a:p>
            <a:pPr indent="0" marL="0">
              <a:buNone/>
            </a:pPr>
            <a:r>
              <a:rPr lang="en-US" sz="1000" dirty="0">
                <a:solidFill>
                  <a:srgbClr val="666666"/>
                </a:solidFill>
                <a:latin typeface="Poppins" pitchFamily="34" charset="0"/>
                <a:ea typeface="Poppins" pitchFamily="34" charset="-122"/>
                <a:cs typeface="Poppins" pitchFamily="34" charset="-120"/>
              </a:rPr>
              <a:t>Baseline: </a:t>
            </a:r>
            <a:pPr indent="0" marL="0">
              <a:buNone/>
            </a:pPr>
            <a:r>
              <a:rPr lang="en-US" sz="1000" dirty="0">
                <a:solidFill>
                  <a:srgbClr val="1A1A2E"/>
                </a:solidFill>
                <a:latin typeface="Poppins" pitchFamily="34" charset="0"/>
                <a:ea typeface="Poppins" pitchFamily="34" charset="-122"/>
                <a:cs typeface="Poppins" pitchFamily="34" charset="-120"/>
              </a:rPr>
              <a:t>Current rate per customer (Phase 0)</a:t>
            </a:r>
            <a:endParaRPr lang="en-US" sz="1000" dirty="0"/>
          </a:p>
        </p:txBody>
      </p:sp>
      <p:sp>
        <p:nvSpPr>
          <p:cNvPr id="39" name="Text 37"/>
          <p:cNvSpPr/>
          <p:nvPr/>
        </p:nvSpPr>
        <p:spPr>
          <a:xfrm>
            <a:off x="8263128" y="4617720"/>
            <a:ext cx="3240024" cy="320040"/>
          </a:xfrm>
          <a:prstGeom prst="rect">
            <a:avLst/>
          </a:prstGeom>
          <a:noFill/>
          <a:ln/>
        </p:spPr>
        <p:txBody>
          <a:bodyPr wrap="square" rtlCol="0" anchor="t"/>
          <a:lstStyle/>
          <a:p>
            <a:pPr indent="0" marL="0">
              <a:buNone/>
            </a:pPr>
            <a:r>
              <a:rPr lang="en-US" sz="1000" dirty="0">
                <a:solidFill>
                  <a:srgbClr val="666666"/>
                </a:solidFill>
                <a:latin typeface="Poppins" pitchFamily="34" charset="0"/>
                <a:ea typeface="Poppins" pitchFamily="34" charset="-122"/>
                <a:cs typeface="Poppins" pitchFamily="34" charset="-120"/>
              </a:rPr>
              <a:t>Target: </a:t>
            </a:r>
            <a:pPr indent="0" marL="0">
              <a:buNone/>
            </a:pPr>
            <a:r>
              <a:rPr lang="en-US" sz="1000" b="1" dirty="0">
                <a:solidFill>
                  <a:srgbClr val="0D9488"/>
                </a:solidFill>
                <a:latin typeface="Poppins" pitchFamily="34" charset="0"/>
                <a:ea typeface="Poppins" pitchFamily="34" charset="-122"/>
                <a:cs typeface="Poppins" pitchFamily="34" charset="-120"/>
              </a:rPr>
              <a:t>30–50% increase within 12 months of Phase 1 launch</a:t>
            </a:r>
            <a:endParaRPr lang="en-US" sz="1000" dirty="0"/>
          </a:p>
        </p:txBody>
      </p:sp>
      <p:sp>
        <p:nvSpPr>
          <p:cNvPr id="40" name="Shape 38"/>
          <p:cNvSpPr/>
          <p:nvPr/>
        </p:nvSpPr>
        <p:spPr>
          <a:xfrm>
            <a:off x="8080248" y="5751576"/>
            <a:ext cx="3605784" cy="54864"/>
          </a:xfrm>
          <a:prstGeom prst="rect">
            <a:avLst/>
          </a:prstGeom>
          <a:solidFill>
            <a:srgbClr val="0D9488"/>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1522476" y="1371600"/>
            <a:ext cx="9144000" cy="365760"/>
          </a:xfrm>
          <a:prstGeom prst="rect">
            <a:avLst/>
          </a:prstGeom>
          <a:noFill/>
          <a:ln/>
        </p:spPr>
        <p:txBody>
          <a:bodyPr wrap="square" rtlCol="0" anchor="ctr"/>
          <a:lstStyle/>
          <a:p>
            <a:pPr algn="ctr" indent="0" marL="0">
              <a:buNone/>
            </a:pPr>
            <a:r>
              <a:rPr lang="en-US" sz="2200" dirty="0">
                <a:solidFill>
                  <a:srgbClr val="C4B5FD"/>
                </a:solidFill>
                <a:latin typeface="Poppins" pitchFamily="34" charset="0"/>
                <a:ea typeface="Poppins" pitchFamily="34" charset="-122"/>
                <a:cs typeface="Poppins" pitchFamily="34" charset="-120"/>
              </a:rPr>
              <a:t>Without the Co-Pilot, G2RS growth is capped by</a:t>
            </a:r>
            <a:endParaRPr lang="en-US" sz="2200" dirty="0"/>
          </a:p>
        </p:txBody>
      </p:sp>
      <p:sp>
        <p:nvSpPr>
          <p:cNvPr id="3" name="Text 1"/>
          <p:cNvSpPr/>
          <p:nvPr/>
        </p:nvSpPr>
        <p:spPr>
          <a:xfrm>
            <a:off x="1522476" y="1737360"/>
            <a:ext cx="9144000" cy="365760"/>
          </a:xfrm>
          <a:prstGeom prst="rect">
            <a:avLst/>
          </a:prstGeom>
          <a:noFill/>
          <a:ln/>
        </p:spPr>
        <p:txBody>
          <a:bodyPr wrap="square" rtlCol="0" anchor="ctr"/>
          <a:lstStyle/>
          <a:p>
            <a:pPr algn="ctr" indent="0" marL="0">
              <a:buNone/>
            </a:pPr>
            <a:r>
              <a:rPr lang="en-US" sz="2200" dirty="0">
                <a:solidFill>
                  <a:srgbClr val="FFFFFF"/>
                </a:solidFill>
                <a:latin typeface="Poppins" pitchFamily="34" charset="0"/>
                <a:ea typeface="Poppins" pitchFamily="34" charset="-122"/>
                <a:cs typeface="Poppins" pitchFamily="34" charset="-120"/>
              </a:rPr>
              <a:t>its customers' analyst capacity.</a:t>
            </a:r>
            <a:endParaRPr lang="en-US" sz="2200" dirty="0"/>
          </a:p>
        </p:txBody>
      </p:sp>
      <p:sp>
        <p:nvSpPr>
          <p:cNvPr id="4" name="Text 2"/>
          <p:cNvSpPr/>
          <p:nvPr/>
        </p:nvSpPr>
        <p:spPr>
          <a:xfrm>
            <a:off x="1522476" y="2423160"/>
            <a:ext cx="9144000" cy="365760"/>
          </a:xfrm>
          <a:prstGeom prst="rect">
            <a:avLst/>
          </a:prstGeom>
          <a:noFill/>
          <a:ln/>
        </p:spPr>
        <p:txBody>
          <a:bodyPr wrap="square" rtlCol="0" anchor="ctr"/>
          <a:lstStyle/>
          <a:p>
            <a:pPr algn="ctr" indent="0" marL="0">
              <a:buNone/>
            </a:pPr>
            <a:r>
              <a:rPr lang="en-US" sz="2200" dirty="0">
                <a:solidFill>
                  <a:srgbClr val="C4B5FD"/>
                </a:solidFill>
                <a:latin typeface="Poppins" pitchFamily="34" charset="0"/>
                <a:ea typeface="Poppins" pitchFamily="34" charset="-122"/>
                <a:cs typeface="Poppins" pitchFamily="34" charset="-120"/>
              </a:rPr>
              <a:t>With it, a customer with 100,000 merchants</a:t>
            </a:r>
            <a:endParaRPr lang="en-US" sz="2200" dirty="0"/>
          </a:p>
        </p:txBody>
      </p:sp>
      <p:sp>
        <p:nvSpPr>
          <p:cNvPr id="5" name="Text 3"/>
          <p:cNvSpPr/>
          <p:nvPr/>
        </p:nvSpPr>
        <p:spPr>
          <a:xfrm>
            <a:off x="1522476" y="2788920"/>
            <a:ext cx="9144000" cy="365760"/>
          </a:xfrm>
          <a:prstGeom prst="rect">
            <a:avLst/>
          </a:prstGeom>
          <a:noFill/>
          <a:ln/>
        </p:spPr>
        <p:txBody>
          <a:bodyPr wrap="square" rtlCol="0" anchor="ctr"/>
          <a:lstStyle/>
          <a:p>
            <a:pPr algn="ctr" indent="0" marL="0">
              <a:buNone/>
            </a:pPr>
            <a:r>
              <a:rPr lang="en-US" sz="2200" dirty="0">
                <a:solidFill>
                  <a:srgbClr val="FFFFFF"/>
                </a:solidFill>
                <a:latin typeface="Poppins" pitchFamily="34" charset="0"/>
                <a:ea typeface="Poppins" pitchFamily="34" charset="-122"/>
                <a:cs typeface="Poppins" pitchFamily="34" charset="-120"/>
              </a:rPr>
              <a:t>can monitor all of them — and ask G2RS to send more.</a:t>
            </a:r>
            <a:endParaRPr lang="en-US" sz="2200" dirty="0"/>
          </a:p>
        </p:txBody>
      </p:sp>
      <p:sp>
        <p:nvSpPr>
          <p:cNvPr id="6" name="Shape 4"/>
          <p:cNvSpPr/>
          <p:nvPr/>
        </p:nvSpPr>
        <p:spPr>
          <a:xfrm>
            <a:off x="5180076" y="3474720"/>
            <a:ext cx="1828800" cy="0"/>
          </a:xfrm>
          <a:prstGeom prst="line">
            <a:avLst/>
          </a:prstGeom>
          <a:noFill/>
          <a:ln w="12700">
            <a:solidFill>
              <a:srgbClr val="7C3AED"/>
            </a:solidFill>
            <a:prstDash val="solid"/>
          </a:ln>
        </p:spPr>
      </p:sp>
      <p:sp>
        <p:nvSpPr>
          <p:cNvPr id="7" name="Text 5"/>
          <p:cNvSpPr/>
          <p:nvPr/>
        </p:nvSpPr>
        <p:spPr>
          <a:xfrm>
            <a:off x="1522476" y="3749040"/>
            <a:ext cx="9144000" cy="548640"/>
          </a:xfrm>
          <a:prstGeom prst="rect">
            <a:avLst/>
          </a:prstGeom>
          <a:noFill/>
          <a:ln/>
        </p:spPr>
        <p:txBody>
          <a:bodyPr wrap="square" rtlCol="0" anchor="ctr"/>
          <a:lstStyle/>
          <a:p>
            <a:pPr algn="ctr" indent="0" marL="0">
              <a:buNone/>
            </a:pPr>
            <a:r>
              <a:rPr lang="en-US" sz="3600" b="1" dirty="0">
                <a:solidFill>
                  <a:srgbClr val="7C3AED"/>
                </a:solidFill>
                <a:latin typeface="Poppins" pitchFamily="34" charset="0"/>
                <a:ea typeface="Poppins" pitchFamily="34" charset="-122"/>
                <a:cs typeface="Poppins" pitchFamily="34" charset="-120"/>
              </a:rPr>
              <a:t>That's what scalability means.</a:t>
            </a:r>
            <a:endParaRPr lang="en-US" sz="3600" dirty="0"/>
          </a:p>
        </p:txBody>
      </p:sp>
      <p:sp>
        <p:nvSpPr>
          <p:cNvPr id="8" name="Text 6"/>
          <p:cNvSpPr/>
          <p:nvPr/>
        </p:nvSpPr>
        <p:spPr>
          <a:xfrm>
            <a:off x="1522476" y="4846320"/>
            <a:ext cx="9144000" cy="274320"/>
          </a:xfrm>
          <a:prstGeom prst="rect">
            <a:avLst/>
          </a:prstGeom>
          <a:noFill/>
          <a:ln/>
        </p:spPr>
        <p:txBody>
          <a:bodyPr wrap="square" rtlCol="0" anchor="ctr"/>
          <a:lstStyle/>
          <a:p>
            <a:pPr algn="ctr" indent="0" marL="0">
              <a:buNone/>
            </a:pPr>
            <a:r>
              <a:rPr lang="en-US" sz="900" spc="200" kern="0" dirty="0">
                <a:solidFill>
                  <a:srgbClr val="000000"/>
                </a:solidFill>
                <a:latin typeface="Poppins" pitchFamily="34" charset="0"/>
                <a:ea typeface="Poppins" pitchFamily="34" charset="-122"/>
                <a:cs typeface="Poppins" pitchFamily="34" charset="-120"/>
              </a:rPr>
              <a:t>MERCHANT RISK CO-PILOT  ·  G2RS / EVERC  ·  MARCH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Merchant Risk Co-Pilot — G2RS / EverC</dc:title>
  <dc:subject>PptxGenJS Presentation</dc:subject>
  <dc:creator>PM Case Interview</dc:creator>
  <cp:lastModifiedBy>PM Case Interview</cp:lastModifiedBy>
  <cp:revision>1</cp:revision>
  <dcterms:created xsi:type="dcterms:W3CDTF">2026-03-18T08:03:59Z</dcterms:created>
  <dcterms:modified xsi:type="dcterms:W3CDTF">2026-03-18T08:03:59Z</dcterms:modified>
</cp:coreProperties>
</file>